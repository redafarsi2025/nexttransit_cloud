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56" r:id="rId2"/>
    <p:sldId id="269" r:id="rId3"/>
    <p:sldId id="270" r:id="rId4"/>
    <p:sldId id="257" r:id="rId5"/>
    <p:sldId id="258" r:id="rId6"/>
    <p:sldId id="259" r:id="rId7"/>
    <p:sldId id="260" r:id="rId8"/>
    <p:sldId id="261" r:id="rId9"/>
    <p:sldId id="262" r:id="rId10"/>
    <p:sldId id="263" r:id="rId11"/>
    <p:sldId id="264" r:id="rId12"/>
    <p:sldId id="267" r:id="rId13"/>
    <p:sldId id="265" r:id="rId14"/>
    <p:sldId id="266"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62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fr-FR" sz="1200" b="0" i="0" u="none" strike="noStrike" kern="1200" baseline="0">
                <a:solidFill>
                  <a:srgbClr val="0F3A5F"/>
                </a:solidFill>
                <a:latin typeface="Arial" panose="020B0604020202020204"/>
                <a:ea typeface="+mn-ea"/>
                <a:cs typeface="+mn-cs"/>
              </a:defRPr>
            </a:pPr>
            <a:r>
              <a:rPr lang="fr-FR" sz="1200" b="0" i="0" u="none" strike="noStrike">
                <a:solidFill>
                  <a:srgbClr val="0F3A5F"/>
                </a:solidFill>
                <a:latin typeface="Arial" panose="020B0604020202020204"/>
              </a:rPr>
              <a:t>Chiffre d'affaires prévisionnel (à compléter)</a:t>
            </a:r>
          </a:p>
        </c:rich>
      </c:tx>
      <c:overlay val="0"/>
    </c:title>
    <c:autoTitleDeleted val="0"/>
    <c:plotArea>
      <c:layout/>
      <c:barChart>
        <c:barDir val="col"/>
        <c:grouping val="clustered"/>
        <c:varyColors val="0"/>
        <c:ser>
          <c:idx val="0"/>
          <c:order val="0"/>
          <c:tx>
            <c:strRef>
              <c:f>Sheet1!$B$1</c:f>
              <c:strCache>
                <c:ptCount val="1"/>
                <c:pt idx="0">
                  <c:v>Chiffre d'affaires (DA)</c:v>
                </c:pt>
              </c:strCache>
            </c:strRef>
          </c:tx>
          <c:spPr>
            <a:solidFill>
              <a:srgbClr val="E07B2A"/>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fr-FR" sz="1200" b="0" i="0" u="none" strike="noStrike" kern="1200" baseline="0">
                    <a:solidFill>
                      <a:srgbClr val="26282B"/>
                    </a:solidFill>
                    <a:latin typeface="Arial" panose="020B0604020202020204"/>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Année 1</c:v>
                </c:pt>
                <c:pt idx="1">
                  <c:v>Année 2</c:v>
                </c:pt>
                <c:pt idx="2">
                  <c:v>Année 3</c:v>
                </c:pt>
              </c:strCache>
            </c:strRef>
          </c:cat>
          <c:val>
            <c:numRef>
              <c:f>Sheet1!$B$2:$B$4</c:f>
              <c:numCache>
                <c:formatCode>General</c:formatCode>
                <c:ptCount val="3"/>
                <c:pt idx="0">
                  <c:v>0</c:v>
                </c:pt>
                <c:pt idx="1">
                  <c:v>0</c:v>
                </c:pt>
                <c:pt idx="2">
                  <c:v>0</c:v>
                </c:pt>
              </c:numCache>
            </c:numRef>
          </c:val>
          <c:extLst>
            <c:ext xmlns:c16="http://schemas.microsoft.com/office/drawing/2014/chart" uri="{C3380CC4-5D6E-409C-BE32-E72D297353CC}">
              <c16:uniqueId val="{00000000-146A-4AE5-9CE5-A6B6F783C70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fr-FR" sz="1200" b="0" i="0" u="none" strike="noStrike" kern="1200" baseline="0">
                <a:solidFill>
                  <a:srgbClr val="6B7178"/>
                </a:solidFill>
                <a:latin typeface="Arial" panose="020B0604020202020204"/>
                <a:ea typeface="+mn-ea"/>
                <a:cs typeface="+mn-cs"/>
              </a:defRPr>
            </a:pPr>
            <a:endParaRPr lang="fr-FR"/>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E2E6EA"/>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fr-FR" sz="1200" b="0" i="0" u="none" strike="noStrike" kern="1200" baseline="0">
                <a:solidFill>
                  <a:srgbClr val="6B7178"/>
                </a:solidFill>
                <a:latin typeface="Arial" panose="020B0604020202020204"/>
                <a:ea typeface="+mn-ea"/>
                <a:cs typeface="+mn-cs"/>
              </a:defRPr>
            </a:pPr>
            <a:endParaRPr lang="fr-F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88d0b1ad-df78-49ff-9163-2604a1532961}"/>
      </c:ext>
    </c:extLst>
  </c:chart>
  <c:spPr>
    <a:solidFill>
      <a:srgbClr val="FFFFFF"/>
    </a:solidFill>
    <a:ln>
      <a:noFill/>
    </a:ln>
    <a:effectLst/>
  </c:spPr>
  <c:txPr>
    <a:bodyPr/>
    <a:lstStyle/>
    <a:p>
      <a:pPr>
        <a:defRPr lang="fr-FR"/>
      </a:pPr>
      <a:endParaRPr lang="fr-F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fr-FR" sz="1200" b="0" i="0" u="none" strike="noStrike" kern="1200" baseline="0">
                <a:solidFill>
                  <a:srgbClr val="FFFFFF"/>
                </a:solidFill>
                <a:latin typeface="Arial" panose="020B0604020202020204"/>
                <a:ea typeface="+mn-ea"/>
                <a:cs typeface="+mn-cs"/>
              </a:defRPr>
            </a:pPr>
            <a:r>
              <a:rPr lang="fr-FR" sz="1200" b="0" i="0" u="none" strike="noStrike">
                <a:solidFill>
                  <a:srgbClr val="FFFFFF"/>
                </a:solidFill>
                <a:latin typeface="Arial" panose="020B0604020202020204"/>
              </a:rPr>
              <a:t>Exemple de répartition du budget</a:t>
            </a:r>
          </a:p>
        </c:rich>
      </c:tx>
      <c:overlay val="0"/>
    </c:title>
    <c:autoTitleDeleted val="0"/>
    <c:plotArea>
      <c:layout/>
      <c:pieChart>
        <c:varyColors val="1"/>
        <c:ser>
          <c:idx val="0"/>
          <c:order val="0"/>
          <c:tx>
            <c:strRef>
              <c:f>Sheet1!$B$1</c:f>
              <c:strCache>
                <c:ptCount val="1"/>
                <c:pt idx="0">
                  <c:v>Répartition</c:v>
                </c:pt>
              </c:strCache>
            </c:strRef>
          </c:tx>
          <c:spPr>
            <a:solidFill>
              <a:schemeClr val="accent1"/>
            </a:solidFill>
            <a:ln w="9525" cap="flat">
              <a:solidFill>
                <a:srgbClr val="F9F9F9"/>
              </a:solidFill>
              <a:prstDash val="solid"/>
              <a:round/>
            </a:ln>
            <a:effectLst/>
          </c:spPr>
          <c:dPt>
            <c:idx val="0"/>
            <c:bubble3D val="0"/>
            <c:spPr>
              <a:solidFill>
                <a:srgbClr val="E07B2A"/>
              </a:solidFill>
              <a:effectLst/>
            </c:spPr>
            <c:extLst>
              <c:ext xmlns:c16="http://schemas.microsoft.com/office/drawing/2014/chart" uri="{C3380CC4-5D6E-409C-BE32-E72D297353CC}">
                <c16:uniqueId val="{00000001-FDA2-4550-9EF6-78132D1E66CF}"/>
              </c:ext>
            </c:extLst>
          </c:dPt>
          <c:dPt>
            <c:idx val="1"/>
            <c:bubble3D val="0"/>
            <c:spPr>
              <a:solidFill>
                <a:srgbClr val="1F5C8C"/>
              </a:solidFill>
              <a:effectLst/>
            </c:spPr>
            <c:extLst>
              <c:ext xmlns:c16="http://schemas.microsoft.com/office/drawing/2014/chart" uri="{C3380CC4-5D6E-409C-BE32-E72D297353CC}">
                <c16:uniqueId val="{00000003-FDA2-4550-9EF6-78132D1E66CF}"/>
              </c:ext>
            </c:extLst>
          </c:dPt>
          <c:dPt>
            <c:idx val="2"/>
            <c:bubble3D val="0"/>
            <c:spPr>
              <a:solidFill>
                <a:srgbClr val="3A7CB0"/>
              </a:solidFill>
              <a:effectLst/>
            </c:spPr>
            <c:extLst>
              <c:ext xmlns:c16="http://schemas.microsoft.com/office/drawing/2014/chart" uri="{C3380CC4-5D6E-409C-BE32-E72D297353CC}">
                <c16:uniqueId val="{00000005-FDA2-4550-9EF6-78132D1E66CF}"/>
              </c:ext>
            </c:extLst>
          </c:dPt>
          <c:dPt>
            <c:idx val="3"/>
            <c:bubble3D val="0"/>
            <c:spPr>
              <a:solidFill>
                <a:srgbClr val="9DB8CC"/>
              </a:solidFill>
              <a:effectLst/>
            </c:spPr>
            <c:extLst>
              <c:ext xmlns:c16="http://schemas.microsoft.com/office/drawing/2014/chart" uri="{C3380CC4-5D6E-409C-BE32-E72D297353CC}">
                <c16:uniqueId val="{00000007-FDA2-4550-9EF6-78132D1E66CF}"/>
              </c:ext>
            </c:extLst>
          </c:dPt>
          <c:dPt>
            <c:idx val="4"/>
            <c:bubble3D val="0"/>
            <c:spPr>
              <a:solidFill>
                <a:srgbClr val="8C9298"/>
              </a:solidFill>
              <a:effectLst/>
            </c:spPr>
            <c:extLst>
              <c:ext xmlns:c16="http://schemas.microsoft.com/office/drawing/2014/chart" uri="{C3380CC4-5D6E-409C-BE32-E72D297353CC}">
                <c16:uniqueId val="{00000009-FDA2-4550-9EF6-78132D1E66CF}"/>
              </c:ext>
            </c:extLst>
          </c:dPt>
          <c:dLbls>
            <c:dLbl>
              <c:idx val="0"/>
              <c:numFmt formatCode="0%" sourceLinked="0"/>
              <c:spPr>
                <a:noFill/>
                <a:ln>
                  <a:noFill/>
                </a:ln>
                <a:effectLst/>
              </c:spPr>
              <c:txPr>
                <a:bodyPr rot="0" spcFirstLastPara="0" vertOverflow="ellipsis" vert="horz" wrap="square" lIns="38100" tIns="19050" rIns="38100" bIns="19050" anchor="ctr" anchorCtr="1"/>
                <a:lstStyle/>
                <a:p>
                  <a:pPr>
                    <a:defRPr lang="fr-FR" sz="1000" b="0" i="0" u="none" strike="noStrike" kern="1200" baseline="0">
                      <a:solidFill>
                        <a:srgbClr val="FFFFFF"/>
                      </a:solidFill>
                      <a:latin typeface="Arial" panose="020B0604020202020204"/>
                      <a:ea typeface="+mn-ea"/>
                      <a:cs typeface="+mn-cs"/>
                    </a:defRPr>
                  </a:pPr>
                  <a:endParaRPr lang="fr-FR"/>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DA2-4550-9EF6-78132D1E66CF}"/>
                </c:ext>
              </c:extLst>
            </c:dLbl>
            <c:dLbl>
              <c:idx val="1"/>
              <c:numFmt formatCode="0%" sourceLinked="0"/>
              <c:spPr>
                <a:noFill/>
                <a:ln>
                  <a:noFill/>
                </a:ln>
                <a:effectLst/>
              </c:spPr>
              <c:txPr>
                <a:bodyPr rot="0" spcFirstLastPara="0" vertOverflow="ellipsis" vert="horz" wrap="square" lIns="38100" tIns="19050" rIns="38100" bIns="19050" anchor="ctr" anchorCtr="1"/>
                <a:lstStyle/>
                <a:p>
                  <a:pPr>
                    <a:defRPr lang="fr-FR" sz="1000" b="0" i="0" u="none" strike="noStrike" kern="1200" baseline="0">
                      <a:solidFill>
                        <a:srgbClr val="FFFFFF"/>
                      </a:solidFill>
                      <a:latin typeface="Arial" panose="020B0604020202020204"/>
                      <a:ea typeface="+mn-ea"/>
                      <a:cs typeface="+mn-cs"/>
                    </a:defRPr>
                  </a:pPr>
                  <a:endParaRPr lang="fr-FR"/>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DA2-4550-9EF6-78132D1E66CF}"/>
                </c:ext>
              </c:extLst>
            </c:dLbl>
            <c:dLbl>
              <c:idx val="2"/>
              <c:numFmt formatCode="0%" sourceLinked="0"/>
              <c:spPr>
                <a:noFill/>
                <a:ln>
                  <a:noFill/>
                </a:ln>
                <a:effectLst/>
              </c:spPr>
              <c:txPr>
                <a:bodyPr rot="0" spcFirstLastPara="0" vertOverflow="ellipsis" vert="horz" wrap="square" lIns="38100" tIns="19050" rIns="38100" bIns="19050" anchor="ctr" anchorCtr="1"/>
                <a:lstStyle/>
                <a:p>
                  <a:pPr>
                    <a:defRPr lang="fr-FR" sz="1000" b="0" i="0" u="none" strike="noStrike" kern="1200" baseline="0">
                      <a:solidFill>
                        <a:srgbClr val="FFFFFF"/>
                      </a:solidFill>
                      <a:latin typeface="Arial" panose="020B0604020202020204"/>
                      <a:ea typeface="+mn-ea"/>
                      <a:cs typeface="+mn-cs"/>
                    </a:defRPr>
                  </a:pPr>
                  <a:endParaRPr lang="fr-FR"/>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DA2-4550-9EF6-78132D1E66CF}"/>
                </c:ext>
              </c:extLst>
            </c:dLbl>
            <c:dLbl>
              <c:idx val="3"/>
              <c:numFmt formatCode="0%" sourceLinked="0"/>
              <c:spPr>
                <a:noFill/>
                <a:ln>
                  <a:noFill/>
                </a:ln>
                <a:effectLst/>
              </c:spPr>
              <c:txPr>
                <a:bodyPr rot="0" spcFirstLastPara="0" vertOverflow="ellipsis" vert="horz" wrap="square" lIns="38100" tIns="19050" rIns="38100" bIns="19050" anchor="ctr" anchorCtr="1"/>
                <a:lstStyle/>
                <a:p>
                  <a:pPr>
                    <a:defRPr lang="fr-FR" sz="1000" b="0" i="0" u="none" strike="noStrike" kern="1200" baseline="0">
                      <a:solidFill>
                        <a:srgbClr val="FFFFFF"/>
                      </a:solidFill>
                      <a:latin typeface="Arial" panose="020B0604020202020204"/>
                      <a:ea typeface="+mn-ea"/>
                      <a:cs typeface="+mn-cs"/>
                    </a:defRPr>
                  </a:pPr>
                  <a:endParaRPr lang="fr-FR"/>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FDA2-4550-9EF6-78132D1E66CF}"/>
                </c:ext>
              </c:extLst>
            </c:dLbl>
            <c:dLbl>
              <c:idx val="4"/>
              <c:numFmt formatCode="0%" sourceLinked="0"/>
              <c:spPr>
                <a:noFill/>
                <a:ln>
                  <a:noFill/>
                </a:ln>
                <a:effectLst/>
              </c:spPr>
              <c:txPr>
                <a:bodyPr rot="0" spcFirstLastPara="0" vertOverflow="ellipsis" vert="horz" wrap="square" lIns="38100" tIns="19050" rIns="38100" bIns="19050" anchor="ctr" anchorCtr="1"/>
                <a:lstStyle/>
                <a:p>
                  <a:pPr>
                    <a:defRPr lang="fr-FR" sz="1000" b="0" i="0" u="none" strike="noStrike" kern="1200" baseline="0">
                      <a:solidFill>
                        <a:srgbClr val="FFFFFF"/>
                      </a:solidFill>
                      <a:latin typeface="Arial" panose="020B0604020202020204"/>
                      <a:ea typeface="+mn-ea"/>
                      <a:cs typeface="+mn-cs"/>
                    </a:defRPr>
                  </a:pPr>
                  <a:endParaRPr lang="fr-FR"/>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FDA2-4550-9EF6-78132D1E66CF}"/>
                </c:ext>
              </c:extLst>
            </c:dLbl>
            <c:numFmt formatCode="0%" sourceLinked="0"/>
            <c:spPr>
              <a:noFill/>
              <a:ln>
                <a:noFill/>
              </a:ln>
              <a:effectLst/>
            </c:spPr>
            <c:txPr>
              <a:bodyPr rot="0" spcFirstLastPara="0" vertOverflow="ellipsis" vert="horz" wrap="square" lIns="38100" tIns="19050" rIns="38100" bIns="19050" anchor="ctr" anchorCtr="1"/>
              <a:lstStyle/>
              <a:p>
                <a:pPr>
                  <a:defRPr lang="fr-FR" sz="1800" b="0" i="0" u="none" strike="noStrike" kern="1200" baseline="0">
                    <a:solidFill>
                      <a:srgbClr val="000000"/>
                    </a:solidFill>
                    <a:latin typeface="Arial" panose="020B0604020202020204"/>
                    <a:ea typeface="+mn-ea"/>
                    <a:cs typeface="+mn-cs"/>
                  </a:defRPr>
                </a:pPr>
                <a:endParaRPr lang="fr-FR"/>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R&amp;D / Prototype</c:v>
                </c:pt>
                <c:pt idx="1">
                  <c:v>Production pilote</c:v>
                </c:pt>
                <c:pt idx="2">
                  <c:v>Marketing &amp; commercial</c:v>
                </c:pt>
                <c:pt idx="3">
                  <c:v>Certifications / tests</c:v>
                </c:pt>
                <c:pt idx="4">
                  <c:v>Divers</c:v>
                </c:pt>
              </c:strCache>
            </c:strRef>
          </c:cat>
          <c:val>
            <c:numRef>
              <c:f>Sheet1!$B$2:$B$6</c:f>
              <c:numCache>
                <c:formatCode>General</c:formatCode>
                <c:ptCount val="5"/>
                <c:pt idx="0">
                  <c:v>35</c:v>
                </c:pt>
                <c:pt idx="1">
                  <c:v>25</c:v>
                </c:pt>
                <c:pt idx="2">
                  <c:v>20</c:v>
                </c:pt>
                <c:pt idx="3">
                  <c:v>12</c:v>
                </c:pt>
                <c:pt idx="4">
                  <c:v>8</c:v>
                </c:pt>
              </c:numCache>
            </c:numRef>
          </c:val>
          <c:extLst>
            <c:ext xmlns:c16="http://schemas.microsoft.com/office/drawing/2014/chart" uri="{C3380CC4-5D6E-409C-BE32-E72D297353CC}">
              <c16:uniqueId val="{0000000A-FDA2-4550-9EF6-78132D1E66CF}"/>
            </c:ext>
          </c:extLst>
        </c:ser>
        <c:dLbls>
          <c:showLegendKey val="0"/>
          <c:showVal val="0"/>
          <c:showCatName val="1"/>
          <c:showSerName val="0"/>
          <c:showPercent val="1"/>
          <c:showBubbleSize val="0"/>
          <c:showLeaderLines val="0"/>
        </c:dLbls>
        <c:firstSliceAng val="0"/>
      </c:pieChart>
      <c:spPr>
        <a:noFill/>
        <a:ln>
          <a:noFill/>
        </a:ln>
        <a:effectLst/>
      </c:spPr>
    </c:plotArea>
    <c:legend>
      <c:legendPos val="b"/>
      <c:overlay val="0"/>
      <c:txPr>
        <a:bodyPr rot="0" spcFirstLastPara="0" vertOverflow="ellipsis" vert="horz" wrap="square" anchor="ctr" anchorCtr="1"/>
        <a:lstStyle/>
        <a:p>
          <a:pPr>
            <a:defRPr lang="fr-FR" sz="1000" b="0" i="0" u="none" strike="noStrike" kern="1200" baseline="0">
              <a:solidFill>
                <a:srgbClr val="FFFFFF"/>
              </a:solidFill>
              <a:latin typeface="+mn-lt"/>
              <a:ea typeface="+mn-ea"/>
              <a:cs typeface="+mn-cs"/>
            </a:defRPr>
          </a:pPr>
          <a:endParaRPr lang="fr-FR"/>
        </a:p>
      </c:txPr>
    </c:legend>
    <c:plotVisOnly val="1"/>
    <c:dispBlanksAs val="span"/>
    <c:showDLblsOverMax val="0"/>
    <c:extLst>
      <c:ext uri="{0b15fc19-7d7d-44ad-8c2d-2c3a37ce22c3}">
        <chartProps xmlns="https://web.wps.cn/et/2018/main" chartId="{b111564c-4f77-4067-bc21-e1a9e4bde1db}"/>
      </c:ext>
    </c:extLst>
  </c:chart>
  <c:spPr>
    <a:noFill/>
    <a:ln>
      <a:noFill/>
    </a:ln>
    <a:effectLst/>
  </c:spPr>
  <c:txPr>
    <a:bodyPr/>
    <a:lstStyle/>
    <a:p>
      <a:pPr>
        <a:defRPr lang="fr-F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‹N°›</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36BEF-D8FC-10DB-5AE1-FB79978B90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B58AE-5635-A84A-A3CC-D24DECA1C6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CA3627-C058-3541-D79B-0483967A18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FC805-B925-8431-3A68-F4B1AAA8315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0406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08835-BC7C-3F0A-53EF-D6F79CB8ED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CA36D-6897-ECCB-CAB5-45922718B1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F7B61-B307-CEA2-89FB-F06B20B73C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E3602E-1E9D-CAF2-95F6-FCA6A46E90F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34586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3A5F"/>
        </a:solidFill>
        <a:effectLst/>
      </p:bgPr>
    </p:bg>
    <p:spTree>
      <p:nvGrpSpPr>
        <p:cNvPr id="1" name=""/>
        <p:cNvGrpSpPr/>
        <p:nvPr/>
      </p:nvGrpSpPr>
      <p:grpSpPr>
        <a:xfrm>
          <a:off x="0" y="0"/>
          <a:ext cx="0" cy="0"/>
          <a:chOff x="0" y="0"/>
          <a:chExt cx="0" cy="0"/>
        </a:xfrm>
      </p:grpSpPr>
      <p:sp>
        <p:nvSpPr>
          <p:cNvPr id="2" name="Shape 0"/>
          <p:cNvSpPr/>
          <p:nvPr/>
        </p:nvSpPr>
        <p:spPr>
          <a:xfrm>
            <a:off x="9692640" y="-1645920"/>
            <a:ext cx="4206240" cy="4206240"/>
          </a:xfrm>
          <a:prstGeom prst="ellipse">
            <a:avLst/>
          </a:prstGeom>
          <a:solidFill>
            <a:srgbClr val="16507F"/>
          </a:solidFill>
        </p:spPr>
      </p:sp>
      <p:sp>
        <p:nvSpPr>
          <p:cNvPr id="3" name="Shape 1"/>
          <p:cNvSpPr/>
          <p:nvPr/>
        </p:nvSpPr>
        <p:spPr>
          <a:xfrm>
            <a:off x="-1463040" y="4754880"/>
            <a:ext cx="3474720" cy="3474720"/>
          </a:xfrm>
          <a:prstGeom prst="ellipse">
            <a:avLst/>
          </a:prstGeom>
          <a:solidFill>
            <a:srgbClr val="16507F"/>
          </a:solidFill>
        </p:spPr>
      </p:sp>
      <p:pic>
        <p:nvPicPr>
          <p:cNvPr id="4" name="Image 0" descr="/home/claude/assets/rocket.png"/>
          <p:cNvPicPr>
            <a:picLocks noChangeAspect="1"/>
          </p:cNvPicPr>
          <p:nvPr/>
        </p:nvPicPr>
        <p:blipFill>
          <a:blip r:embed="rId3"/>
          <a:stretch>
            <a:fillRect/>
          </a:stretch>
        </p:blipFill>
        <p:spPr>
          <a:xfrm>
            <a:off x="5684368" y="1051560"/>
            <a:ext cx="822960" cy="822960"/>
          </a:xfrm>
          <a:prstGeom prst="rect">
            <a:avLst/>
          </a:prstGeom>
        </p:spPr>
      </p:pic>
      <p:sp>
        <p:nvSpPr>
          <p:cNvPr id="5" name="Text 2"/>
          <p:cNvSpPr/>
          <p:nvPr/>
        </p:nvSpPr>
        <p:spPr>
          <a:xfrm>
            <a:off x="731520" y="2148840"/>
            <a:ext cx="10728655" cy="640080"/>
          </a:xfrm>
          <a:prstGeom prst="rect">
            <a:avLst/>
          </a:prstGeom>
          <a:noFill/>
        </p:spPr>
        <p:txBody>
          <a:bodyPr wrap="square" lIns="0" tIns="0" rIns="0" bIns="0" rtlCol="0" anchor="ctr"/>
          <a:lstStyle/>
          <a:p>
            <a:pPr marL="0" indent="0" algn="ctr">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MODÈLE DE BUSINESS PLAN</a:t>
            </a:r>
            <a:endParaRPr lang="en-US" sz="3400" dirty="0"/>
          </a:p>
        </p:txBody>
      </p:sp>
      <p:sp>
        <p:nvSpPr>
          <p:cNvPr id="6" name="Text 3"/>
          <p:cNvSpPr/>
          <p:nvPr/>
        </p:nvSpPr>
        <p:spPr>
          <a:xfrm>
            <a:off x="731520" y="2743200"/>
            <a:ext cx="10728655" cy="548640"/>
          </a:xfrm>
          <a:prstGeom prst="rect">
            <a:avLst/>
          </a:prstGeom>
          <a:noFill/>
        </p:spPr>
        <p:txBody>
          <a:bodyPr wrap="square" lIns="0" tIns="0" rIns="0" bIns="0" rtlCol="0" anchor="ctr"/>
          <a:lstStyle/>
          <a:p>
            <a:pPr marL="0" indent="0" algn="ctr" rtl="1">
              <a:buNone/>
            </a:pPr>
            <a:r>
              <a:rPr lang="en-US" sz="2600" b="1" dirty="0">
                <a:solidFill>
                  <a:srgbClr val="E07B2A"/>
                </a:solidFill>
                <a:latin typeface="Shakila" pitchFamily="34" charset="0"/>
                <a:ea typeface="Shakila" pitchFamily="34" charset="-122"/>
                <a:cs typeface="Shakila" pitchFamily="34" charset="-120"/>
              </a:rPr>
              <a:t>نموذج خطة الأعمال</a:t>
            </a:r>
            <a:endParaRPr lang="en-US" sz="2600" dirty="0"/>
          </a:p>
        </p:txBody>
      </p:sp>
      <p:sp>
        <p:nvSpPr>
          <p:cNvPr id="7" name="Text 4"/>
          <p:cNvSpPr/>
          <p:nvPr/>
        </p:nvSpPr>
        <p:spPr>
          <a:xfrm>
            <a:off x="731520" y="3429000"/>
            <a:ext cx="10728655" cy="365760"/>
          </a:xfrm>
          <a:prstGeom prst="rect">
            <a:avLst/>
          </a:prstGeom>
          <a:noFill/>
        </p:spPr>
        <p:txBody>
          <a:bodyPr wrap="square" lIns="0" tIns="0" rIns="0" bIns="0" rtlCol="0" anchor="ctr"/>
          <a:lstStyle/>
          <a:p>
            <a:pPr marL="0" indent="0" algn="ctr">
              <a:buNone/>
            </a:pPr>
            <a:r>
              <a:rPr lang="en-US" sz="1500" dirty="0">
                <a:solidFill>
                  <a:srgbClr val="D6E3F0"/>
                </a:solidFill>
                <a:latin typeface="Calibri" panose="020F0502020204030204" pitchFamily="34" charset="0"/>
                <a:ea typeface="Calibri" panose="020F0502020204030204" pitchFamily="34" charset="-122"/>
                <a:cs typeface="Calibri" panose="020F0502020204030204" pitchFamily="34" charset="-120"/>
              </a:rPr>
              <a:t>Pour les étudiants porteurs de projets — Challenge national « ProtoMarket »</a:t>
            </a:r>
            <a:endParaRPr lang="en-US" sz="1500" dirty="0"/>
          </a:p>
        </p:txBody>
      </p:sp>
      <p:sp>
        <p:nvSpPr>
          <p:cNvPr id="8" name="Text 5"/>
          <p:cNvSpPr/>
          <p:nvPr/>
        </p:nvSpPr>
        <p:spPr>
          <a:xfrm>
            <a:off x="731520" y="3794760"/>
            <a:ext cx="10728655" cy="365760"/>
          </a:xfrm>
          <a:prstGeom prst="rect">
            <a:avLst/>
          </a:prstGeom>
          <a:noFill/>
        </p:spPr>
        <p:txBody>
          <a:bodyPr wrap="square" lIns="0" tIns="0" rIns="0" bIns="0" rtlCol="0" anchor="ctr"/>
          <a:lstStyle/>
          <a:p>
            <a:pPr marL="0" indent="0" algn="ctr" rtl="1">
              <a:buNone/>
            </a:pPr>
            <a:r>
              <a:rPr lang="en-US" sz="1500" dirty="0">
                <a:solidFill>
                  <a:srgbClr val="D6E3F0"/>
                </a:solidFill>
                <a:latin typeface="Shakila" pitchFamily="34" charset="0"/>
                <a:ea typeface="Shakila" pitchFamily="34" charset="-122"/>
                <a:cs typeface="Shakila" pitchFamily="34" charset="-120"/>
              </a:rPr>
              <a:t>للطلبة حاملي المشاريع — التحدي الوطني «ProtoMarket»</a:t>
            </a:r>
            <a:endParaRPr lang="en-US" sz="1500" dirty="0"/>
          </a:p>
        </p:txBody>
      </p:sp>
      <p:sp>
        <p:nvSpPr>
          <p:cNvPr id="9" name="Shape 6"/>
          <p:cNvSpPr/>
          <p:nvPr/>
        </p:nvSpPr>
        <p:spPr>
          <a:xfrm>
            <a:off x="4389120" y="4434840"/>
            <a:ext cx="3383280" cy="0"/>
          </a:xfrm>
          <a:prstGeom prst="line">
            <a:avLst/>
          </a:prstGeom>
          <a:noFill/>
          <a:ln w="12700">
            <a:solidFill>
              <a:srgbClr val="E07B2A"/>
            </a:solidFill>
            <a:prstDash val="solid"/>
          </a:ln>
        </p:spPr>
      </p:sp>
      <p:sp>
        <p:nvSpPr>
          <p:cNvPr id="10" name="Text 7"/>
          <p:cNvSpPr/>
          <p:nvPr/>
        </p:nvSpPr>
        <p:spPr>
          <a:xfrm>
            <a:off x="731520" y="4617720"/>
            <a:ext cx="10728655" cy="365760"/>
          </a:xfrm>
          <a:prstGeom prst="rect">
            <a:avLst/>
          </a:prstGeom>
          <a:noFill/>
        </p:spPr>
        <p:txBody>
          <a:bodyPr wrap="square" lIns="0" tIns="0" rIns="0" bIns="0" rtlCol="0" anchor="ctr"/>
          <a:lstStyle/>
          <a:p>
            <a:pPr marL="0" indent="0" algn="ctr">
              <a:buNone/>
            </a:pPr>
            <a:r>
              <a:rPr lang="en-US" sz="1200" i="1" dirty="0">
                <a:solidFill>
                  <a:srgbClr val="E07B2A"/>
                </a:solidFill>
                <a:latin typeface="Calibri" panose="020F0502020204030204" pitchFamily="34" charset="0"/>
                <a:ea typeface="Calibri" panose="020F0502020204030204" pitchFamily="34" charset="-122"/>
                <a:cs typeface="Calibri" panose="020F0502020204030204" pitchFamily="34" charset="-120"/>
              </a:rPr>
              <a:t>Financement du prototype jusqu'à la commercialisation  •  تمويل النموذج الأولي حتى التسويق</a:t>
            </a:r>
            <a:endParaRPr lang="en-US" sz="1200" dirty="0"/>
          </a:p>
        </p:txBody>
      </p:sp>
      <p:sp>
        <p:nvSpPr>
          <p:cNvPr id="11" name="Text 8"/>
          <p:cNvSpPr/>
          <p:nvPr/>
        </p:nvSpPr>
        <p:spPr>
          <a:xfrm>
            <a:off x="731520" y="6080760"/>
            <a:ext cx="10728655" cy="320040"/>
          </a:xfrm>
          <a:prstGeom prst="rect">
            <a:avLst/>
          </a:prstGeom>
          <a:noFill/>
        </p:spPr>
        <p:txBody>
          <a:bodyPr wrap="square" lIns="0" tIns="0" rIns="0" bIns="0" rtlCol="0" anchor="ctr"/>
          <a:lstStyle/>
          <a:p>
            <a:pPr marL="0" indent="0" algn="ctr">
              <a:buNone/>
            </a:pPr>
            <a:r>
              <a:rPr lang="en-US" sz="1000" dirty="0">
                <a:solidFill>
                  <a:srgbClr val="9DB8CC"/>
                </a:solidFill>
                <a:latin typeface="Calibri" panose="020F0502020204030204" pitchFamily="34" charset="0"/>
                <a:ea typeface="Calibri" panose="020F0502020204030204" pitchFamily="34" charset="-122"/>
                <a:cs typeface="Calibri" panose="020F0502020204030204" pitchFamily="34" charset="-120"/>
              </a:rPr>
              <a:t>Ministère de l'Enseignement Supérieur et de la Recherche Scientifique (MESRS)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3A5F"/>
        </a:solidFill>
        <a:effectLst/>
      </p:bgPr>
    </p:bg>
    <p:spTree>
      <p:nvGrpSpPr>
        <p:cNvPr id="1" name="">
          <a:extLst>
            <a:ext uri="{FF2B5EF4-FFF2-40B4-BE49-F238E27FC236}">
              <a16:creationId xmlns:a16="http://schemas.microsoft.com/office/drawing/2014/main" id="{1F593A92-4A98-70E2-921B-9B98738994E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C8BF6C9-DE31-0A7D-ADEC-3A959D64D17C}"/>
              </a:ext>
            </a:extLst>
          </p:cNvPr>
          <p:cNvSpPr/>
          <p:nvPr/>
        </p:nvSpPr>
        <p:spPr>
          <a:xfrm>
            <a:off x="9692640" y="-1645920"/>
            <a:ext cx="4206240" cy="4206240"/>
          </a:xfrm>
          <a:prstGeom prst="ellipse">
            <a:avLst/>
          </a:prstGeom>
          <a:solidFill>
            <a:srgbClr val="16507F"/>
          </a:solidFill>
        </p:spPr>
      </p:sp>
      <p:sp>
        <p:nvSpPr>
          <p:cNvPr id="3" name="Shape 1">
            <a:extLst>
              <a:ext uri="{FF2B5EF4-FFF2-40B4-BE49-F238E27FC236}">
                <a16:creationId xmlns:a16="http://schemas.microsoft.com/office/drawing/2014/main" id="{CD1C2AA7-F8CE-C911-6519-71552634E584}"/>
              </a:ext>
            </a:extLst>
          </p:cNvPr>
          <p:cNvSpPr/>
          <p:nvPr/>
        </p:nvSpPr>
        <p:spPr>
          <a:xfrm>
            <a:off x="-1463040" y="4754880"/>
            <a:ext cx="3474720" cy="3474720"/>
          </a:xfrm>
          <a:prstGeom prst="ellipse">
            <a:avLst/>
          </a:prstGeom>
          <a:solidFill>
            <a:srgbClr val="16507F"/>
          </a:solidFill>
        </p:spPr>
      </p:sp>
      <p:pic>
        <p:nvPicPr>
          <p:cNvPr id="4" name="Image 0" descr="/home/claude/assets/rocket.png">
            <a:extLst>
              <a:ext uri="{FF2B5EF4-FFF2-40B4-BE49-F238E27FC236}">
                <a16:creationId xmlns:a16="http://schemas.microsoft.com/office/drawing/2014/main" id="{CE2B0C22-A2D6-596F-DFF8-0CCB611C53F8}"/>
              </a:ext>
            </a:extLst>
          </p:cNvPr>
          <p:cNvPicPr>
            <a:picLocks noChangeAspect="1"/>
          </p:cNvPicPr>
          <p:nvPr/>
        </p:nvPicPr>
        <p:blipFill>
          <a:blip r:embed="rId3"/>
          <a:stretch>
            <a:fillRect/>
          </a:stretch>
        </p:blipFill>
        <p:spPr>
          <a:xfrm>
            <a:off x="5684368" y="114300"/>
            <a:ext cx="822960" cy="822960"/>
          </a:xfrm>
          <a:prstGeom prst="rect">
            <a:avLst/>
          </a:prstGeom>
        </p:spPr>
      </p:pic>
      <p:sp>
        <p:nvSpPr>
          <p:cNvPr id="5" name="Text 2">
            <a:extLst>
              <a:ext uri="{FF2B5EF4-FFF2-40B4-BE49-F238E27FC236}">
                <a16:creationId xmlns:a16="http://schemas.microsoft.com/office/drawing/2014/main" id="{32C80CB9-9D7F-1040-A642-F200E1331CC2}"/>
              </a:ext>
            </a:extLst>
          </p:cNvPr>
          <p:cNvSpPr/>
          <p:nvPr/>
        </p:nvSpPr>
        <p:spPr>
          <a:xfrm>
            <a:off x="731520" y="1211580"/>
            <a:ext cx="10728655" cy="640080"/>
          </a:xfrm>
          <a:prstGeom prst="rect">
            <a:avLst/>
          </a:prstGeom>
          <a:no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400" b="1" i="0" u="none" strike="noStrike" kern="1200" cap="none" spc="0" normalizeH="0" baseline="0" noProof="0" dirty="0">
                <a:ln>
                  <a:noFill/>
                </a:ln>
                <a:solidFill>
                  <a:schemeClr val="accent2">
                    <a:lumMod val="75000"/>
                  </a:schemeClr>
                </a:solidFill>
                <a:effectLst/>
                <a:uLnTx/>
                <a:uFillTx/>
                <a:latin typeface="Cambria" panose="02040503050406030204" pitchFamily="34" charset="0"/>
                <a:ea typeface="Cambria" panose="02040503050406030204" pitchFamily="34" charset="-122"/>
                <a:cs typeface="Cambria" panose="02040503050406030204" pitchFamily="34" charset="-120"/>
              </a:rPr>
              <a:t>OBJECTIF DU MODÈLE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400" b="1" i="0" u="none" strike="noStrike" kern="1200" cap="none" spc="0" normalizeH="0" baseline="0" noProof="0" dirty="0">
                <a:ln>
                  <a:noFill/>
                </a:ln>
                <a:solidFill>
                  <a:srgbClr val="FFFFFF"/>
                </a:solidFill>
                <a:effectLst/>
                <a:uLnTx/>
                <a:uFillTx/>
                <a:latin typeface="Cambria" panose="02040503050406030204" pitchFamily="34" charset="0"/>
                <a:ea typeface="Cambria" panose="02040503050406030204" pitchFamily="34" charset="-122"/>
                <a:cs typeface="Cambria" panose="02040503050406030204" pitchFamily="34" charset="-120"/>
              </a:rPr>
              <a:t>DE PRÉSENTATION</a:t>
            </a:r>
            <a:endParaRPr kumimoji="0" lang="en-US" sz="3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Text 8">
            <a:extLst>
              <a:ext uri="{FF2B5EF4-FFF2-40B4-BE49-F238E27FC236}">
                <a16:creationId xmlns:a16="http://schemas.microsoft.com/office/drawing/2014/main" id="{13D7FB1E-FC4C-C3DF-1886-B2930A94231E}"/>
              </a:ext>
            </a:extLst>
          </p:cNvPr>
          <p:cNvSpPr/>
          <p:nvPr/>
        </p:nvSpPr>
        <p:spPr>
          <a:xfrm>
            <a:off x="731520" y="6080760"/>
            <a:ext cx="10728655" cy="320040"/>
          </a:xfrm>
          <a:prstGeom prst="rect">
            <a:avLst/>
          </a:prstGeom>
          <a:no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DB8CC"/>
                </a:solidFill>
                <a:effectLst/>
                <a:uLnTx/>
                <a:uFillTx/>
                <a:latin typeface="Calibri" panose="020F0502020204030204" pitchFamily="34" charset="0"/>
                <a:ea typeface="Calibri" panose="020F0502020204030204" pitchFamily="34" charset="-122"/>
                <a:cs typeface="Calibri" panose="020F0502020204030204" pitchFamily="34" charset="-120"/>
              </a:rPr>
              <a:t>Ministère de l'Enseignement Supérieur et de la Recherche Scientifique (MESRS)</a:t>
            </a:r>
            <a:endParaRPr kumimoji="0" lang="en-US" sz="1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Text 4">
            <a:extLst>
              <a:ext uri="{FF2B5EF4-FFF2-40B4-BE49-F238E27FC236}">
                <a16:creationId xmlns:a16="http://schemas.microsoft.com/office/drawing/2014/main" id="{A8CA5D82-0773-C4AC-B7ED-21F8E23AC457}"/>
              </a:ext>
            </a:extLst>
          </p:cNvPr>
          <p:cNvSpPr/>
          <p:nvPr/>
        </p:nvSpPr>
        <p:spPr>
          <a:xfrm>
            <a:off x="731519" y="3566160"/>
            <a:ext cx="10728655" cy="365760"/>
          </a:xfrm>
          <a:prstGeom prst="rect">
            <a:avLst/>
          </a:prstGeom>
          <a:no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500" b="0" i="0" u="none" strike="noStrike" kern="1200" cap="none" spc="0" normalizeH="0" baseline="0" noProof="0" dirty="0">
                <a:ln>
                  <a:noFill/>
                </a:ln>
                <a:solidFill>
                  <a:srgbClr val="C00000"/>
                </a:solidFill>
                <a:effectLst/>
                <a:uLnTx/>
                <a:uFillTx/>
                <a:latin typeface="Calibri" panose="020F0502020204030204" pitchFamily="34" charset="0"/>
                <a:ea typeface="Calibri" panose="020F0502020204030204" pitchFamily="34" charset="-122"/>
                <a:cs typeface="Calibri" panose="020F0502020204030204" pitchFamily="34" charset="-120"/>
              </a:rPr>
              <a:t>Important : </a:t>
            </a:r>
            <a:r>
              <a:rPr kumimoji="0" lang="fr-FR" sz="1500" b="0" i="0" u="none" strike="noStrike" kern="1200" cap="none" spc="0" normalizeH="0" baseline="0" noProof="0" dirty="0">
                <a:ln>
                  <a:noFill/>
                </a:ln>
                <a:solidFill>
                  <a:srgbClr val="D6E3F0"/>
                </a:solidFill>
                <a:effectLst/>
                <a:uLnTx/>
                <a:uFillTx/>
                <a:latin typeface="Calibri" panose="020F0502020204030204" pitchFamily="34" charset="0"/>
                <a:ea typeface="Calibri" panose="020F0502020204030204" pitchFamily="34" charset="-122"/>
                <a:cs typeface="Calibri" panose="020F0502020204030204" pitchFamily="34" charset="-120"/>
              </a:rPr>
              <a:t>Le modèle de présentation proposé n’a pas pour objectif d’imposer une forme graphique unique aux porteurs de projets. Il constitue avant tout une trame de fond destinée à préciser les informations attendues par le jury.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500" b="0" i="0" u="none" strike="noStrike" kern="1200" cap="none" spc="0" normalizeH="0" baseline="0" noProof="0" dirty="0">
              <a:ln>
                <a:noFill/>
              </a:ln>
              <a:solidFill>
                <a:srgbClr val="D6E3F0"/>
              </a:solidFill>
              <a:effectLst/>
              <a:uLnTx/>
              <a:uFillTx/>
              <a:latin typeface="Calibri" panose="020F0502020204030204" pitchFamily="34" charset="0"/>
              <a:ea typeface="Calibri" panose="020F0502020204030204" pitchFamily="34" charset="-122"/>
              <a:cs typeface="Calibri" panose="020F0502020204030204"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500" b="0" i="0" u="none" strike="noStrike" kern="1200" cap="none" spc="0" normalizeH="0" baseline="0" noProof="0" dirty="0">
                <a:ln>
                  <a:noFill/>
                </a:ln>
                <a:solidFill>
                  <a:srgbClr val="D6E3F0"/>
                </a:solidFill>
                <a:effectLst/>
                <a:uLnTx/>
                <a:uFillTx/>
                <a:latin typeface="Calibri" panose="020F0502020204030204" pitchFamily="34" charset="0"/>
                <a:ea typeface="Calibri" panose="020F0502020204030204" pitchFamily="34" charset="-122"/>
                <a:cs typeface="Calibri" panose="020F0502020204030204" pitchFamily="34" charset="-120"/>
              </a:rPr>
              <a:t>Les candidats sont donc libres d’adapter la forme, le design, les visuels et la mise en page de leur présentation, à condition de respecter les rubriques demandées et de fournir les informations nécessaires à la bonne compréhension du projet.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500" b="0" i="0" u="none" strike="noStrike" kern="1200" cap="none" spc="0" normalizeH="0" baseline="0" noProof="0" dirty="0">
              <a:ln>
                <a:noFill/>
              </a:ln>
              <a:solidFill>
                <a:srgbClr val="D6E3F0"/>
              </a:solidFill>
              <a:effectLst/>
              <a:uLnTx/>
              <a:uFillTx/>
              <a:latin typeface="Calibri" panose="020F0502020204030204" pitchFamily="34" charset="0"/>
              <a:ea typeface="Calibri" panose="020F0502020204030204" pitchFamily="34" charset="-122"/>
              <a:cs typeface="Calibri" panose="020F0502020204030204"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500" b="0" i="0" u="none" strike="noStrike" kern="1200" cap="none" spc="0" normalizeH="0" baseline="0" noProof="0" dirty="0">
                <a:ln>
                  <a:noFill/>
                </a:ln>
                <a:solidFill>
                  <a:srgbClr val="D6E3F0"/>
                </a:solidFill>
                <a:effectLst/>
                <a:uLnTx/>
                <a:uFillTx/>
                <a:latin typeface="Calibri" panose="020F0502020204030204" pitchFamily="34" charset="0"/>
                <a:ea typeface="Calibri" panose="020F0502020204030204" pitchFamily="34" charset="-122"/>
                <a:cs typeface="Calibri" panose="020F0502020204030204" pitchFamily="34" charset="-120"/>
              </a:rPr>
              <a:t>La présentation doit être claire, professionnelle, agréable à lire et visuellement structurée. Elle doit contenir un minimum de texte, tout en permettant au jury de comprendre l’essentiel du projet, même en l’absence du porteur de projet.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500" b="0" i="0" u="none" strike="noStrike" kern="1200" cap="none" spc="0" normalizeH="0" baseline="0" noProof="0" dirty="0">
              <a:ln>
                <a:noFill/>
              </a:ln>
              <a:solidFill>
                <a:srgbClr val="D6E3F0"/>
              </a:solidFill>
              <a:effectLst/>
              <a:uLnTx/>
              <a:uFillTx/>
              <a:latin typeface="Calibri" panose="020F0502020204030204" pitchFamily="34" charset="0"/>
              <a:ea typeface="Calibri" panose="020F0502020204030204" pitchFamily="34" charset="-122"/>
              <a:cs typeface="Calibri" panose="020F0502020204030204"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500" b="0" i="0" u="none" strike="noStrike" kern="1200" cap="none" spc="0" normalizeH="0" baseline="0" noProof="0" dirty="0">
                <a:ln>
                  <a:noFill/>
                </a:ln>
                <a:solidFill>
                  <a:srgbClr val="D6E3F0"/>
                </a:solidFill>
                <a:effectLst/>
                <a:uLnTx/>
                <a:uFillTx/>
                <a:latin typeface="Calibri" panose="020F0502020204030204" pitchFamily="34" charset="0"/>
                <a:ea typeface="Calibri" panose="020F0502020204030204" pitchFamily="34" charset="-122"/>
                <a:cs typeface="Calibri" panose="020F0502020204030204" pitchFamily="34" charset="-120"/>
              </a:rPr>
              <a:t>Il ne s’agit ni d’un document académique détaillé, ni d’une présentation de pitch trop orale ou trop dépendante de l’explication du candidat. Le support doit être autonome, synthétique et compréhensible à la lecture.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500" b="0" i="0" u="none" strike="noStrike" kern="1200" cap="none" spc="0" normalizeH="0" baseline="0" noProof="0" dirty="0">
              <a:ln>
                <a:noFill/>
              </a:ln>
              <a:solidFill>
                <a:srgbClr val="D6E3F0"/>
              </a:solidFill>
              <a:effectLst/>
              <a:uLnTx/>
              <a:uFillTx/>
              <a:latin typeface="Calibri" panose="020F0502020204030204" pitchFamily="34" charset="0"/>
              <a:ea typeface="Calibri" panose="020F0502020204030204" pitchFamily="34" charset="-122"/>
              <a:cs typeface="Calibri" panose="020F0502020204030204"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500" b="0" i="0" u="none" strike="noStrike" kern="1200" cap="none" spc="0" normalizeH="0" baseline="0" noProof="0" dirty="0">
                <a:ln>
                  <a:noFill/>
                </a:ln>
                <a:solidFill>
                  <a:srgbClr val="D6E3F0"/>
                </a:solidFill>
                <a:effectLst/>
                <a:uLnTx/>
                <a:uFillTx/>
                <a:latin typeface="Calibri" panose="020F0502020204030204" pitchFamily="34" charset="0"/>
                <a:ea typeface="Calibri" panose="020F0502020204030204" pitchFamily="34" charset="-122"/>
                <a:cs typeface="Calibri" panose="020F0502020204030204" pitchFamily="34" charset="-120"/>
              </a:rPr>
              <a:t>Chaque slide doit aller à l’essentiel, avec des messages courts, des schémas, des tableaux, des visuels ou des chiffres clés lorsque cela est pertinent. L’objectif est de permettre une évaluation rapide, équitable et efficace de chaque projet.</a:t>
            </a:r>
          </a:p>
        </p:txBody>
      </p:sp>
    </p:spTree>
    <p:extLst>
      <p:ext uri="{BB962C8B-B14F-4D97-AF65-F5344CB8AC3E}">
        <p14:creationId xmlns:p14="http://schemas.microsoft.com/office/powerpoint/2010/main" val="3787577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3A5F"/>
        </a:solidFill>
        <a:effectLst/>
      </p:bgPr>
    </p:bg>
    <p:spTree>
      <p:nvGrpSpPr>
        <p:cNvPr id="1" name="">
          <a:extLst>
            <a:ext uri="{FF2B5EF4-FFF2-40B4-BE49-F238E27FC236}">
              <a16:creationId xmlns:a16="http://schemas.microsoft.com/office/drawing/2014/main" id="{0BDC1BC3-84A7-88CA-CC89-32EA9384762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19C3539-BB48-A539-F187-4B2789107162}"/>
              </a:ext>
            </a:extLst>
          </p:cNvPr>
          <p:cNvSpPr/>
          <p:nvPr/>
        </p:nvSpPr>
        <p:spPr>
          <a:xfrm>
            <a:off x="9692640" y="-1645920"/>
            <a:ext cx="4206240" cy="4206240"/>
          </a:xfrm>
          <a:prstGeom prst="ellipse">
            <a:avLst/>
          </a:prstGeom>
          <a:solidFill>
            <a:srgbClr val="16507F"/>
          </a:solidFill>
        </p:spPr>
      </p:sp>
      <p:sp>
        <p:nvSpPr>
          <p:cNvPr id="3" name="Shape 1">
            <a:extLst>
              <a:ext uri="{FF2B5EF4-FFF2-40B4-BE49-F238E27FC236}">
                <a16:creationId xmlns:a16="http://schemas.microsoft.com/office/drawing/2014/main" id="{3082B79E-06B2-6E65-2ED8-EA5ACA0855A1}"/>
              </a:ext>
            </a:extLst>
          </p:cNvPr>
          <p:cNvSpPr/>
          <p:nvPr/>
        </p:nvSpPr>
        <p:spPr>
          <a:xfrm>
            <a:off x="-1463040" y="4754880"/>
            <a:ext cx="3474720" cy="3474720"/>
          </a:xfrm>
          <a:prstGeom prst="ellipse">
            <a:avLst/>
          </a:prstGeom>
          <a:solidFill>
            <a:srgbClr val="16507F"/>
          </a:solidFill>
        </p:spPr>
      </p:sp>
      <p:pic>
        <p:nvPicPr>
          <p:cNvPr id="4" name="Image 0" descr="/home/claude/assets/rocket.png">
            <a:extLst>
              <a:ext uri="{FF2B5EF4-FFF2-40B4-BE49-F238E27FC236}">
                <a16:creationId xmlns:a16="http://schemas.microsoft.com/office/drawing/2014/main" id="{0DDA4255-EF63-E9C0-BC51-C278974AA9D6}"/>
              </a:ext>
            </a:extLst>
          </p:cNvPr>
          <p:cNvPicPr>
            <a:picLocks noChangeAspect="1"/>
          </p:cNvPicPr>
          <p:nvPr/>
        </p:nvPicPr>
        <p:blipFill>
          <a:blip r:embed="rId3"/>
          <a:stretch>
            <a:fillRect/>
          </a:stretch>
        </p:blipFill>
        <p:spPr>
          <a:xfrm>
            <a:off x="5684368" y="114300"/>
            <a:ext cx="822960" cy="822960"/>
          </a:xfrm>
          <a:prstGeom prst="rect">
            <a:avLst/>
          </a:prstGeom>
        </p:spPr>
      </p:pic>
      <p:sp>
        <p:nvSpPr>
          <p:cNvPr id="5" name="Text 2">
            <a:extLst>
              <a:ext uri="{FF2B5EF4-FFF2-40B4-BE49-F238E27FC236}">
                <a16:creationId xmlns:a16="http://schemas.microsoft.com/office/drawing/2014/main" id="{1628E781-6654-0FA6-E99A-66776A5E959C}"/>
              </a:ext>
            </a:extLst>
          </p:cNvPr>
          <p:cNvSpPr/>
          <p:nvPr/>
        </p:nvSpPr>
        <p:spPr>
          <a:xfrm>
            <a:off x="731520" y="1211580"/>
            <a:ext cx="10728655" cy="640080"/>
          </a:xfrm>
          <a:prstGeom prst="rect">
            <a:avLst/>
          </a:prstGeom>
          <a:noFill/>
        </p:spPr>
        <p:txBody>
          <a:bodyPr wrap="square" lIns="0" tIns="0" rIns="0" bIns="0" rtlCol="0" anchor="ct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ar-DZ" sz="4400" b="1" i="0" u="none" strike="noStrike" kern="1200" cap="none" spc="0" normalizeH="0" baseline="0" noProof="0" dirty="0">
                <a:ln>
                  <a:noFill/>
                </a:ln>
                <a:solidFill>
                  <a:srgbClr val="ED7D31">
                    <a:lumMod val="75000"/>
                  </a:srgbClr>
                </a:solidFill>
                <a:effectLst/>
                <a:uLnTx/>
                <a:uFillTx/>
                <a:latin typeface="Cambria" panose="02040503050406030204" pitchFamily="34" charset="0"/>
                <a:ea typeface="Cambria" panose="02040503050406030204" pitchFamily="34" charset="-122"/>
                <a:cs typeface="Cambria" panose="02040503050406030204" pitchFamily="34" charset="-120"/>
              </a:rPr>
              <a:t>الهدف من</a:t>
            </a:r>
            <a:endParaRPr kumimoji="0" lang="fr-FR" sz="4400" b="1" i="0" u="none" strike="noStrike" kern="1200" cap="none" spc="0" normalizeH="0" baseline="0" noProof="0" dirty="0">
              <a:ln>
                <a:noFill/>
              </a:ln>
              <a:solidFill>
                <a:srgbClr val="ED7D31">
                  <a:lumMod val="75000"/>
                </a:srgbClr>
              </a:solidFill>
              <a:effectLst/>
              <a:uLnTx/>
              <a:uFillTx/>
              <a:latin typeface="Cambria" panose="02040503050406030204" pitchFamily="34" charset="0"/>
              <a:ea typeface="Cambria" panose="02040503050406030204" pitchFamily="34" charset="-122"/>
              <a:cs typeface="Cambria" panose="02040503050406030204" pitchFamily="34" charset="-120"/>
            </a:endParaRP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ar-DZ" sz="4400" b="1" i="0" u="none" strike="noStrike" kern="1200" cap="none" spc="0" normalizeH="0" baseline="0" noProof="0" dirty="0">
                <a:ln>
                  <a:noFill/>
                </a:ln>
                <a:solidFill>
                  <a:schemeClr val="bg1"/>
                </a:solidFill>
                <a:effectLst/>
                <a:uLnTx/>
                <a:uFillTx/>
                <a:latin typeface="Cambria" panose="02040503050406030204" pitchFamily="34" charset="0"/>
                <a:ea typeface="Cambria" panose="02040503050406030204" pitchFamily="34" charset="-122"/>
                <a:cs typeface="Cambria" panose="02040503050406030204" pitchFamily="34" charset="-120"/>
              </a:rPr>
              <a:t> نموذج العرض</a:t>
            </a:r>
            <a:endParaRPr kumimoji="0" lang="en-US" sz="4400" b="0" i="0" u="none" strike="noStrike" kern="1200" cap="none" spc="0" normalizeH="0" baseline="0" noProof="0" dirty="0">
              <a:ln>
                <a:noFill/>
              </a:ln>
              <a:solidFill>
                <a:schemeClr val="bg1"/>
              </a:solidFill>
              <a:effectLst/>
              <a:uLnTx/>
              <a:uFillTx/>
              <a:latin typeface="Calibri"/>
              <a:ea typeface="+mn-ea"/>
              <a:cs typeface="+mn-cs"/>
            </a:endParaRPr>
          </a:p>
        </p:txBody>
      </p:sp>
      <p:sp>
        <p:nvSpPr>
          <p:cNvPr id="11" name="Text 8">
            <a:extLst>
              <a:ext uri="{FF2B5EF4-FFF2-40B4-BE49-F238E27FC236}">
                <a16:creationId xmlns:a16="http://schemas.microsoft.com/office/drawing/2014/main" id="{9397D160-703D-8BA5-4DB5-44DEC290FC2E}"/>
              </a:ext>
            </a:extLst>
          </p:cNvPr>
          <p:cNvSpPr/>
          <p:nvPr/>
        </p:nvSpPr>
        <p:spPr>
          <a:xfrm>
            <a:off x="731520" y="6080760"/>
            <a:ext cx="10728655" cy="320040"/>
          </a:xfrm>
          <a:prstGeom prst="rect">
            <a:avLst/>
          </a:prstGeom>
          <a:no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DB8CC"/>
                </a:solidFill>
                <a:effectLst/>
                <a:uLnTx/>
                <a:uFillTx/>
                <a:latin typeface="Calibri" panose="020F0502020204030204" pitchFamily="34" charset="0"/>
                <a:ea typeface="Calibri" panose="020F0502020204030204" pitchFamily="34" charset="-122"/>
                <a:cs typeface="Calibri" panose="020F0502020204030204" pitchFamily="34" charset="-120"/>
              </a:rPr>
              <a:t>Ministère de l'Enseignement Supérieur et de la Recherche Scientifique (MESRS)</a:t>
            </a:r>
            <a:endParaRPr kumimoji="0" lang="en-US" sz="1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Text 4">
            <a:extLst>
              <a:ext uri="{FF2B5EF4-FFF2-40B4-BE49-F238E27FC236}">
                <a16:creationId xmlns:a16="http://schemas.microsoft.com/office/drawing/2014/main" id="{BDBAAB6A-650F-767D-A619-5BA4EEB15768}"/>
              </a:ext>
            </a:extLst>
          </p:cNvPr>
          <p:cNvSpPr/>
          <p:nvPr/>
        </p:nvSpPr>
        <p:spPr>
          <a:xfrm>
            <a:off x="375404" y="3022964"/>
            <a:ext cx="11440886" cy="1983377"/>
          </a:xfrm>
          <a:prstGeom prst="rect">
            <a:avLst/>
          </a:prstGeom>
          <a:no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DZ" sz="2400" b="0"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122"/>
                <a:cs typeface="Calibri" panose="020F0502020204030204" pitchFamily="34" charset="-120"/>
              </a:rPr>
              <a:t>لا يهدف نموذج العرض المقترح إلى فرض شكل بصري موحّد على حاملي المشاريع، بل يهدف أساسًا إلى تحديد مضمون المعلومات المنتظرة من طرف لجنة التقييم.</a:t>
            </a:r>
            <a:endParaRPr kumimoji="0" lang="fr-FR" sz="2400" b="0"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122"/>
              <a:cs typeface="Calibri" panose="020F0502020204030204"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DZ" sz="2400" b="0"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122"/>
                <a:cs typeface="Calibri" panose="020F0502020204030204" pitchFamily="34" charset="-120"/>
              </a:rPr>
              <a:t>لذلك، يمكن للمترشحين تكييف شكل العرض، التصميم، العناصر البصرية وطريقة تنظيم الشرائح، بشرط احترام المحاور المطلوبة وتقديم المعلومات الضرورية التي تسمح بفهم المشروع بشكل واضح.</a:t>
            </a:r>
            <a:r>
              <a:rPr kumimoji="0" lang="fr-FR" sz="2400" b="0"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122"/>
                <a:cs typeface="Calibri" panose="020F0502020204030204" pitchFamily="34" charset="-120"/>
              </a:rPr>
              <a:t> </a:t>
            </a:r>
            <a:r>
              <a:rPr kumimoji="0" lang="ar-DZ" sz="2400" b="0"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122"/>
                <a:cs typeface="Calibri" panose="020F0502020204030204" pitchFamily="34" charset="-120"/>
              </a:rPr>
              <a:t>يجب أن يكون العرض واضحًا، احترافيًا، سهل القراءة وجذابًا من الناحية البصرية. كما يجب أن يتضمن أقل قدر ممكن من النص، مع تمكين لجنة التقييم من فهم جوهر المشروع حتى في حال عدم حضور حامل المشروع لتقديمه شفهيًا.</a:t>
            </a:r>
            <a:r>
              <a:rPr kumimoji="0" lang="fr-FR" sz="2400" b="0"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122"/>
                <a:cs typeface="Calibri" panose="020F0502020204030204" pitchFamily="34" charset="-120"/>
              </a:rPr>
              <a:t> </a:t>
            </a:r>
            <a:r>
              <a:rPr kumimoji="0" lang="ar-DZ" sz="2400" b="0"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122"/>
                <a:cs typeface="Calibri" panose="020F0502020204030204" pitchFamily="34" charset="-120"/>
              </a:rPr>
              <a:t>ولا يُقصد بالعرض أن يكون وثيقة أكاديمية مطوّلة، ولا عرضًا شفهيًا يعتمد بشكل كبير على شرح المترشح. بل يجب أن يكون العرض مستقلًا، مختصرًا ومفهومًا بمجرد قراءته.</a:t>
            </a:r>
            <a:endParaRPr kumimoji="0" lang="fr-FR" sz="2400" b="0"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122"/>
              <a:cs typeface="Calibri" panose="020F0502020204030204"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DZ" sz="2400" b="0"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122"/>
                <a:cs typeface="Calibri" panose="020F0502020204030204" pitchFamily="34" charset="-120"/>
              </a:rPr>
              <a:t>ينبغي أن تركّز كل شريحة على الفكرة الأساسية، باستعمال عبارات قصيرة، مخططات، جداول، صور أو أرقام مفتاحية كلما كان ذلك مناسبًا. والهدف هو تمكين لجنة التقييم من دراسة المشاريع بطريقة سريعة، عادلة وفعّالة.</a:t>
            </a:r>
            <a:endParaRPr kumimoji="0" lang="fr-FR" sz="2400" b="0"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122"/>
              <a:cs typeface="Calibri" panose="020F0502020204030204" pitchFamily="34" charset="-120"/>
            </a:endParaRPr>
          </a:p>
        </p:txBody>
      </p:sp>
    </p:spTree>
    <p:extLst>
      <p:ext uri="{BB962C8B-B14F-4D97-AF65-F5344CB8AC3E}">
        <p14:creationId xmlns:p14="http://schemas.microsoft.com/office/powerpoint/2010/main" val="3431422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2F3"/>
        </a:solidFill>
        <a:effectLst/>
      </p:bgPr>
    </p:bg>
    <p:spTree>
      <p:nvGrpSpPr>
        <p:cNvPr id="1" name=""/>
        <p:cNvGrpSpPr/>
        <p:nvPr/>
      </p:nvGrpSpPr>
      <p:grpSpPr>
        <a:xfrm>
          <a:off x="0" y="0"/>
          <a:ext cx="0" cy="0"/>
          <a:chOff x="0" y="0"/>
          <a:chExt cx="0" cy="0"/>
        </a:xfrm>
      </p:grpSpPr>
      <p:sp>
        <p:nvSpPr>
          <p:cNvPr id="2" name="Shape 0"/>
          <p:cNvSpPr/>
          <p:nvPr/>
        </p:nvSpPr>
        <p:spPr>
          <a:xfrm>
            <a:off x="548640" y="457200"/>
            <a:ext cx="3108960" cy="384048"/>
          </a:xfrm>
          <a:prstGeom prst="roundRect">
            <a:avLst>
              <a:gd name="adj" fmla="val 19048"/>
            </a:avLst>
          </a:prstGeom>
          <a:solidFill>
            <a:srgbClr val="E07B2A"/>
          </a:solidFill>
        </p:spPr>
      </p:sp>
      <p:sp>
        <p:nvSpPr>
          <p:cNvPr id="3" name="Text 1"/>
          <p:cNvSpPr/>
          <p:nvPr/>
        </p:nvSpPr>
        <p:spPr>
          <a:xfrm>
            <a:off x="548640" y="457200"/>
            <a:ext cx="3108960" cy="384048"/>
          </a:xfrm>
          <a:prstGeom prst="rect">
            <a:avLst/>
          </a:prstGeom>
          <a:noFill/>
        </p:spPr>
        <p:txBody>
          <a:bodyPr wrap="square" lIns="0" tIns="0" rIns="0" bIns="0" rtlCol="0" anchor="ctr"/>
          <a:lstStyle/>
          <a:p>
            <a:pPr marL="0" indent="0" algn="ctr">
              <a:buNone/>
            </a:pPr>
            <a:r>
              <a:rPr lang="en-US" sz="1200" b="1" dirty="0">
                <a:solidFill>
                  <a:srgbClr val="0F3A5F"/>
                </a:solidFill>
                <a:latin typeface="Calibri" panose="020F0502020204030204" pitchFamily="34" charset="0"/>
                <a:ea typeface="Calibri" panose="020F0502020204030204" pitchFamily="34" charset="-122"/>
                <a:cs typeface="Calibri" panose="020F0502020204030204" pitchFamily="34" charset="-120"/>
              </a:rPr>
              <a:t>LE CHALLENGE</a:t>
            </a:r>
            <a:endParaRPr lang="en-US" sz="1200" dirty="0"/>
          </a:p>
        </p:txBody>
      </p:sp>
      <p:sp>
        <p:nvSpPr>
          <p:cNvPr id="4" name="Shape 2"/>
          <p:cNvSpPr/>
          <p:nvPr/>
        </p:nvSpPr>
        <p:spPr>
          <a:xfrm>
            <a:off x="8534095" y="457200"/>
            <a:ext cx="3108960" cy="384048"/>
          </a:xfrm>
          <a:prstGeom prst="roundRect">
            <a:avLst>
              <a:gd name="adj" fmla="val 19048"/>
            </a:avLst>
          </a:prstGeom>
          <a:solidFill>
            <a:srgbClr val="E07B2A"/>
          </a:solidFill>
        </p:spPr>
      </p:sp>
      <p:sp>
        <p:nvSpPr>
          <p:cNvPr id="5" name="Text 3"/>
          <p:cNvSpPr/>
          <p:nvPr/>
        </p:nvSpPr>
        <p:spPr>
          <a:xfrm>
            <a:off x="8534095" y="457200"/>
            <a:ext cx="3108960" cy="384048"/>
          </a:xfrm>
          <a:prstGeom prst="rect">
            <a:avLst/>
          </a:prstGeom>
          <a:noFill/>
        </p:spPr>
        <p:txBody>
          <a:bodyPr wrap="square" lIns="0" tIns="0" rIns="0" bIns="0" rtlCol="0" anchor="ctr"/>
          <a:lstStyle/>
          <a:p>
            <a:pPr marL="0" indent="0" algn="ctr" rtl="1">
              <a:buNone/>
            </a:pPr>
            <a:r>
              <a:rPr lang="en-US" sz="1300" b="1" dirty="0">
                <a:solidFill>
                  <a:srgbClr val="0F3A5F"/>
                </a:solidFill>
                <a:latin typeface="Shakila" pitchFamily="34" charset="0"/>
                <a:ea typeface="Shakila" pitchFamily="34" charset="-122"/>
                <a:cs typeface="Shakila" pitchFamily="34" charset="-120"/>
              </a:rPr>
              <a:t>التحدي</a:t>
            </a:r>
            <a:endParaRPr lang="en-US" sz="1300" dirty="0"/>
          </a:p>
        </p:txBody>
      </p:sp>
      <p:sp>
        <p:nvSpPr>
          <p:cNvPr id="6" name="Text 4"/>
          <p:cNvSpPr/>
          <p:nvPr/>
        </p:nvSpPr>
        <p:spPr>
          <a:xfrm>
            <a:off x="548640" y="960120"/>
            <a:ext cx="11094415" cy="548640"/>
          </a:xfrm>
          <a:prstGeom prst="rect">
            <a:avLst/>
          </a:prstGeom>
          <a:noFill/>
        </p:spPr>
        <p:txBody>
          <a:bodyPr wrap="square" lIns="0" tIns="0" rIns="0" bIns="0" rtlCol="0" anchor="ctr"/>
          <a:lstStyle/>
          <a:p>
            <a:pPr marL="0" indent="0" algn="l">
              <a:buNone/>
            </a:pPr>
            <a:r>
              <a:rPr lang="en-US" sz="3000" b="1" dirty="0">
                <a:solidFill>
                  <a:srgbClr val="0F3A5F"/>
                </a:solidFill>
                <a:latin typeface="Cambria" panose="02040503050406030204" pitchFamily="34" charset="0"/>
                <a:ea typeface="Cambria" panose="02040503050406030204" pitchFamily="34" charset="-122"/>
                <a:cs typeface="Cambria" panose="02040503050406030204" pitchFamily="34" charset="-120"/>
              </a:rPr>
              <a:t>ProtoMarket en bref</a:t>
            </a:r>
            <a:endParaRPr lang="en-US" sz="3000" dirty="0"/>
          </a:p>
        </p:txBody>
      </p:sp>
      <p:sp>
        <p:nvSpPr>
          <p:cNvPr id="7" name="Text 5"/>
          <p:cNvSpPr/>
          <p:nvPr/>
        </p:nvSpPr>
        <p:spPr>
          <a:xfrm>
            <a:off x="548640" y="1463040"/>
            <a:ext cx="11094415" cy="457200"/>
          </a:xfrm>
          <a:prstGeom prst="rect">
            <a:avLst/>
          </a:prstGeom>
          <a:noFill/>
        </p:spPr>
        <p:txBody>
          <a:bodyPr wrap="square" lIns="0" tIns="0" rIns="0" bIns="0" rtlCol="0" anchor="ctr"/>
          <a:lstStyle/>
          <a:p>
            <a:pPr marL="0" indent="0" algn="r" rtl="1">
              <a:buNone/>
            </a:pPr>
            <a:r>
              <a:rPr lang="en-US" sz="2200" b="1" dirty="0">
                <a:solidFill>
                  <a:srgbClr val="6B7178"/>
                </a:solidFill>
                <a:latin typeface="Shakila" pitchFamily="34" charset="0"/>
                <a:ea typeface="Shakila" pitchFamily="34" charset="-122"/>
                <a:cs typeface="Shakila" pitchFamily="34" charset="-120"/>
              </a:rPr>
              <a:t>بروتوماركت في سطور</a:t>
            </a:r>
            <a:endParaRPr lang="en-US" sz="2200" dirty="0"/>
          </a:p>
        </p:txBody>
      </p:sp>
      <p:sp>
        <p:nvSpPr>
          <p:cNvPr id="8" name="Shape 6"/>
          <p:cNvSpPr/>
          <p:nvPr/>
        </p:nvSpPr>
        <p:spPr>
          <a:xfrm>
            <a:off x="548640" y="2240280"/>
            <a:ext cx="5349240" cy="1691640"/>
          </a:xfrm>
          <a:prstGeom prst="roundRect">
            <a:avLst>
              <a:gd name="adj" fmla="val 4324"/>
            </a:avLst>
          </a:prstGeom>
          <a:solidFill>
            <a:srgbClr val="FFFFFF"/>
          </a:solidFill>
          <a:effectLst>
            <a:outerShdw blurRad="101600" dist="38100" dir="5400000" algn="bl" rotWithShape="0">
              <a:srgbClr val="000000">
                <a:alpha val="10000"/>
              </a:srgbClr>
            </a:outerShdw>
          </a:effectLst>
        </p:spPr>
        <p:txBody>
          <a:bodyPr/>
          <a:lstStyle/>
          <a:p>
            <a:endParaRPr lang="fr-FR" altLang="en-US"/>
          </a:p>
        </p:txBody>
      </p:sp>
      <p:sp>
        <p:nvSpPr>
          <p:cNvPr id="9" name="Shape 7"/>
          <p:cNvSpPr/>
          <p:nvPr/>
        </p:nvSpPr>
        <p:spPr>
          <a:xfrm>
            <a:off x="777240" y="2468880"/>
            <a:ext cx="548640" cy="548640"/>
          </a:xfrm>
          <a:prstGeom prst="ellipse">
            <a:avLst/>
          </a:prstGeom>
          <a:solidFill>
            <a:srgbClr val="0F3A5F"/>
          </a:solidFill>
        </p:spPr>
      </p:sp>
      <p:pic>
        <p:nvPicPr>
          <p:cNvPr id="10" name="Image 0" descr="/home/claude/assets/lightbulb.png"/>
          <p:cNvPicPr>
            <a:picLocks noChangeAspect="1"/>
          </p:cNvPicPr>
          <p:nvPr/>
        </p:nvPicPr>
        <p:blipFill>
          <a:blip r:embed="rId3"/>
          <a:stretch>
            <a:fillRect/>
          </a:stretch>
        </p:blipFill>
        <p:spPr>
          <a:xfrm>
            <a:off x="886968" y="2578608"/>
            <a:ext cx="329184" cy="329184"/>
          </a:xfrm>
          <a:prstGeom prst="rect">
            <a:avLst/>
          </a:prstGeom>
        </p:spPr>
      </p:pic>
      <p:sp>
        <p:nvSpPr>
          <p:cNvPr id="11" name="Text 8"/>
          <p:cNvSpPr/>
          <p:nvPr/>
        </p:nvSpPr>
        <p:spPr>
          <a:xfrm>
            <a:off x="1463040" y="2404872"/>
            <a:ext cx="4251960" cy="292608"/>
          </a:xfrm>
          <a:prstGeom prst="rect">
            <a:avLst/>
          </a:prstGeom>
          <a:noFill/>
        </p:spPr>
        <p:txBody>
          <a:bodyPr wrap="square" lIns="0" tIns="0" rIns="0" bIns="0" rtlCol="0" anchor="ctr"/>
          <a:lstStyle/>
          <a:p>
            <a:pPr marL="0" indent="0">
              <a:buNone/>
            </a:pPr>
            <a:r>
              <a:rPr lang="en-US" sz="1400" b="1" dirty="0">
                <a:solidFill>
                  <a:srgbClr val="0F3A5F"/>
                </a:solidFill>
                <a:latin typeface="Calibri" panose="020F0502020204030204" pitchFamily="34" charset="0"/>
                <a:ea typeface="Calibri" panose="020F0502020204030204" pitchFamily="34" charset="-122"/>
                <a:cs typeface="Calibri" panose="020F0502020204030204" pitchFamily="34" charset="-120"/>
              </a:rPr>
              <a:t>Public visé</a:t>
            </a:r>
            <a:endParaRPr lang="en-US" sz="1400" dirty="0"/>
          </a:p>
        </p:txBody>
      </p:sp>
      <p:sp>
        <p:nvSpPr>
          <p:cNvPr id="12" name="Text 9"/>
          <p:cNvSpPr/>
          <p:nvPr/>
        </p:nvSpPr>
        <p:spPr>
          <a:xfrm>
            <a:off x="1463040" y="2404872"/>
            <a:ext cx="4251960" cy="292608"/>
          </a:xfrm>
          <a:prstGeom prst="rect">
            <a:avLst/>
          </a:prstGeom>
          <a:noFill/>
        </p:spPr>
        <p:txBody>
          <a:bodyPr wrap="square" lIns="0" tIns="0" rIns="0" bIns="0" rtlCol="0" anchor="ctr"/>
          <a:lstStyle/>
          <a:p>
            <a:pPr marL="0" indent="0" algn="r" rtl="1">
              <a:buNone/>
            </a:pPr>
            <a:r>
              <a:rPr lang="en-US" sz="1300" b="1" dirty="0">
                <a:solidFill>
                  <a:srgbClr val="E07B2A"/>
                </a:solidFill>
                <a:latin typeface="Shakila" pitchFamily="34" charset="0"/>
                <a:ea typeface="Shakila" pitchFamily="34" charset="-122"/>
                <a:cs typeface="Shakila" pitchFamily="34" charset="-120"/>
              </a:rPr>
              <a:t>الفئة المستهدفة</a:t>
            </a:r>
            <a:endParaRPr lang="en-US" sz="1300" dirty="0"/>
          </a:p>
        </p:txBody>
      </p:sp>
      <p:sp>
        <p:nvSpPr>
          <p:cNvPr id="13" name="Text 10"/>
          <p:cNvSpPr/>
          <p:nvPr/>
        </p:nvSpPr>
        <p:spPr>
          <a:xfrm>
            <a:off x="777240" y="2967228"/>
            <a:ext cx="4892040" cy="502920"/>
          </a:xfrm>
          <a:prstGeom prst="rect">
            <a:avLst/>
          </a:prstGeom>
          <a:noFill/>
        </p:spPr>
        <p:txBody>
          <a:bodyPr wrap="square" lIns="0" tIns="0" rIns="0" bIns="0" rtlCol="0" anchor="ctr"/>
          <a:lstStyle/>
          <a:p>
            <a:pPr marL="0" indent="0">
              <a:buNone/>
            </a:pPr>
            <a:r>
              <a:rPr lang="en-US" sz="1050" dirty="0">
                <a:solidFill>
                  <a:srgbClr val="26282B"/>
                </a:solidFill>
                <a:latin typeface="Calibri" panose="020F0502020204030204" pitchFamily="34" charset="0"/>
                <a:ea typeface="Calibri" panose="020F0502020204030204" pitchFamily="34" charset="-122"/>
                <a:cs typeface="Calibri" panose="020F0502020204030204" pitchFamily="34" charset="-120"/>
              </a:rPr>
              <a:t>Étudiants et diplômés </a:t>
            </a:r>
            <a:endParaRPr lang="en-US" sz="1050" dirty="0"/>
          </a:p>
        </p:txBody>
      </p:sp>
      <p:sp>
        <p:nvSpPr>
          <p:cNvPr id="14" name="Text 11"/>
          <p:cNvSpPr/>
          <p:nvPr/>
        </p:nvSpPr>
        <p:spPr>
          <a:xfrm>
            <a:off x="777240" y="3319272"/>
            <a:ext cx="4892040" cy="502920"/>
          </a:xfrm>
          <a:prstGeom prst="rect">
            <a:avLst/>
          </a:prstGeom>
          <a:noFill/>
        </p:spPr>
        <p:txBody>
          <a:bodyPr wrap="square" lIns="0" tIns="0" rIns="0" bIns="0" rtlCol="0" anchor="ctr"/>
          <a:lstStyle/>
          <a:p>
            <a:pPr marL="0" indent="0" algn="r" rtl="1">
              <a:buNone/>
            </a:pPr>
            <a:r>
              <a:rPr lang="en-US" sz="1100" dirty="0">
                <a:solidFill>
                  <a:srgbClr val="6B7178"/>
                </a:solidFill>
                <a:latin typeface="Shakila" pitchFamily="34" charset="0"/>
                <a:ea typeface="Shakila" pitchFamily="34" charset="-122"/>
                <a:cs typeface="Shakila" pitchFamily="34" charset="-120"/>
              </a:rPr>
              <a:t>الطلبة والخريجون</a:t>
            </a:r>
            <a:endParaRPr lang="en-US" sz="1100" dirty="0"/>
          </a:p>
        </p:txBody>
      </p:sp>
      <p:sp>
        <p:nvSpPr>
          <p:cNvPr id="15" name="Shape 12"/>
          <p:cNvSpPr/>
          <p:nvPr/>
        </p:nvSpPr>
        <p:spPr>
          <a:xfrm>
            <a:off x="6172200" y="2240280"/>
            <a:ext cx="5349240" cy="1691640"/>
          </a:xfrm>
          <a:prstGeom prst="roundRect">
            <a:avLst>
              <a:gd name="adj" fmla="val 4324"/>
            </a:avLst>
          </a:prstGeom>
          <a:solidFill>
            <a:srgbClr val="FFFFFF"/>
          </a:solidFill>
          <a:effectLst>
            <a:outerShdw blurRad="101600" dist="38100" dir="5400000" algn="bl" rotWithShape="0">
              <a:srgbClr val="000000">
                <a:alpha val="10000"/>
              </a:srgbClr>
            </a:outerShdw>
          </a:effectLst>
        </p:spPr>
      </p:sp>
      <p:sp>
        <p:nvSpPr>
          <p:cNvPr id="16" name="Shape 13"/>
          <p:cNvSpPr/>
          <p:nvPr/>
        </p:nvSpPr>
        <p:spPr>
          <a:xfrm>
            <a:off x="6400800" y="2468880"/>
            <a:ext cx="548640" cy="548640"/>
          </a:xfrm>
          <a:prstGeom prst="ellipse">
            <a:avLst/>
          </a:prstGeom>
          <a:solidFill>
            <a:srgbClr val="0F3A5F"/>
          </a:solidFill>
        </p:spPr>
      </p:sp>
      <p:pic>
        <p:nvPicPr>
          <p:cNvPr id="17" name="Image 1" descr="/home/claude/assets/coins.png"/>
          <p:cNvPicPr>
            <a:picLocks noChangeAspect="1"/>
          </p:cNvPicPr>
          <p:nvPr/>
        </p:nvPicPr>
        <p:blipFill>
          <a:blip r:embed="rId4"/>
          <a:stretch>
            <a:fillRect/>
          </a:stretch>
        </p:blipFill>
        <p:spPr>
          <a:xfrm>
            <a:off x="6510528" y="2578608"/>
            <a:ext cx="329184" cy="329184"/>
          </a:xfrm>
          <a:prstGeom prst="rect">
            <a:avLst/>
          </a:prstGeom>
        </p:spPr>
      </p:pic>
      <p:sp>
        <p:nvSpPr>
          <p:cNvPr id="18" name="Text 14"/>
          <p:cNvSpPr/>
          <p:nvPr/>
        </p:nvSpPr>
        <p:spPr>
          <a:xfrm>
            <a:off x="7086600" y="2404872"/>
            <a:ext cx="4251960" cy="292608"/>
          </a:xfrm>
          <a:prstGeom prst="rect">
            <a:avLst/>
          </a:prstGeom>
          <a:noFill/>
        </p:spPr>
        <p:txBody>
          <a:bodyPr wrap="square" lIns="0" tIns="0" rIns="0" bIns="0" rtlCol="0" anchor="ctr"/>
          <a:lstStyle/>
          <a:p>
            <a:pPr marL="0" indent="0">
              <a:buNone/>
            </a:pPr>
            <a:r>
              <a:rPr lang="en-US" sz="1400" b="1" dirty="0">
                <a:solidFill>
                  <a:srgbClr val="0F3A5F"/>
                </a:solidFill>
                <a:latin typeface="Calibri" panose="020F0502020204030204" pitchFamily="34" charset="0"/>
                <a:ea typeface="Calibri" panose="020F0502020204030204" pitchFamily="34" charset="-122"/>
                <a:cs typeface="Calibri" panose="020F0502020204030204" pitchFamily="34" charset="-120"/>
              </a:rPr>
              <a:t>Financement</a:t>
            </a:r>
            <a:endParaRPr lang="en-US" sz="1400" dirty="0"/>
          </a:p>
        </p:txBody>
      </p:sp>
      <p:sp>
        <p:nvSpPr>
          <p:cNvPr id="19" name="Text 15"/>
          <p:cNvSpPr/>
          <p:nvPr/>
        </p:nvSpPr>
        <p:spPr>
          <a:xfrm>
            <a:off x="7086600" y="2404872"/>
            <a:ext cx="4251960" cy="292608"/>
          </a:xfrm>
          <a:prstGeom prst="rect">
            <a:avLst/>
          </a:prstGeom>
          <a:noFill/>
        </p:spPr>
        <p:txBody>
          <a:bodyPr wrap="square" lIns="0" tIns="0" rIns="0" bIns="0" rtlCol="0" anchor="ctr"/>
          <a:lstStyle/>
          <a:p>
            <a:pPr marL="0" indent="0" algn="r" rtl="1">
              <a:buNone/>
            </a:pPr>
            <a:r>
              <a:rPr lang="en-US" sz="1300" b="1" dirty="0">
                <a:solidFill>
                  <a:srgbClr val="E07B2A"/>
                </a:solidFill>
                <a:latin typeface="Shakila" pitchFamily="34" charset="0"/>
                <a:ea typeface="Shakila" pitchFamily="34" charset="-122"/>
                <a:cs typeface="Shakila" pitchFamily="34" charset="-120"/>
              </a:rPr>
              <a:t>التمويل</a:t>
            </a:r>
            <a:endParaRPr lang="en-US" sz="1300" dirty="0"/>
          </a:p>
        </p:txBody>
      </p:sp>
      <p:sp>
        <p:nvSpPr>
          <p:cNvPr id="20" name="Text 16"/>
          <p:cNvSpPr/>
          <p:nvPr/>
        </p:nvSpPr>
        <p:spPr>
          <a:xfrm>
            <a:off x="6469380" y="2987430"/>
            <a:ext cx="4892040" cy="502920"/>
          </a:xfrm>
          <a:prstGeom prst="rect">
            <a:avLst/>
          </a:prstGeom>
          <a:noFill/>
        </p:spPr>
        <p:txBody>
          <a:bodyPr wrap="square" lIns="0" tIns="0" rIns="0" bIns="0" rtlCol="0" anchor="ctr"/>
          <a:lstStyle/>
          <a:p>
            <a:pPr marL="0" indent="0">
              <a:buNone/>
            </a:pPr>
            <a:r>
              <a:rPr lang="en-US" sz="1050" dirty="0">
                <a:solidFill>
                  <a:srgbClr val="26282B"/>
                </a:solidFill>
                <a:latin typeface="Calibri" panose="020F0502020204030204" pitchFamily="34" charset="0"/>
                <a:ea typeface="Calibri" panose="020F0502020204030204" pitchFamily="34" charset="-122"/>
                <a:cs typeface="Calibri" panose="020F0502020204030204" pitchFamily="34" charset="-120"/>
              </a:rPr>
              <a:t>Jusqu'à 100 millions DA, voire 200 millions DA dans des cas exceptionnels</a:t>
            </a:r>
            <a:endParaRPr lang="en-US" sz="1050" dirty="0"/>
          </a:p>
        </p:txBody>
      </p:sp>
      <p:sp>
        <p:nvSpPr>
          <p:cNvPr id="21" name="Text 17"/>
          <p:cNvSpPr/>
          <p:nvPr/>
        </p:nvSpPr>
        <p:spPr>
          <a:xfrm>
            <a:off x="6400800" y="3319272"/>
            <a:ext cx="4892040" cy="502920"/>
          </a:xfrm>
          <a:prstGeom prst="rect">
            <a:avLst/>
          </a:prstGeom>
          <a:noFill/>
        </p:spPr>
        <p:txBody>
          <a:bodyPr wrap="square" lIns="0" tIns="0" rIns="0" bIns="0" rtlCol="0" anchor="ctr"/>
          <a:lstStyle/>
          <a:p>
            <a:pPr marL="0" indent="0" algn="r" rtl="1">
              <a:buNone/>
            </a:pPr>
            <a:r>
              <a:rPr lang="en-US" sz="1100" dirty="0">
                <a:solidFill>
                  <a:srgbClr val="6B7178"/>
                </a:solidFill>
                <a:latin typeface="Shakila" pitchFamily="34" charset="0"/>
                <a:ea typeface="Shakila" pitchFamily="34" charset="-122"/>
                <a:cs typeface="Shakila" pitchFamily="34" charset="-120"/>
              </a:rPr>
              <a:t>حتى 100 مليون سنتيم، وقد يصل إلى 200 مليون في حالات استثنائية</a:t>
            </a:r>
            <a:endParaRPr lang="en-US" sz="1100" dirty="0"/>
          </a:p>
        </p:txBody>
      </p:sp>
      <p:sp>
        <p:nvSpPr>
          <p:cNvPr id="22" name="Shape 18"/>
          <p:cNvSpPr/>
          <p:nvPr/>
        </p:nvSpPr>
        <p:spPr>
          <a:xfrm>
            <a:off x="548640" y="4206240"/>
            <a:ext cx="5349240" cy="1691640"/>
          </a:xfrm>
          <a:prstGeom prst="roundRect">
            <a:avLst>
              <a:gd name="adj" fmla="val 4324"/>
            </a:avLst>
          </a:prstGeom>
          <a:solidFill>
            <a:srgbClr val="FFFFFF"/>
          </a:solidFill>
          <a:effectLst>
            <a:outerShdw blurRad="101600" dist="38100" dir="5400000" algn="bl" rotWithShape="0">
              <a:srgbClr val="000000">
                <a:alpha val="10000"/>
              </a:srgbClr>
            </a:outerShdw>
          </a:effectLst>
        </p:spPr>
      </p:sp>
      <p:sp>
        <p:nvSpPr>
          <p:cNvPr id="23" name="Shape 19"/>
          <p:cNvSpPr/>
          <p:nvPr/>
        </p:nvSpPr>
        <p:spPr>
          <a:xfrm>
            <a:off x="777240" y="4434840"/>
            <a:ext cx="548640" cy="548640"/>
          </a:xfrm>
          <a:prstGeom prst="ellipse">
            <a:avLst/>
          </a:prstGeom>
          <a:solidFill>
            <a:srgbClr val="0F3A5F"/>
          </a:solidFill>
        </p:spPr>
      </p:sp>
      <p:pic>
        <p:nvPicPr>
          <p:cNvPr id="24" name="Image 2" descr="/home/claude/assets/industry.png"/>
          <p:cNvPicPr>
            <a:picLocks noChangeAspect="1"/>
          </p:cNvPicPr>
          <p:nvPr/>
        </p:nvPicPr>
        <p:blipFill>
          <a:blip r:embed="rId5"/>
          <a:stretch>
            <a:fillRect/>
          </a:stretch>
        </p:blipFill>
        <p:spPr>
          <a:xfrm>
            <a:off x="886968" y="4544568"/>
            <a:ext cx="329184" cy="329184"/>
          </a:xfrm>
          <a:prstGeom prst="rect">
            <a:avLst/>
          </a:prstGeom>
        </p:spPr>
      </p:pic>
      <p:sp>
        <p:nvSpPr>
          <p:cNvPr id="25" name="Text 20"/>
          <p:cNvSpPr/>
          <p:nvPr/>
        </p:nvSpPr>
        <p:spPr>
          <a:xfrm>
            <a:off x="1463040" y="4370832"/>
            <a:ext cx="4251960" cy="292608"/>
          </a:xfrm>
          <a:prstGeom prst="rect">
            <a:avLst/>
          </a:prstGeom>
          <a:noFill/>
        </p:spPr>
        <p:txBody>
          <a:bodyPr wrap="square" lIns="0" tIns="0" rIns="0" bIns="0" rtlCol="0" anchor="ctr"/>
          <a:lstStyle/>
          <a:p>
            <a:pPr marL="0" indent="0">
              <a:buNone/>
            </a:pPr>
            <a:r>
              <a:rPr lang="en-US" sz="1400" b="1" dirty="0">
                <a:solidFill>
                  <a:srgbClr val="0F3A5F"/>
                </a:solidFill>
                <a:latin typeface="Calibri" panose="020F0502020204030204" pitchFamily="34" charset="0"/>
                <a:ea typeface="Calibri" panose="020F0502020204030204" pitchFamily="34" charset="-122"/>
                <a:cs typeface="Calibri" panose="020F0502020204030204" pitchFamily="34" charset="-120"/>
              </a:rPr>
              <a:t>Objectif</a:t>
            </a:r>
            <a:endParaRPr lang="en-US" sz="1400" dirty="0"/>
          </a:p>
        </p:txBody>
      </p:sp>
      <p:sp>
        <p:nvSpPr>
          <p:cNvPr id="26" name="Text 21"/>
          <p:cNvSpPr/>
          <p:nvPr/>
        </p:nvSpPr>
        <p:spPr>
          <a:xfrm>
            <a:off x="1463040" y="4370832"/>
            <a:ext cx="4251960" cy="292608"/>
          </a:xfrm>
          <a:prstGeom prst="rect">
            <a:avLst/>
          </a:prstGeom>
          <a:noFill/>
        </p:spPr>
        <p:txBody>
          <a:bodyPr wrap="square" lIns="0" tIns="0" rIns="0" bIns="0" rtlCol="0" anchor="ctr"/>
          <a:lstStyle/>
          <a:p>
            <a:pPr marL="0" indent="0" algn="r" rtl="1">
              <a:buNone/>
            </a:pPr>
            <a:r>
              <a:rPr lang="en-US" sz="1300" b="1" dirty="0">
                <a:solidFill>
                  <a:srgbClr val="E07B2A"/>
                </a:solidFill>
                <a:latin typeface="Shakila" pitchFamily="34" charset="0"/>
                <a:ea typeface="Shakila" pitchFamily="34" charset="-122"/>
                <a:cs typeface="Shakila" pitchFamily="34" charset="-120"/>
              </a:rPr>
              <a:t>الهدف</a:t>
            </a:r>
            <a:endParaRPr lang="en-US" sz="1300" dirty="0"/>
          </a:p>
        </p:txBody>
      </p:sp>
      <p:sp>
        <p:nvSpPr>
          <p:cNvPr id="27" name="Text 22"/>
          <p:cNvSpPr/>
          <p:nvPr/>
        </p:nvSpPr>
        <p:spPr>
          <a:xfrm>
            <a:off x="777240" y="4960620"/>
            <a:ext cx="4892040" cy="502920"/>
          </a:xfrm>
          <a:prstGeom prst="rect">
            <a:avLst/>
          </a:prstGeom>
          <a:noFill/>
        </p:spPr>
        <p:txBody>
          <a:bodyPr wrap="square" lIns="0" tIns="0" rIns="0" bIns="0" rtlCol="0" anchor="ctr"/>
          <a:lstStyle/>
          <a:p>
            <a:pPr marL="0" indent="0">
              <a:buNone/>
            </a:pPr>
            <a:r>
              <a:rPr lang="en-US" sz="1050" dirty="0">
                <a:solidFill>
                  <a:srgbClr val="26282B"/>
                </a:solidFill>
                <a:latin typeface="Calibri" panose="020F0502020204030204" pitchFamily="34" charset="0"/>
                <a:ea typeface="Calibri" panose="020F0502020204030204" pitchFamily="34" charset="-122"/>
                <a:cs typeface="Calibri" panose="020F0502020204030204" pitchFamily="34" charset="-120"/>
              </a:rPr>
              <a:t>Transformer un prototype en produit prêt pour la commercialisation</a:t>
            </a:r>
            <a:endParaRPr lang="en-US" sz="1050" dirty="0"/>
          </a:p>
        </p:txBody>
      </p:sp>
      <p:sp>
        <p:nvSpPr>
          <p:cNvPr id="28" name="Text 23"/>
          <p:cNvSpPr/>
          <p:nvPr/>
        </p:nvSpPr>
        <p:spPr>
          <a:xfrm>
            <a:off x="777240" y="5285232"/>
            <a:ext cx="4892040" cy="502920"/>
          </a:xfrm>
          <a:prstGeom prst="rect">
            <a:avLst/>
          </a:prstGeom>
          <a:noFill/>
        </p:spPr>
        <p:txBody>
          <a:bodyPr wrap="square" lIns="0" tIns="0" rIns="0" bIns="0" rtlCol="0" anchor="ctr"/>
          <a:lstStyle/>
          <a:p>
            <a:pPr marL="0" indent="0" algn="r" rtl="1">
              <a:buNone/>
            </a:pPr>
            <a:r>
              <a:rPr lang="en-US" sz="1100" dirty="0">
                <a:solidFill>
                  <a:srgbClr val="6B7178"/>
                </a:solidFill>
                <a:latin typeface="Shakila" pitchFamily="34" charset="0"/>
                <a:ea typeface="Shakila" pitchFamily="34" charset="-122"/>
                <a:cs typeface="Shakila" pitchFamily="34" charset="-120"/>
              </a:rPr>
              <a:t>تحويل النموذج الأولي إلى منتج جاهز للتسويق</a:t>
            </a:r>
            <a:endParaRPr lang="en-US" sz="1100" dirty="0"/>
          </a:p>
        </p:txBody>
      </p:sp>
      <p:sp>
        <p:nvSpPr>
          <p:cNvPr id="29" name="Shape 24"/>
          <p:cNvSpPr/>
          <p:nvPr/>
        </p:nvSpPr>
        <p:spPr>
          <a:xfrm>
            <a:off x="6172200" y="4206240"/>
            <a:ext cx="5349240" cy="1691640"/>
          </a:xfrm>
          <a:prstGeom prst="roundRect">
            <a:avLst>
              <a:gd name="adj" fmla="val 4324"/>
            </a:avLst>
          </a:prstGeom>
          <a:solidFill>
            <a:srgbClr val="FFFFFF"/>
          </a:solidFill>
          <a:effectLst>
            <a:outerShdw blurRad="101600" dist="38100" dir="5400000" algn="bl" rotWithShape="0">
              <a:srgbClr val="000000">
                <a:alpha val="10000"/>
              </a:srgbClr>
            </a:outerShdw>
          </a:effectLst>
        </p:spPr>
      </p:sp>
      <p:sp>
        <p:nvSpPr>
          <p:cNvPr id="30" name="Shape 25"/>
          <p:cNvSpPr/>
          <p:nvPr/>
        </p:nvSpPr>
        <p:spPr>
          <a:xfrm>
            <a:off x="6400800" y="4434840"/>
            <a:ext cx="548640" cy="548640"/>
          </a:xfrm>
          <a:prstGeom prst="ellipse">
            <a:avLst/>
          </a:prstGeom>
          <a:solidFill>
            <a:srgbClr val="0F3A5F"/>
          </a:solidFill>
        </p:spPr>
      </p:sp>
      <p:pic>
        <p:nvPicPr>
          <p:cNvPr id="31" name="Image 3" descr="/home/claude/assets/contract.png"/>
          <p:cNvPicPr>
            <a:picLocks noChangeAspect="1"/>
          </p:cNvPicPr>
          <p:nvPr/>
        </p:nvPicPr>
        <p:blipFill>
          <a:blip r:embed="rId6"/>
          <a:stretch>
            <a:fillRect/>
          </a:stretch>
        </p:blipFill>
        <p:spPr>
          <a:xfrm>
            <a:off x="6510528" y="4544568"/>
            <a:ext cx="329184" cy="329184"/>
          </a:xfrm>
          <a:prstGeom prst="rect">
            <a:avLst/>
          </a:prstGeom>
        </p:spPr>
      </p:pic>
      <p:sp>
        <p:nvSpPr>
          <p:cNvPr id="32" name="Text 26"/>
          <p:cNvSpPr/>
          <p:nvPr/>
        </p:nvSpPr>
        <p:spPr>
          <a:xfrm>
            <a:off x="7086600" y="4370832"/>
            <a:ext cx="4251960" cy="292608"/>
          </a:xfrm>
          <a:prstGeom prst="rect">
            <a:avLst/>
          </a:prstGeom>
          <a:noFill/>
        </p:spPr>
        <p:txBody>
          <a:bodyPr wrap="square" lIns="0" tIns="0" rIns="0" bIns="0" rtlCol="0" anchor="ctr"/>
          <a:lstStyle/>
          <a:p>
            <a:pPr marL="0" indent="0">
              <a:buNone/>
            </a:pPr>
            <a:r>
              <a:rPr lang="en-US" sz="1400" b="1" dirty="0">
                <a:solidFill>
                  <a:srgbClr val="0F3A5F"/>
                </a:solidFill>
                <a:latin typeface="Calibri" panose="020F0502020204030204" pitchFamily="34" charset="0"/>
                <a:ea typeface="Calibri" panose="020F0502020204030204" pitchFamily="34" charset="-122"/>
                <a:cs typeface="Calibri" panose="020F0502020204030204" pitchFamily="34" charset="-120"/>
              </a:rPr>
              <a:t>Engagement</a:t>
            </a:r>
            <a:endParaRPr lang="en-US" sz="1400" dirty="0"/>
          </a:p>
        </p:txBody>
      </p:sp>
      <p:sp>
        <p:nvSpPr>
          <p:cNvPr id="33" name="Text 27"/>
          <p:cNvSpPr/>
          <p:nvPr/>
        </p:nvSpPr>
        <p:spPr>
          <a:xfrm>
            <a:off x="7086600" y="4370832"/>
            <a:ext cx="4251960" cy="292608"/>
          </a:xfrm>
          <a:prstGeom prst="rect">
            <a:avLst/>
          </a:prstGeom>
          <a:noFill/>
        </p:spPr>
        <p:txBody>
          <a:bodyPr wrap="square" lIns="0" tIns="0" rIns="0" bIns="0" rtlCol="0" anchor="ctr"/>
          <a:lstStyle/>
          <a:p>
            <a:pPr marL="0" indent="0" algn="r" rtl="1">
              <a:buNone/>
            </a:pPr>
            <a:r>
              <a:rPr lang="en-US" sz="1300" b="1" dirty="0">
                <a:solidFill>
                  <a:srgbClr val="E07B2A"/>
                </a:solidFill>
                <a:latin typeface="Shakila" pitchFamily="34" charset="0"/>
                <a:ea typeface="Shakila" pitchFamily="34" charset="-122"/>
                <a:cs typeface="Shakila" pitchFamily="34" charset="-120"/>
              </a:rPr>
              <a:t>الالتزام</a:t>
            </a:r>
            <a:endParaRPr lang="en-US" sz="1300" dirty="0"/>
          </a:p>
        </p:txBody>
      </p:sp>
      <p:sp>
        <p:nvSpPr>
          <p:cNvPr id="34" name="Text 28"/>
          <p:cNvSpPr/>
          <p:nvPr/>
        </p:nvSpPr>
        <p:spPr>
          <a:xfrm>
            <a:off x="6400800" y="4960620"/>
            <a:ext cx="4892040" cy="502920"/>
          </a:xfrm>
          <a:prstGeom prst="rect">
            <a:avLst/>
          </a:prstGeom>
          <a:noFill/>
        </p:spPr>
        <p:txBody>
          <a:bodyPr wrap="square" lIns="0" tIns="0" rIns="0" bIns="0" rtlCol="0" anchor="ctr"/>
          <a:lstStyle/>
          <a:p>
            <a:pPr marL="0" indent="0">
              <a:buNone/>
            </a:pPr>
            <a:r>
              <a:rPr lang="en-US" sz="1050" dirty="0">
                <a:solidFill>
                  <a:srgbClr val="26282B"/>
                </a:solidFill>
                <a:latin typeface="Calibri" panose="020F0502020204030204" pitchFamily="34" charset="0"/>
                <a:ea typeface="Calibri" panose="020F0502020204030204" pitchFamily="34" charset="-122"/>
                <a:cs typeface="Calibri" panose="020F0502020204030204" pitchFamily="34" charset="-120"/>
              </a:rPr>
              <a:t>Le lauréat s'engage à transformer son projet en start-up</a:t>
            </a:r>
            <a:endParaRPr lang="en-US" sz="1050" dirty="0"/>
          </a:p>
        </p:txBody>
      </p:sp>
      <p:sp>
        <p:nvSpPr>
          <p:cNvPr id="35" name="Text 29"/>
          <p:cNvSpPr/>
          <p:nvPr/>
        </p:nvSpPr>
        <p:spPr>
          <a:xfrm>
            <a:off x="6400800" y="5285232"/>
            <a:ext cx="4892040" cy="502920"/>
          </a:xfrm>
          <a:prstGeom prst="rect">
            <a:avLst/>
          </a:prstGeom>
          <a:noFill/>
        </p:spPr>
        <p:txBody>
          <a:bodyPr wrap="square" lIns="0" tIns="0" rIns="0" bIns="0" rtlCol="0" anchor="ctr"/>
          <a:lstStyle/>
          <a:p>
            <a:pPr marL="0" indent="0" algn="r" rtl="1">
              <a:buNone/>
            </a:pPr>
            <a:r>
              <a:rPr lang="en-US" sz="1100" dirty="0">
                <a:solidFill>
                  <a:srgbClr val="6B7178"/>
                </a:solidFill>
                <a:latin typeface="Shakila" pitchFamily="34" charset="0"/>
                <a:ea typeface="Shakila" pitchFamily="34" charset="-122"/>
                <a:cs typeface="Shakila" pitchFamily="34" charset="-120"/>
              </a:rPr>
              <a:t>يتعهد الفائز بتحويل مشروعه إلى مؤسسة ناشئة</a:t>
            </a:r>
            <a:endParaRPr lang="en-US" sz="1100" dirty="0"/>
          </a:p>
        </p:txBody>
      </p:sp>
      <p:sp>
        <p:nvSpPr>
          <p:cNvPr id="36" name="Text 30"/>
          <p:cNvSpPr/>
          <p:nvPr/>
        </p:nvSpPr>
        <p:spPr>
          <a:xfrm>
            <a:off x="11551615" y="6446520"/>
            <a:ext cx="365760" cy="274320"/>
          </a:xfrm>
          <a:prstGeom prst="rect">
            <a:avLst/>
          </a:prstGeom>
          <a:noFill/>
        </p:spPr>
        <p:txBody>
          <a:bodyPr wrap="square" rtlCol="0" anchor="ctr"/>
          <a:lstStyle/>
          <a:p>
            <a:pPr marL="0" indent="0" algn="r">
              <a:buNone/>
            </a:pPr>
            <a:r>
              <a:rPr lang="en-US" sz="1000" dirty="0">
                <a:solidFill>
                  <a:srgbClr val="6B7178"/>
                </a:solidFill>
                <a:latin typeface="Calibri" panose="020F0502020204030204" pitchFamily="34" charset="0"/>
                <a:ea typeface="Calibri" panose="020F0502020204030204" pitchFamily="34" charset="-122"/>
                <a:cs typeface="Calibri" panose="020F0502020204030204" pitchFamily="34" charset="-120"/>
              </a:rPr>
              <a:t>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3A5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4415" cy="502920"/>
          </a:xfrm>
          <a:prstGeom prst="rect">
            <a:avLst/>
          </a:prstGeom>
          <a:noFill/>
        </p:spPr>
        <p:txBody>
          <a:bodyPr wrap="square" lIns="0" tIns="0" rIns="0" bIns="0" rtlCol="0" anchor="ctr"/>
          <a:lstStyle/>
          <a:p>
            <a:pPr marL="0" indent="0">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Structure du Business Plan</a:t>
            </a:r>
            <a:endParaRPr lang="en-US" sz="2800" dirty="0"/>
          </a:p>
        </p:txBody>
      </p:sp>
      <p:sp>
        <p:nvSpPr>
          <p:cNvPr id="3" name="Text 1"/>
          <p:cNvSpPr/>
          <p:nvPr/>
        </p:nvSpPr>
        <p:spPr>
          <a:xfrm>
            <a:off x="548640" y="1005840"/>
            <a:ext cx="11094415" cy="411480"/>
          </a:xfrm>
          <a:prstGeom prst="rect">
            <a:avLst/>
          </a:prstGeom>
          <a:noFill/>
        </p:spPr>
        <p:txBody>
          <a:bodyPr wrap="square" lIns="0" tIns="0" rIns="0" bIns="0" rtlCol="0" anchor="ctr"/>
          <a:lstStyle/>
          <a:p>
            <a:pPr marL="0" indent="0" algn="r" rtl="1">
              <a:buNone/>
            </a:pPr>
            <a:r>
              <a:rPr lang="en-US" sz="1900" b="1" dirty="0">
                <a:solidFill>
                  <a:srgbClr val="E07B2A"/>
                </a:solidFill>
                <a:latin typeface="Shakila" pitchFamily="34" charset="0"/>
                <a:ea typeface="Shakila" pitchFamily="34" charset="-122"/>
                <a:cs typeface="Shakila" pitchFamily="34" charset="-120"/>
              </a:rPr>
              <a:t>هيكل خطة الأعمال</a:t>
            </a:r>
            <a:endParaRPr lang="en-US" sz="1900" dirty="0"/>
          </a:p>
        </p:txBody>
      </p:sp>
      <p:sp>
        <p:nvSpPr>
          <p:cNvPr id="4" name="Shape 2"/>
          <p:cNvSpPr/>
          <p:nvPr/>
        </p:nvSpPr>
        <p:spPr>
          <a:xfrm>
            <a:off x="548640" y="1691640"/>
            <a:ext cx="2697480" cy="1417320"/>
          </a:xfrm>
          <a:prstGeom prst="roundRect">
            <a:avLst>
              <a:gd name="adj" fmla="val 4516"/>
            </a:avLst>
          </a:prstGeom>
          <a:solidFill>
            <a:srgbClr val="16507F"/>
          </a:solidFill>
        </p:spPr>
      </p:sp>
      <p:sp>
        <p:nvSpPr>
          <p:cNvPr id="5" name="Text 3"/>
          <p:cNvSpPr/>
          <p:nvPr/>
        </p:nvSpPr>
        <p:spPr>
          <a:xfrm>
            <a:off x="713232" y="1801368"/>
            <a:ext cx="914400" cy="457200"/>
          </a:xfrm>
          <a:prstGeom prst="rect">
            <a:avLst/>
          </a:prstGeom>
          <a:noFill/>
        </p:spPr>
        <p:txBody>
          <a:bodyPr wrap="square" lIns="0" tIns="0" rIns="0" bIns="0" rtlCol="0" anchor="ctr"/>
          <a:lstStyle/>
          <a:p>
            <a:pPr marL="0" indent="0">
              <a:buNone/>
            </a:pPr>
            <a:r>
              <a:rPr lang="en-US" sz="2600" b="1" dirty="0">
                <a:solidFill>
                  <a:srgbClr val="E07B2A"/>
                </a:solidFill>
                <a:latin typeface="Cambria" panose="02040503050406030204" pitchFamily="34" charset="0"/>
                <a:ea typeface="Cambria" panose="02040503050406030204" pitchFamily="34" charset="-122"/>
                <a:cs typeface="Cambria" panose="02040503050406030204" pitchFamily="34" charset="-120"/>
              </a:rPr>
              <a:t>01</a:t>
            </a:r>
            <a:endParaRPr lang="en-US" sz="2600" dirty="0"/>
          </a:p>
        </p:txBody>
      </p:sp>
      <p:sp>
        <p:nvSpPr>
          <p:cNvPr id="6" name="Text 4"/>
          <p:cNvSpPr/>
          <p:nvPr/>
        </p:nvSpPr>
        <p:spPr>
          <a:xfrm>
            <a:off x="713232" y="2313432"/>
            <a:ext cx="2368296" cy="36576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Résumé exécutif</a:t>
            </a:r>
            <a:endParaRPr lang="en-US" sz="1250" dirty="0"/>
          </a:p>
        </p:txBody>
      </p:sp>
      <p:sp>
        <p:nvSpPr>
          <p:cNvPr id="7" name="Text 5"/>
          <p:cNvSpPr/>
          <p:nvPr/>
        </p:nvSpPr>
        <p:spPr>
          <a:xfrm>
            <a:off x="713232" y="2679192"/>
            <a:ext cx="2368296" cy="365760"/>
          </a:xfrm>
          <a:prstGeom prst="rect">
            <a:avLst/>
          </a:prstGeom>
          <a:noFill/>
        </p:spPr>
        <p:txBody>
          <a:bodyPr wrap="square" lIns="0" tIns="0" rIns="0" bIns="0" rtlCol="0" anchor="ctr"/>
          <a:lstStyle/>
          <a:p>
            <a:pPr marL="0" indent="0" algn="r" rtl="1">
              <a:buNone/>
            </a:pPr>
            <a:r>
              <a:rPr lang="en-US" sz="1200" dirty="0">
                <a:solidFill>
                  <a:srgbClr val="BFD3E3"/>
                </a:solidFill>
                <a:latin typeface="Shakila" pitchFamily="34" charset="0"/>
                <a:ea typeface="Shakila" pitchFamily="34" charset="-122"/>
                <a:cs typeface="Shakila" pitchFamily="34" charset="-120"/>
              </a:rPr>
              <a:t>ملخص تنفيذي</a:t>
            </a:r>
            <a:endParaRPr lang="en-US" sz="1200" dirty="0"/>
          </a:p>
        </p:txBody>
      </p:sp>
      <p:sp>
        <p:nvSpPr>
          <p:cNvPr id="8" name="Shape 6"/>
          <p:cNvSpPr/>
          <p:nvPr/>
        </p:nvSpPr>
        <p:spPr>
          <a:xfrm>
            <a:off x="3410712" y="1691640"/>
            <a:ext cx="2697480" cy="1417320"/>
          </a:xfrm>
          <a:prstGeom prst="roundRect">
            <a:avLst>
              <a:gd name="adj" fmla="val 4516"/>
            </a:avLst>
          </a:prstGeom>
          <a:solidFill>
            <a:srgbClr val="16507F"/>
          </a:solidFill>
        </p:spPr>
      </p:sp>
      <p:sp>
        <p:nvSpPr>
          <p:cNvPr id="9" name="Text 7"/>
          <p:cNvSpPr/>
          <p:nvPr/>
        </p:nvSpPr>
        <p:spPr>
          <a:xfrm>
            <a:off x="3575304" y="1801368"/>
            <a:ext cx="914400" cy="457200"/>
          </a:xfrm>
          <a:prstGeom prst="rect">
            <a:avLst/>
          </a:prstGeom>
          <a:noFill/>
        </p:spPr>
        <p:txBody>
          <a:bodyPr wrap="square" lIns="0" tIns="0" rIns="0" bIns="0" rtlCol="0" anchor="ctr"/>
          <a:lstStyle/>
          <a:p>
            <a:pPr marL="0" indent="0">
              <a:buNone/>
            </a:pPr>
            <a:r>
              <a:rPr lang="en-US" sz="2600" b="1" dirty="0">
                <a:solidFill>
                  <a:srgbClr val="E07B2A"/>
                </a:solidFill>
                <a:latin typeface="Cambria" panose="02040503050406030204" pitchFamily="34" charset="0"/>
                <a:ea typeface="Cambria" panose="02040503050406030204" pitchFamily="34" charset="-122"/>
                <a:cs typeface="Cambria" panose="02040503050406030204" pitchFamily="34" charset="-120"/>
              </a:rPr>
              <a:t>02</a:t>
            </a:r>
            <a:endParaRPr lang="en-US" sz="2600" dirty="0"/>
          </a:p>
        </p:txBody>
      </p:sp>
      <p:sp>
        <p:nvSpPr>
          <p:cNvPr id="10" name="Text 8"/>
          <p:cNvSpPr/>
          <p:nvPr/>
        </p:nvSpPr>
        <p:spPr>
          <a:xfrm>
            <a:off x="3575304" y="2313432"/>
            <a:ext cx="2368296" cy="36576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Problème &amp; besoin</a:t>
            </a:r>
            <a:endParaRPr lang="en-US" sz="1250" dirty="0"/>
          </a:p>
        </p:txBody>
      </p:sp>
      <p:sp>
        <p:nvSpPr>
          <p:cNvPr id="11" name="Text 9"/>
          <p:cNvSpPr/>
          <p:nvPr/>
        </p:nvSpPr>
        <p:spPr>
          <a:xfrm>
            <a:off x="3575304" y="2679192"/>
            <a:ext cx="2368296" cy="365760"/>
          </a:xfrm>
          <a:prstGeom prst="rect">
            <a:avLst/>
          </a:prstGeom>
          <a:noFill/>
        </p:spPr>
        <p:txBody>
          <a:bodyPr wrap="square" lIns="0" tIns="0" rIns="0" bIns="0" rtlCol="0" anchor="ctr"/>
          <a:lstStyle/>
          <a:p>
            <a:pPr marL="0" indent="0" algn="r" rtl="1">
              <a:buNone/>
            </a:pPr>
            <a:r>
              <a:rPr lang="en-US" sz="1200" dirty="0">
                <a:solidFill>
                  <a:srgbClr val="BFD3E3"/>
                </a:solidFill>
                <a:latin typeface="Shakila" pitchFamily="34" charset="0"/>
                <a:ea typeface="Shakila" pitchFamily="34" charset="-122"/>
                <a:cs typeface="Shakila" pitchFamily="34" charset="-120"/>
              </a:rPr>
              <a:t>المشكلة والحاجة</a:t>
            </a:r>
            <a:endParaRPr lang="en-US" sz="1200" dirty="0"/>
          </a:p>
        </p:txBody>
      </p:sp>
      <p:sp>
        <p:nvSpPr>
          <p:cNvPr id="12" name="Shape 10"/>
          <p:cNvSpPr/>
          <p:nvPr/>
        </p:nvSpPr>
        <p:spPr>
          <a:xfrm>
            <a:off x="6272784" y="1691640"/>
            <a:ext cx="2697480" cy="1417320"/>
          </a:xfrm>
          <a:prstGeom prst="roundRect">
            <a:avLst>
              <a:gd name="adj" fmla="val 4516"/>
            </a:avLst>
          </a:prstGeom>
          <a:solidFill>
            <a:srgbClr val="16507F"/>
          </a:solidFill>
        </p:spPr>
      </p:sp>
      <p:sp>
        <p:nvSpPr>
          <p:cNvPr id="13" name="Text 11"/>
          <p:cNvSpPr/>
          <p:nvPr/>
        </p:nvSpPr>
        <p:spPr>
          <a:xfrm>
            <a:off x="6437376" y="1801368"/>
            <a:ext cx="914400" cy="457200"/>
          </a:xfrm>
          <a:prstGeom prst="rect">
            <a:avLst/>
          </a:prstGeom>
          <a:noFill/>
        </p:spPr>
        <p:txBody>
          <a:bodyPr wrap="square" lIns="0" tIns="0" rIns="0" bIns="0" rtlCol="0" anchor="ctr"/>
          <a:lstStyle/>
          <a:p>
            <a:pPr marL="0" indent="0">
              <a:buNone/>
            </a:pPr>
            <a:r>
              <a:rPr lang="en-US" sz="2600" b="1" dirty="0">
                <a:solidFill>
                  <a:srgbClr val="E07B2A"/>
                </a:solidFill>
                <a:latin typeface="Cambria" panose="02040503050406030204" pitchFamily="34" charset="0"/>
                <a:ea typeface="Cambria" panose="02040503050406030204" pitchFamily="34" charset="-122"/>
                <a:cs typeface="Cambria" panose="02040503050406030204" pitchFamily="34" charset="-120"/>
              </a:rPr>
              <a:t>03</a:t>
            </a:r>
            <a:endParaRPr lang="en-US" sz="2600" dirty="0"/>
          </a:p>
        </p:txBody>
      </p:sp>
      <p:sp>
        <p:nvSpPr>
          <p:cNvPr id="14" name="Text 12"/>
          <p:cNvSpPr/>
          <p:nvPr/>
        </p:nvSpPr>
        <p:spPr>
          <a:xfrm>
            <a:off x="6437376" y="2313432"/>
            <a:ext cx="2368296" cy="36576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Solution &amp; prototype</a:t>
            </a:r>
            <a:endParaRPr lang="en-US" sz="1250" dirty="0"/>
          </a:p>
        </p:txBody>
      </p:sp>
      <p:sp>
        <p:nvSpPr>
          <p:cNvPr id="15" name="Text 13"/>
          <p:cNvSpPr/>
          <p:nvPr/>
        </p:nvSpPr>
        <p:spPr>
          <a:xfrm>
            <a:off x="6437376" y="2679192"/>
            <a:ext cx="2368296" cy="365760"/>
          </a:xfrm>
          <a:prstGeom prst="rect">
            <a:avLst/>
          </a:prstGeom>
          <a:noFill/>
        </p:spPr>
        <p:txBody>
          <a:bodyPr wrap="square" lIns="0" tIns="0" rIns="0" bIns="0" rtlCol="0" anchor="ctr"/>
          <a:lstStyle/>
          <a:p>
            <a:pPr marL="0" indent="0" algn="r" rtl="1">
              <a:buNone/>
            </a:pPr>
            <a:r>
              <a:rPr lang="en-US" sz="1200" dirty="0">
                <a:solidFill>
                  <a:srgbClr val="BFD3E3"/>
                </a:solidFill>
                <a:latin typeface="Shakila" pitchFamily="34" charset="0"/>
                <a:ea typeface="Shakila" pitchFamily="34" charset="-122"/>
                <a:cs typeface="Shakila" pitchFamily="34" charset="-120"/>
              </a:rPr>
              <a:t>الحل والنموذج الأولي</a:t>
            </a:r>
            <a:endParaRPr lang="en-US" sz="1200" dirty="0"/>
          </a:p>
        </p:txBody>
      </p:sp>
      <p:sp>
        <p:nvSpPr>
          <p:cNvPr id="16" name="Shape 14"/>
          <p:cNvSpPr/>
          <p:nvPr/>
        </p:nvSpPr>
        <p:spPr>
          <a:xfrm>
            <a:off x="9134856" y="1691640"/>
            <a:ext cx="2697480" cy="1417320"/>
          </a:xfrm>
          <a:prstGeom prst="roundRect">
            <a:avLst>
              <a:gd name="adj" fmla="val 4516"/>
            </a:avLst>
          </a:prstGeom>
          <a:solidFill>
            <a:srgbClr val="16507F"/>
          </a:solidFill>
        </p:spPr>
      </p:sp>
      <p:sp>
        <p:nvSpPr>
          <p:cNvPr id="17" name="Text 15"/>
          <p:cNvSpPr/>
          <p:nvPr/>
        </p:nvSpPr>
        <p:spPr>
          <a:xfrm>
            <a:off x="9299448" y="1801368"/>
            <a:ext cx="914400" cy="457200"/>
          </a:xfrm>
          <a:prstGeom prst="rect">
            <a:avLst/>
          </a:prstGeom>
          <a:noFill/>
        </p:spPr>
        <p:txBody>
          <a:bodyPr wrap="square" lIns="0" tIns="0" rIns="0" bIns="0" rtlCol="0" anchor="ctr"/>
          <a:lstStyle/>
          <a:p>
            <a:pPr marL="0" indent="0">
              <a:buNone/>
            </a:pPr>
            <a:r>
              <a:rPr lang="en-US" sz="2600" b="1" dirty="0">
                <a:solidFill>
                  <a:srgbClr val="E07B2A"/>
                </a:solidFill>
                <a:latin typeface="Cambria" panose="02040503050406030204" pitchFamily="34" charset="0"/>
                <a:ea typeface="Cambria" panose="02040503050406030204" pitchFamily="34" charset="-122"/>
                <a:cs typeface="Cambria" panose="02040503050406030204" pitchFamily="34" charset="-120"/>
              </a:rPr>
              <a:t>04</a:t>
            </a:r>
            <a:endParaRPr lang="en-US" sz="2600" dirty="0"/>
          </a:p>
        </p:txBody>
      </p:sp>
      <p:sp>
        <p:nvSpPr>
          <p:cNvPr id="18" name="Text 16"/>
          <p:cNvSpPr/>
          <p:nvPr/>
        </p:nvSpPr>
        <p:spPr>
          <a:xfrm>
            <a:off x="9299448" y="2313432"/>
            <a:ext cx="2368296" cy="36576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Marché cible</a:t>
            </a:r>
            <a:endParaRPr lang="en-US" sz="1250" dirty="0"/>
          </a:p>
        </p:txBody>
      </p:sp>
      <p:sp>
        <p:nvSpPr>
          <p:cNvPr id="19" name="Text 17"/>
          <p:cNvSpPr/>
          <p:nvPr/>
        </p:nvSpPr>
        <p:spPr>
          <a:xfrm>
            <a:off x="9299448" y="2679192"/>
            <a:ext cx="2368296" cy="365760"/>
          </a:xfrm>
          <a:prstGeom prst="rect">
            <a:avLst/>
          </a:prstGeom>
          <a:noFill/>
        </p:spPr>
        <p:txBody>
          <a:bodyPr wrap="square" lIns="0" tIns="0" rIns="0" bIns="0" rtlCol="0" anchor="ctr"/>
          <a:lstStyle/>
          <a:p>
            <a:pPr marL="0" indent="0" algn="r" rtl="1">
              <a:buNone/>
            </a:pPr>
            <a:r>
              <a:rPr lang="en-US" sz="1200" dirty="0">
                <a:solidFill>
                  <a:srgbClr val="BFD3E3"/>
                </a:solidFill>
                <a:latin typeface="Shakila" pitchFamily="34" charset="0"/>
                <a:ea typeface="Shakila" pitchFamily="34" charset="-122"/>
                <a:cs typeface="Shakila" pitchFamily="34" charset="-120"/>
              </a:rPr>
              <a:t>السوق المستهدف</a:t>
            </a:r>
            <a:endParaRPr lang="en-US" sz="1200" dirty="0"/>
          </a:p>
        </p:txBody>
      </p:sp>
      <p:sp>
        <p:nvSpPr>
          <p:cNvPr id="20" name="Shape 18"/>
          <p:cNvSpPr/>
          <p:nvPr/>
        </p:nvSpPr>
        <p:spPr>
          <a:xfrm>
            <a:off x="548640" y="3291840"/>
            <a:ext cx="2697480" cy="1417320"/>
          </a:xfrm>
          <a:prstGeom prst="roundRect">
            <a:avLst>
              <a:gd name="adj" fmla="val 4516"/>
            </a:avLst>
          </a:prstGeom>
          <a:solidFill>
            <a:srgbClr val="16507F"/>
          </a:solidFill>
        </p:spPr>
      </p:sp>
      <p:sp>
        <p:nvSpPr>
          <p:cNvPr id="21" name="Text 19"/>
          <p:cNvSpPr/>
          <p:nvPr/>
        </p:nvSpPr>
        <p:spPr>
          <a:xfrm>
            <a:off x="713232" y="3401568"/>
            <a:ext cx="914400" cy="457200"/>
          </a:xfrm>
          <a:prstGeom prst="rect">
            <a:avLst/>
          </a:prstGeom>
          <a:noFill/>
        </p:spPr>
        <p:txBody>
          <a:bodyPr wrap="square" lIns="0" tIns="0" rIns="0" bIns="0" rtlCol="0" anchor="ctr"/>
          <a:lstStyle/>
          <a:p>
            <a:pPr marL="0" indent="0">
              <a:buNone/>
            </a:pPr>
            <a:r>
              <a:rPr lang="en-US" sz="2600" b="1" dirty="0">
                <a:solidFill>
                  <a:srgbClr val="E07B2A"/>
                </a:solidFill>
                <a:latin typeface="Cambria" panose="02040503050406030204" pitchFamily="34" charset="0"/>
                <a:ea typeface="Cambria" panose="02040503050406030204" pitchFamily="34" charset="-122"/>
                <a:cs typeface="Cambria" panose="02040503050406030204" pitchFamily="34" charset="-120"/>
              </a:rPr>
              <a:t>05</a:t>
            </a:r>
            <a:endParaRPr lang="en-US" sz="2600" dirty="0"/>
          </a:p>
        </p:txBody>
      </p:sp>
      <p:sp>
        <p:nvSpPr>
          <p:cNvPr id="22" name="Text 20"/>
          <p:cNvSpPr/>
          <p:nvPr/>
        </p:nvSpPr>
        <p:spPr>
          <a:xfrm>
            <a:off x="713232" y="3913632"/>
            <a:ext cx="2368296" cy="36576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Modèle économique</a:t>
            </a:r>
            <a:endParaRPr lang="en-US" sz="1250" dirty="0"/>
          </a:p>
        </p:txBody>
      </p:sp>
      <p:sp>
        <p:nvSpPr>
          <p:cNvPr id="23" name="Text 21"/>
          <p:cNvSpPr/>
          <p:nvPr/>
        </p:nvSpPr>
        <p:spPr>
          <a:xfrm>
            <a:off x="713232" y="4279392"/>
            <a:ext cx="2368296" cy="365760"/>
          </a:xfrm>
          <a:prstGeom prst="rect">
            <a:avLst/>
          </a:prstGeom>
          <a:noFill/>
        </p:spPr>
        <p:txBody>
          <a:bodyPr wrap="square" lIns="0" tIns="0" rIns="0" bIns="0" rtlCol="0" anchor="ctr"/>
          <a:lstStyle/>
          <a:p>
            <a:pPr marL="0" indent="0" algn="r" rtl="1">
              <a:buNone/>
            </a:pPr>
            <a:r>
              <a:rPr lang="en-US" sz="1200" dirty="0">
                <a:solidFill>
                  <a:srgbClr val="BFD3E3"/>
                </a:solidFill>
                <a:latin typeface="Shakila" pitchFamily="34" charset="0"/>
                <a:ea typeface="Shakila" pitchFamily="34" charset="-122"/>
                <a:cs typeface="Shakila" pitchFamily="34" charset="-120"/>
              </a:rPr>
              <a:t>النموذج الاقتصادي</a:t>
            </a:r>
            <a:endParaRPr lang="en-US" sz="1200" dirty="0"/>
          </a:p>
        </p:txBody>
      </p:sp>
      <p:sp>
        <p:nvSpPr>
          <p:cNvPr id="24" name="Shape 22"/>
          <p:cNvSpPr/>
          <p:nvPr/>
        </p:nvSpPr>
        <p:spPr>
          <a:xfrm>
            <a:off x="3410712" y="3291840"/>
            <a:ext cx="2697480" cy="1417320"/>
          </a:xfrm>
          <a:prstGeom prst="roundRect">
            <a:avLst>
              <a:gd name="adj" fmla="val 4516"/>
            </a:avLst>
          </a:prstGeom>
          <a:solidFill>
            <a:srgbClr val="16507F"/>
          </a:solidFill>
        </p:spPr>
      </p:sp>
      <p:sp>
        <p:nvSpPr>
          <p:cNvPr id="25" name="Text 23"/>
          <p:cNvSpPr/>
          <p:nvPr/>
        </p:nvSpPr>
        <p:spPr>
          <a:xfrm>
            <a:off x="3575304" y="3401568"/>
            <a:ext cx="914400" cy="457200"/>
          </a:xfrm>
          <a:prstGeom prst="rect">
            <a:avLst/>
          </a:prstGeom>
          <a:noFill/>
        </p:spPr>
        <p:txBody>
          <a:bodyPr wrap="square" lIns="0" tIns="0" rIns="0" bIns="0" rtlCol="0" anchor="ctr"/>
          <a:lstStyle/>
          <a:p>
            <a:pPr marL="0" indent="0">
              <a:buNone/>
            </a:pPr>
            <a:r>
              <a:rPr lang="en-US" sz="2600" b="1" dirty="0">
                <a:solidFill>
                  <a:srgbClr val="E07B2A"/>
                </a:solidFill>
                <a:latin typeface="Cambria" panose="02040503050406030204" pitchFamily="34" charset="0"/>
                <a:ea typeface="Cambria" panose="02040503050406030204" pitchFamily="34" charset="-122"/>
                <a:cs typeface="Cambria" panose="02040503050406030204" pitchFamily="34" charset="-120"/>
              </a:rPr>
              <a:t>06</a:t>
            </a:r>
            <a:endParaRPr lang="en-US" sz="2600" dirty="0"/>
          </a:p>
        </p:txBody>
      </p:sp>
      <p:sp>
        <p:nvSpPr>
          <p:cNvPr id="26" name="Text 24"/>
          <p:cNvSpPr/>
          <p:nvPr/>
        </p:nvSpPr>
        <p:spPr>
          <a:xfrm>
            <a:off x="3575304" y="3913632"/>
            <a:ext cx="2368296" cy="36576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Stratégie commerciale</a:t>
            </a:r>
            <a:endParaRPr lang="en-US" sz="1250" dirty="0"/>
          </a:p>
        </p:txBody>
      </p:sp>
      <p:sp>
        <p:nvSpPr>
          <p:cNvPr id="27" name="Text 25"/>
          <p:cNvSpPr/>
          <p:nvPr/>
        </p:nvSpPr>
        <p:spPr>
          <a:xfrm>
            <a:off x="3575304" y="4279392"/>
            <a:ext cx="2368296" cy="365760"/>
          </a:xfrm>
          <a:prstGeom prst="rect">
            <a:avLst/>
          </a:prstGeom>
          <a:noFill/>
        </p:spPr>
        <p:txBody>
          <a:bodyPr wrap="square" lIns="0" tIns="0" rIns="0" bIns="0" rtlCol="0" anchor="ctr"/>
          <a:lstStyle/>
          <a:p>
            <a:pPr marL="0" indent="0" algn="r" rtl="1">
              <a:buNone/>
            </a:pPr>
            <a:r>
              <a:rPr lang="en-US" sz="1200" dirty="0">
                <a:solidFill>
                  <a:srgbClr val="BFD3E3"/>
                </a:solidFill>
                <a:latin typeface="Shakila" pitchFamily="34" charset="0"/>
                <a:ea typeface="Shakila" pitchFamily="34" charset="-122"/>
                <a:cs typeface="Shakila" pitchFamily="34" charset="-120"/>
              </a:rPr>
              <a:t>استراتيجية التسويق</a:t>
            </a:r>
            <a:endParaRPr lang="en-US" sz="1200" dirty="0"/>
          </a:p>
        </p:txBody>
      </p:sp>
      <p:sp>
        <p:nvSpPr>
          <p:cNvPr id="28" name="Shape 26"/>
          <p:cNvSpPr/>
          <p:nvPr/>
        </p:nvSpPr>
        <p:spPr>
          <a:xfrm>
            <a:off x="6272784" y="3291840"/>
            <a:ext cx="2697480" cy="1417320"/>
          </a:xfrm>
          <a:prstGeom prst="roundRect">
            <a:avLst>
              <a:gd name="adj" fmla="val 4516"/>
            </a:avLst>
          </a:prstGeom>
          <a:solidFill>
            <a:srgbClr val="16507F"/>
          </a:solidFill>
        </p:spPr>
      </p:sp>
      <p:sp>
        <p:nvSpPr>
          <p:cNvPr id="29" name="Text 27"/>
          <p:cNvSpPr/>
          <p:nvPr/>
        </p:nvSpPr>
        <p:spPr>
          <a:xfrm>
            <a:off x="6437376" y="3401568"/>
            <a:ext cx="914400" cy="457200"/>
          </a:xfrm>
          <a:prstGeom prst="rect">
            <a:avLst/>
          </a:prstGeom>
          <a:noFill/>
        </p:spPr>
        <p:txBody>
          <a:bodyPr wrap="square" lIns="0" tIns="0" rIns="0" bIns="0" rtlCol="0" anchor="ctr"/>
          <a:lstStyle/>
          <a:p>
            <a:pPr marL="0" indent="0">
              <a:buNone/>
            </a:pPr>
            <a:r>
              <a:rPr lang="en-US" sz="2600" b="1" dirty="0">
                <a:solidFill>
                  <a:srgbClr val="E07B2A"/>
                </a:solidFill>
                <a:latin typeface="Cambria" panose="02040503050406030204" pitchFamily="34" charset="0"/>
                <a:ea typeface="Cambria" panose="02040503050406030204" pitchFamily="34" charset="-122"/>
                <a:cs typeface="Cambria" panose="02040503050406030204" pitchFamily="34" charset="-120"/>
              </a:rPr>
              <a:t>07</a:t>
            </a:r>
            <a:endParaRPr lang="en-US" sz="2600" dirty="0"/>
          </a:p>
        </p:txBody>
      </p:sp>
      <p:sp>
        <p:nvSpPr>
          <p:cNvPr id="30" name="Text 28"/>
          <p:cNvSpPr/>
          <p:nvPr/>
        </p:nvSpPr>
        <p:spPr>
          <a:xfrm>
            <a:off x="6437376" y="3913632"/>
            <a:ext cx="2368296" cy="36576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Plan de développement</a:t>
            </a:r>
            <a:endParaRPr lang="en-US" sz="1250" dirty="0"/>
          </a:p>
        </p:txBody>
      </p:sp>
      <p:sp>
        <p:nvSpPr>
          <p:cNvPr id="31" name="Text 29"/>
          <p:cNvSpPr/>
          <p:nvPr/>
        </p:nvSpPr>
        <p:spPr>
          <a:xfrm>
            <a:off x="6437376" y="4279392"/>
            <a:ext cx="2368296" cy="365760"/>
          </a:xfrm>
          <a:prstGeom prst="rect">
            <a:avLst/>
          </a:prstGeom>
          <a:noFill/>
        </p:spPr>
        <p:txBody>
          <a:bodyPr wrap="square" lIns="0" tIns="0" rIns="0" bIns="0" rtlCol="0" anchor="ctr"/>
          <a:lstStyle/>
          <a:p>
            <a:pPr marL="0" indent="0" algn="r" rtl="1">
              <a:buNone/>
            </a:pPr>
            <a:r>
              <a:rPr lang="en-US" sz="1200" dirty="0">
                <a:solidFill>
                  <a:srgbClr val="BFD3E3"/>
                </a:solidFill>
                <a:latin typeface="Shakila" pitchFamily="34" charset="0"/>
                <a:ea typeface="Shakila" pitchFamily="34" charset="-122"/>
                <a:cs typeface="Shakila" pitchFamily="34" charset="-120"/>
              </a:rPr>
              <a:t>مخطط التطوير</a:t>
            </a:r>
            <a:endParaRPr lang="en-US" sz="1200" dirty="0"/>
          </a:p>
        </p:txBody>
      </p:sp>
      <p:sp>
        <p:nvSpPr>
          <p:cNvPr id="32" name="Shape 30"/>
          <p:cNvSpPr/>
          <p:nvPr/>
        </p:nvSpPr>
        <p:spPr>
          <a:xfrm>
            <a:off x="9134856" y="3291840"/>
            <a:ext cx="2697480" cy="1417320"/>
          </a:xfrm>
          <a:prstGeom prst="roundRect">
            <a:avLst>
              <a:gd name="adj" fmla="val 4516"/>
            </a:avLst>
          </a:prstGeom>
          <a:solidFill>
            <a:srgbClr val="16507F"/>
          </a:solidFill>
        </p:spPr>
      </p:sp>
      <p:sp>
        <p:nvSpPr>
          <p:cNvPr id="33" name="Text 31"/>
          <p:cNvSpPr/>
          <p:nvPr/>
        </p:nvSpPr>
        <p:spPr>
          <a:xfrm>
            <a:off x="9299448" y="3401568"/>
            <a:ext cx="914400" cy="457200"/>
          </a:xfrm>
          <a:prstGeom prst="rect">
            <a:avLst/>
          </a:prstGeom>
          <a:noFill/>
        </p:spPr>
        <p:txBody>
          <a:bodyPr wrap="square" lIns="0" tIns="0" rIns="0" bIns="0" rtlCol="0" anchor="ctr"/>
          <a:lstStyle/>
          <a:p>
            <a:pPr marL="0" indent="0">
              <a:buNone/>
            </a:pPr>
            <a:r>
              <a:rPr lang="en-US" sz="2600" b="1" dirty="0">
                <a:solidFill>
                  <a:srgbClr val="E07B2A"/>
                </a:solidFill>
                <a:latin typeface="Cambria" panose="02040503050406030204" pitchFamily="34" charset="0"/>
                <a:ea typeface="Cambria" panose="02040503050406030204" pitchFamily="34" charset="-122"/>
                <a:cs typeface="Cambria" panose="02040503050406030204" pitchFamily="34" charset="-120"/>
              </a:rPr>
              <a:t>08</a:t>
            </a:r>
            <a:endParaRPr lang="en-US" sz="2600" dirty="0"/>
          </a:p>
        </p:txBody>
      </p:sp>
      <p:sp>
        <p:nvSpPr>
          <p:cNvPr id="34" name="Text 32"/>
          <p:cNvSpPr/>
          <p:nvPr/>
        </p:nvSpPr>
        <p:spPr>
          <a:xfrm>
            <a:off x="9299448" y="3913632"/>
            <a:ext cx="2368296" cy="36576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Équipe</a:t>
            </a:r>
            <a:endParaRPr lang="en-US" sz="1250" dirty="0"/>
          </a:p>
        </p:txBody>
      </p:sp>
      <p:sp>
        <p:nvSpPr>
          <p:cNvPr id="35" name="Text 33"/>
          <p:cNvSpPr/>
          <p:nvPr/>
        </p:nvSpPr>
        <p:spPr>
          <a:xfrm>
            <a:off x="9299448" y="4279392"/>
            <a:ext cx="2368296" cy="365760"/>
          </a:xfrm>
          <a:prstGeom prst="rect">
            <a:avLst/>
          </a:prstGeom>
          <a:noFill/>
        </p:spPr>
        <p:txBody>
          <a:bodyPr wrap="square" lIns="0" tIns="0" rIns="0" bIns="0" rtlCol="0" anchor="ctr"/>
          <a:lstStyle/>
          <a:p>
            <a:pPr marL="0" indent="0" algn="r" rtl="1">
              <a:buNone/>
            </a:pPr>
            <a:r>
              <a:rPr lang="en-US" sz="1200" dirty="0">
                <a:solidFill>
                  <a:srgbClr val="BFD3E3"/>
                </a:solidFill>
                <a:latin typeface="Shakila" pitchFamily="34" charset="0"/>
                <a:ea typeface="Shakila" pitchFamily="34" charset="-122"/>
                <a:cs typeface="Shakila" pitchFamily="34" charset="-120"/>
              </a:rPr>
              <a:t>الفريق</a:t>
            </a:r>
            <a:endParaRPr lang="en-US" sz="1200" dirty="0"/>
          </a:p>
        </p:txBody>
      </p:sp>
      <p:sp>
        <p:nvSpPr>
          <p:cNvPr id="36" name="Shape 34"/>
          <p:cNvSpPr/>
          <p:nvPr/>
        </p:nvSpPr>
        <p:spPr>
          <a:xfrm>
            <a:off x="548640" y="4892040"/>
            <a:ext cx="2697480" cy="1417320"/>
          </a:xfrm>
          <a:prstGeom prst="roundRect">
            <a:avLst>
              <a:gd name="adj" fmla="val 4516"/>
            </a:avLst>
          </a:prstGeom>
          <a:solidFill>
            <a:srgbClr val="16507F"/>
          </a:solidFill>
        </p:spPr>
      </p:sp>
      <p:sp>
        <p:nvSpPr>
          <p:cNvPr id="37" name="Text 35"/>
          <p:cNvSpPr/>
          <p:nvPr/>
        </p:nvSpPr>
        <p:spPr>
          <a:xfrm>
            <a:off x="713232" y="5001768"/>
            <a:ext cx="914400" cy="457200"/>
          </a:xfrm>
          <a:prstGeom prst="rect">
            <a:avLst/>
          </a:prstGeom>
          <a:noFill/>
        </p:spPr>
        <p:txBody>
          <a:bodyPr wrap="square" lIns="0" tIns="0" rIns="0" bIns="0" rtlCol="0" anchor="ctr"/>
          <a:lstStyle/>
          <a:p>
            <a:pPr marL="0" indent="0">
              <a:buNone/>
            </a:pPr>
            <a:r>
              <a:rPr lang="en-US" sz="2600" b="1" dirty="0">
                <a:solidFill>
                  <a:srgbClr val="E07B2A"/>
                </a:solidFill>
                <a:latin typeface="Cambria" panose="02040503050406030204" pitchFamily="34" charset="0"/>
                <a:ea typeface="Cambria" panose="02040503050406030204" pitchFamily="34" charset="-122"/>
                <a:cs typeface="Cambria" panose="02040503050406030204" pitchFamily="34" charset="-120"/>
              </a:rPr>
              <a:t>09</a:t>
            </a:r>
            <a:endParaRPr lang="en-US" sz="2600" dirty="0"/>
          </a:p>
        </p:txBody>
      </p:sp>
      <p:sp>
        <p:nvSpPr>
          <p:cNvPr id="38" name="Text 36"/>
          <p:cNvSpPr/>
          <p:nvPr/>
        </p:nvSpPr>
        <p:spPr>
          <a:xfrm>
            <a:off x="713232" y="5513832"/>
            <a:ext cx="2368296" cy="36576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Prévisions financières</a:t>
            </a:r>
            <a:endParaRPr lang="en-US" sz="1250" dirty="0"/>
          </a:p>
        </p:txBody>
      </p:sp>
      <p:sp>
        <p:nvSpPr>
          <p:cNvPr id="39" name="Text 37"/>
          <p:cNvSpPr/>
          <p:nvPr/>
        </p:nvSpPr>
        <p:spPr>
          <a:xfrm>
            <a:off x="713232" y="5879592"/>
            <a:ext cx="2368296" cy="365760"/>
          </a:xfrm>
          <a:prstGeom prst="rect">
            <a:avLst/>
          </a:prstGeom>
          <a:noFill/>
        </p:spPr>
        <p:txBody>
          <a:bodyPr wrap="square" lIns="0" tIns="0" rIns="0" bIns="0" rtlCol="0" anchor="ctr"/>
          <a:lstStyle/>
          <a:p>
            <a:pPr marL="0" indent="0" algn="r" rtl="1">
              <a:buNone/>
            </a:pPr>
            <a:r>
              <a:rPr lang="en-US" sz="1200" dirty="0">
                <a:solidFill>
                  <a:srgbClr val="BFD3E3"/>
                </a:solidFill>
                <a:latin typeface="Shakila" pitchFamily="34" charset="0"/>
                <a:ea typeface="Shakila" pitchFamily="34" charset="-122"/>
                <a:cs typeface="Shakila" pitchFamily="34" charset="-120"/>
              </a:rPr>
              <a:t>التوقعات المالية</a:t>
            </a:r>
            <a:endParaRPr lang="en-US" sz="1200" dirty="0"/>
          </a:p>
        </p:txBody>
      </p:sp>
      <p:sp>
        <p:nvSpPr>
          <p:cNvPr id="40" name="Shape 38"/>
          <p:cNvSpPr/>
          <p:nvPr/>
        </p:nvSpPr>
        <p:spPr>
          <a:xfrm>
            <a:off x="3410712" y="4892040"/>
            <a:ext cx="2697480" cy="1417320"/>
          </a:xfrm>
          <a:prstGeom prst="roundRect">
            <a:avLst>
              <a:gd name="adj" fmla="val 4516"/>
            </a:avLst>
          </a:prstGeom>
          <a:solidFill>
            <a:srgbClr val="16507F"/>
          </a:solidFill>
        </p:spPr>
      </p:sp>
      <p:sp>
        <p:nvSpPr>
          <p:cNvPr id="41" name="Text 39"/>
          <p:cNvSpPr/>
          <p:nvPr/>
        </p:nvSpPr>
        <p:spPr>
          <a:xfrm>
            <a:off x="3575304" y="5001768"/>
            <a:ext cx="914400" cy="457200"/>
          </a:xfrm>
          <a:prstGeom prst="rect">
            <a:avLst/>
          </a:prstGeom>
          <a:noFill/>
        </p:spPr>
        <p:txBody>
          <a:bodyPr wrap="square" lIns="0" tIns="0" rIns="0" bIns="0" rtlCol="0" anchor="ctr"/>
          <a:lstStyle/>
          <a:p>
            <a:pPr marL="0" indent="0">
              <a:buNone/>
            </a:pPr>
            <a:r>
              <a:rPr lang="en-US" sz="2600" b="1" dirty="0">
                <a:solidFill>
                  <a:srgbClr val="E07B2A"/>
                </a:solidFill>
                <a:latin typeface="Cambria" panose="02040503050406030204" pitchFamily="34" charset="0"/>
                <a:ea typeface="Cambria" panose="02040503050406030204" pitchFamily="34" charset="-122"/>
                <a:cs typeface="Cambria" panose="02040503050406030204" pitchFamily="34" charset="-120"/>
              </a:rPr>
              <a:t>10</a:t>
            </a:r>
            <a:endParaRPr lang="en-US" sz="2600" dirty="0"/>
          </a:p>
        </p:txBody>
      </p:sp>
      <p:sp>
        <p:nvSpPr>
          <p:cNvPr id="42" name="Text 40"/>
          <p:cNvSpPr/>
          <p:nvPr/>
        </p:nvSpPr>
        <p:spPr>
          <a:xfrm>
            <a:off x="3575304" y="5513832"/>
            <a:ext cx="2368296" cy="36576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Besoin de financement</a:t>
            </a:r>
            <a:endParaRPr lang="en-US" sz="1250" dirty="0"/>
          </a:p>
        </p:txBody>
      </p:sp>
      <p:sp>
        <p:nvSpPr>
          <p:cNvPr id="43" name="Text 41"/>
          <p:cNvSpPr/>
          <p:nvPr/>
        </p:nvSpPr>
        <p:spPr>
          <a:xfrm>
            <a:off x="3575304" y="5879592"/>
            <a:ext cx="2368296" cy="365760"/>
          </a:xfrm>
          <a:prstGeom prst="rect">
            <a:avLst/>
          </a:prstGeom>
          <a:noFill/>
        </p:spPr>
        <p:txBody>
          <a:bodyPr wrap="square" lIns="0" tIns="0" rIns="0" bIns="0" rtlCol="0" anchor="ctr"/>
          <a:lstStyle/>
          <a:p>
            <a:pPr marL="0" indent="0" algn="r" rtl="1">
              <a:buNone/>
            </a:pPr>
            <a:r>
              <a:rPr lang="en-US" sz="1200" dirty="0">
                <a:solidFill>
                  <a:srgbClr val="BFD3E3"/>
                </a:solidFill>
                <a:latin typeface="Shakila" pitchFamily="34" charset="0"/>
                <a:ea typeface="Shakila" pitchFamily="34" charset="-122"/>
                <a:cs typeface="Shakila" pitchFamily="34" charset="-120"/>
              </a:rPr>
              <a:t>الحاجة إلى التمويل</a:t>
            </a:r>
            <a:endParaRPr lang="en-US" sz="1200" dirty="0"/>
          </a:p>
        </p:txBody>
      </p:sp>
      <p:sp>
        <p:nvSpPr>
          <p:cNvPr id="48" name="Text 46"/>
          <p:cNvSpPr/>
          <p:nvPr/>
        </p:nvSpPr>
        <p:spPr>
          <a:xfrm>
            <a:off x="11551615" y="6446520"/>
            <a:ext cx="365760" cy="274320"/>
          </a:xfrm>
          <a:prstGeom prst="rect">
            <a:avLst/>
          </a:prstGeom>
          <a:noFill/>
        </p:spPr>
        <p:txBody>
          <a:bodyPr wrap="square" rtlCol="0" anchor="ctr"/>
          <a:lstStyle/>
          <a:p>
            <a:pPr marL="0" indent="0" algn="r">
              <a:buNone/>
            </a:pPr>
            <a:r>
              <a:rPr lang="en-US" sz="1000" dirty="0">
                <a:solidFill>
                  <a:srgbClr val="6B7178"/>
                </a:solidFill>
                <a:latin typeface="Calibri" panose="020F0502020204030204" pitchFamily="34" charset="0"/>
                <a:ea typeface="Calibri" panose="020F0502020204030204" pitchFamily="34" charset="-122"/>
                <a:cs typeface="Calibri" panose="020F0502020204030204" pitchFamily="34" charset="-120"/>
              </a:rPr>
              <a:t>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2F3"/>
        </a:solidFill>
        <a:effectLst/>
      </p:bgPr>
    </p:bg>
    <p:spTree>
      <p:nvGrpSpPr>
        <p:cNvPr id="1" name=""/>
        <p:cNvGrpSpPr/>
        <p:nvPr/>
      </p:nvGrpSpPr>
      <p:grpSpPr>
        <a:xfrm>
          <a:off x="0" y="0"/>
          <a:ext cx="0" cy="0"/>
          <a:chOff x="0" y="0"/>
          <a:chExt cx="0" cy="0"/>
        </a:xfrm>
      </p:grpSpPr>
      <p:sp>
        <p:nvSpPr>
          <p:cNvPr id="2" name="Shape 0"/>
          <p:cNvSpPr/>
          <p:nvPr/>
        </p:nvSpPr>
        <p:spPr>
          <a:xfrm>
            <a:off x="548640" y="457200"/>
            <a:ext cx="3108960" cy="384048"/>
          </a:xfrm>
          <a:prstGeom prst="roundRect">
            <a:avLst>
              <a:gd name="adj" fmla="val 19048"/>
            </a:avLst>
          </a:prstGeom>
          <a:solidFill>
            <a:srgbClr val="E07B2A"/>
          </a:solidFill>
        </p:spPr>
      </p:sp>
      <p:sp>
        <p:nvSpPr>
          <p:cNvPr id="3" name="Text 1"/>
          <p:cNvSpPr/>
          <p:nvPr/>
        </p:nvSpPr>
        <p:spPr>
          <a:xfrm>
            <a:off x="548640" y="457200"/>
            <a:ext cx="3108960" cy="384048"/>
          </a:xfrm>
          <a:prstGeom prst="rect">
            <a:avLst/>
          </a:prstGeom>
          <a:noFill/>
        </p:spPr>
        <p:txBody>
          <a:bodyPr wrap="square" lIns="0" tIns="0" rIns="0" bIns="0" rtlCol="0" anchor="ctr"/>
          <a:lstStyle/>
          <a:p>
            <a:pPr marL="0" indent="0" algn="ctr">
              <a:buNone/>
            </a:pPr>
            <a:r>
              <a:rPr lang="en-US" sz="1200" b="1" dirty="0">
                <a:solidFill>
                  <a:srgbClr val="0F3A5F"/>
                </a:solidFill>
                <a:latin typeface="Calibri" panose="020F0502020204030204" pitchFamily="34" charset="0"/>
                <a:ea typeface="Calibri" panose="020F0502020204030204" pitchFamily="34" charset="-122"/>
                <a:cs typeface="Calibri" panose="020F0502020204030204" pitchFamily="34" charset="-120"/>
              </a:rPr>
              <a:t>01 · RÉSUMÉ EXÉCUTIF</a:t>
            </a:r>
            <a:endParaRPr lang="en-US" sz="1200" dirty="0"/>
          </a:p>
        </p:txBody>
      </p:sp>
      <p:sp>
        <p:nvSpPr>
          <p:cNvPr id="4" name="Shape 2"/>
          <p:cNvSpPr/>
          <p:nvPr/>
        </p:nvSpPr>
        <p:spPr>
          <a:xfrm>
            <a:off x="8534095" y="457200"/>
            <a:ext cx="3108960" cy="384048"/>
          </a:xfrm>
          <a:prstGeom prst="roundRect">
            <a:avLst>
              <a:gd name="adj" fmla="val 19048"/>
            </a:avLst>
          </a:prstGeom>
          <a:solidFill>
            <a:srgbClr val="E07B2A"/>
          </a:solidFill>
        </p:spPr>
      </p:sp>
      <p:sp>
        <p:nvSpPr>
          <p:cNvPr id="5" name="Text 3"/>
          <p:cNvSpPr/>
          <p:nvPr/>
        </p:nvSpPr>
        <p:spPr>
          <a:xfrm>
            <a:off x="8534095" y="457200"/>
            <a:ext cx="3108960" cy="384048"/>
          </a:xfrm>
          <a:prstGeom prst="rect">
            <a:avLst/>
          </a:prstGeom>
          <a:noFill/>
        </p:spPr>
        <p:txBody>
          <a:bodyPr wrap="square" lIns="0" tIns="0" rIns="0" bIns="0" rtlCol="0" anchor="ctr"/>
          <a:lstStyle/>
          <a:p>
            <a:pPr marL="0" indent="0" algn="ctr" rtl="1">
              <a:buNone/>
            </a:pPr>
            <a:r>
              <a:rPr lang="en-US" sz="1300" b="1" dirty="0">
                <a:solidFill>
                  <a:srgbClr val="0F3A5F"/>
                </a:solidFill>
                <a:latin typeface="Shakila" pitchFamily="34" charset="0"/>
                <a:ea typeface="Shakila" pitchFamily="34" charset="-122"/>
                <a:cs typeface="Shakila" pitchFamily="34" charset="-120"/>
              </a:rPr>
              <a:t>ملخص تنفيذي</a:t>
            </a:r>
            <a:endParaRPr lang="en-US" sz="1300" dirty="0"/>
          </a:p>
        </p:txBody>
      </p:sp>
      <p:sp>
        <p:nvSpPr>
          <p:cNvPr id="6" name="Text 4"/>
          <p:cNvSpPr/>
          <p:nvPr/>
        </p:nvSpPr>
        <p:spPr>
          <a:xfrm>
            <a:off x="548640" y="960120"/>
            <a:ext cx="11094415" cy="548640"/>
          </a:xfrm>
          <a:prstGeom prst="rect">
            <a:avLst/>
          </a:prstGeom>
          <a:noFill/>
        </p:spPr>
        <p:txBody>
          <a:bodyPr wrap="square" lIns="0" tIns="0" rIns="0" bIns="0" rtlCol="0" anchor="ctr"/>
          <a:lstStyle/>
          <a:p>
            <a:pPr marL="0" indent="0" algn="l">
              <a:buNone/>
            </a:pPr>
            <a:r>
              <a:rPr lang="en-US" sz="3000" b="1" dirty="0">
                <a:solidFill>
                  <a:srgbClr val="0F3A5F"/>
                </a:solidFill>
                <a:latin typeface="Cambria" panose="02040503050406030204" pitchFamily="34" charset="0"/>
                <a:ea typeface="Cambria" panose="02040503050406030204" pitchFamily="34" charset="-122"/>
                <a:cs typeface="Cambria" panose="02040503050406030204" pitchFamily="34" charset="-120"/>
              </a:rPr>
              <a:t>Résumé exécutif</a:t>
            </a:r>
            <a:endParaRPr lang="en-US" sz="3000" dirty="0"/>
          </a:p>
        </p:txBody>
      </p:sp>
      <p:sp>
        <p:nvSpPr>
          <p:cNvPr id="7" name="Text 5"/>
          <p:cNvSpPr/>
          <p:nvPr/>
        </p:nvSpPr>
        <p:spPr>
          <a:xfrm>
            <a:off x="548640" y="1463040"/>
            <a:ext cx="11094415" cy="457200"/>
          </a:xfrm>
          <a:prstGeom prst="rect">
            <a:avLst/>
          </a:prstGeom>
          <a:noFill/>
        </p:spPr>
        <p:txBody>
          <a:bodyPr wrap="square" lIns="0" tIns="0" rIns="0" bIns="0" rtlCol="0" anchor="ctr"/>
          <a:lstStyle/>
          <a:p>
            <a:pPr marL="0" indent="0" algn="r" rtl="1">
              <a:buNone/>
            </a:pPr>
            <a:r>
              <a:rPr lang="en-US" sz="2200" b="1" dirty="0">
                <a:solidFill>
                  <a:srgbClr val="6B7178"/>
                </a:solidFill>
                <a:latin typeface="Shakila" pitchFamily="34" charset="0"/>
                <a:ea typeface="Shakila" pitchFamily="34" charset="-122"/>
                <a:cs typeface="Shakila" pitchFamily="34" charset="-120"/>
              </a:rPr>
              <a:t>الملخص التنفيذي</a:t>
            </a:r>
            <a:endParaRPr lang="en-US" sz="2200" dirty="0"/>
          </a:p>
        </p:txBody>
      </p:sp>
      <p:sp>
        <p:nvSpPr>
          <p:cNvPr id="8" name="Shape 6"/>
          <p:cNvSpPr/>
          <p:nvPr/>
        </p:nvSpPr>
        <p:spPr>
          <a:xfrm>
            <a:off x="548640" y="2240280"/>
            <a:ext cx="5440680" cy="3886200"/>
          </a:xfrm>
          <a:prstGeom prst="roundRect">
            <a:avLst>
              <a:gd name="adj" fmla="val 1882"/>
            </a:avLst>
          </a:prstGeom>
          <a:solidFill>
            <a:srgbClr val="FFFFFF"/>
          </a:solidFill>
          <a:effectLst>
            <a:outerShdw blurRad="101600" dist="38100" dir="5400000" algn="bl" rotWithShape="0">
              <a:srgbClr val="000000">
                <a:alpha val="10000"/>
              </a:srgbClr>
            </a:outerShdw>
          </a:effectLst>
        </p:spPr>
      </p:sp>
      <p:sp>
        <p:nvSpPr>
          <p:cNvPr id="9" name="Text 7"/>
          <p:cNvSpPr/>
          <p:nvPr/>
        </p:nvSpPr>
        <p:spPr>
          <a:xfrm>
            <a:off x="868680" y="2423160"/>
            <a:ext cx="4846320" cy="320040"/>
          </a:xfrm>
          <a:prstGeom prst="rect">
            <a:avLst/>
          </a:prstGeom>
          <a:noFill/>
        </p:spPr>
        <p:txBody>
          <a:bodyPr wrap="square" lIns="0" tIns="0" rIns="0" bIns="0" rtlCol="0" anchor="ctr"/>
          <a:lstStyle/>
          <a:p>
            <a:pPr marL="0" indent="0">
              <a:buNone/>
            </a:pPr>
            <a:r>
              <a:rPr lang="en-US" sz="1300" b="1" dirty="0">
                <a:solidFill>
                  <a:srgbClr val="0F3A5F"/>
                </a:solidFill>
                <a:latin typeface="Calibri" panose="020F0502020204030204" pitchFamily="34" charset="0"/>
                <a:ea typeface="Calibri" panose="020F0502020204030204" pitchFamily="34" charset="-122"/>
                <a:cs typeface="Calibri" panose="020F0502020204030204" pitchFamily="34" charset="-120"/>
              </a:rPr>
              <a:t>À renseigner :</a:t>
            </a:r>
            <a:endParaRPr lang="en-US" sz="1300" dirty="0"/>
          </a:p>
        </p:txBody>
      </p:sp>
      <p:sp>
        <p:nvSpPr>
          <p:cNvPr id="10" name="Text 8"/>
          <p:cNvSpPr/>
          <p:nvPr/>
        </p:nvSpPr>
        <p:spPr>
          <a:xfrm>
            <a:off x="868680" y="2834640"/>
            <a:ext cx="4846320" cy="502920"/>
          </a:xfrm>
          <a:prstGeom prst="rect">
            <a:avLst/>
          </a:prstGeom>
          <a:noFill/>
        </p:spPr>
        <p:txBody>
          <a:bodyPr wrap="square" lIns="0" tIns="0" rIns="0" bIns="0" rtlCol="0" anchor="ctr"/>
          <a:lstStyle/>
          <a:p>
            <a:pPr marL="342900" indent="-342900">
              <a:buSzPct val="100000"/>
              <a:buChar char="•"/>
            </a:pPr>
            <a:r>
              <a:rPr lang="en-US" sz="1250" dirty="0">
                <a:solidFill>
                  <a:srgbClr val="26282B"/>
                </a:solidFill>
                <a:latin typeface="Calibri" panose="020F0502020204030204" pitchFamily="34" charset="0"/>
                <a:ea typeface="Calibri" panose="020F0502020204030204" pitchFamily="34" charset="-122"/>
                <a:cs typeface="Calibri" panose="020F0502020204030204" pitchFamily="34" charset="-120"/>
              </a:rPr>
              <a:t>Nom du projet et nom de l'équipe</a:t>
            </a:r>
            <a:endParaRPr lang="en-US" sz="1250" dirty="0"/>
          </a:p>
        </p:txBody>
      </p:sp>
      <p:sp>
        <p:nvSpPr>
          <p:cNvPr id="11" name="Text 9"/>
          <p:cNvSpPr/>
          <p:nvPr/>
        </p:nvSpPr>
        <p:spPr>
          <a:xfrm>
            <a:off x="868680" y="3401568"/>
            <a:ext cx="4846320" cy="502920"/>
          </a:xfrm>
          <a:prstGeom prst="rect">
            <a:avLst/>
          </a:prstGeom>
          <a:noFill/>
        </p:spPr>
        <p:txBody>
          <a:bodyPr wrap="square" lIns="0" tIns="0" rIns="0" bIns="0" rtlCol="0" anchor="ctr"/>
          <a:lstStyle/>
          <a:p>
            <a:pPr marL="342900" indent="-342900">
              <a:buSzPct val="100000"/>
              <a:buChar char="•"/>
            </a:pPr>
            <a:r>
              <a:rPr lang="en-US" sz="1250" dirty="0">
                <a:solidFill>
                  <a:srgbClr val="26282B"/>
                </a:solidFill>
                <a:latin typeface="Calibri" panose="020F0502020204030204" pitchFamily="34" charset="0"/>
                <a:ea typeface="Calibri" panose="020F0502020204030204" pitchFamily="34" charset="-122"/>
                <a:cs typeface="Calibri" panose="020F0502020204030204" pitchFamily="34" charset="-120"/>
              </a:rPr>
              <a:t>Domaine d'innovation </a:t>
            </a:r>
            <a:endParaRPr lang="en-US" sz="1250" dirty="0"/>
          </a:p>
        </p:txBody>
      </p:sp>
      <p:sp>
        <p:nvSpPr>
          <p:cNvPr id="12" name="Text 10"/>
          <p:cNvSpPr/>
          <p:nvPr/>
        </p:nvSpPr>
        <p:spPr>
          <a:xfrm>
            <a:off x="868680" y="3968496"/>
            <a:ext cx="4846320" cy="502920"/>
          </a:xfrm>
          <a:prstGeom prst="rect">
            <a:avLst/>
          </a:prstGeom>
          <a:noFill/>
        </p:spPr>
        <p:txBody>
          <a:bodyPr wrap="square" lIns="0" tIns="0" rIns="0" bIns="0" rtlCol="0" anchor="ctr"/>
          <a:lstStyle/>
          <a:p>
            <a:pPr marL="342900" indent="-342900">
              <a:buSzPct val="100000"/>
              <a:buChar char="•"/>
            </a:pPr>
            <a:r>
              <a:rPr lang="en-US" sz="1250" dirty="0">
                <a:solidFill>
                  <a:srgbClr val="26282B"/>
                </a:solidFill>
                <a:latin typeface="Calibri" panose="020F0502020204030204" pitchFamily="34" charset="0"/>
                <a:ea typeface="Calibri" panose="020F0502020204030204" pitchFamily="34" charset="-122"/>
                <a:cs typeface="Calibri" panose="020F0502020204030204" pitchFamily="34" charset="-120"/>
              </a:rPr>
              <a:t>En une phrase : quel problème vous résolvez</a:t>
            </a:r>
            <a:endParaRPr lang="en-US" sz="1250" dirty="0"/>
          </a:p>
        </p:txBody>
      </p:sp>
      <p:sp>
        <p:nvSpPr>
          <p:cNvPr id="13" name="Text 11"/>
          <p:cNvSpPr/>
          <p:nvPr/>
        </p:nvSpPr>
        <p:spPr>
          <a:xfrm>
            <a:off x="868680" y="4535424"/>
            <a:ext cx="4846320" cy="502920"/>
          </a:xfrm>
          <a:prstGeom prst="rect">
            <a:avLst/>
          </a:prstGeom>
          <a:noFill/>
        </p:spPr>
        <p:txBody>
          <a:bodyPr wrap="square" lIns="0" tIns="0" rIns="0" bIns="0" rtlCol="0" anchor="ctr"/>
          <a:lstStyle/>
          <a:p>
            <a:pPr marL="342900" indent="-342900">
              <a:buSzPct val="100000"/>
              <a:buChar char="•"/>
            </a:pPr>
            <a:r>
              <a:rPr lang="en-US" sz="1250" dirty="0">
                <a:solidFill>
                  <a:srgbClr val="26282B"/>
                </a:solidFill>
                <a:latin typeface="Calibri" panose="020F0502020204030204" pitchFamily="34" charset="0"/>
                <a:ea typeface="Calibri" panose="020F0502020204030204" pitchFamily="34" charset="-122"/>
                <a:cs typeface="Calibri" panose="020F0502020204030204" pitchFamily="34" charset="-120"/>
              </a:rPr>
              <a:t>Stade actuel du prototype (TRL)</a:t>
            </a:r>
            <a:endParaRPr lang="en-US" sz="1250" dirty="0"/>
          </a:p>
        </p:txBody>
      </p:sp>
      <p:sp>
        <p:nvSpPr>
          <p:cNvPr id="14" name="Text 12"/>
          <p:cNvSpPr/>
          <p:nvPr/>
        </p:nvSpPr>
        <p:spPr>
          <a:xfrm>
            <a:off x="868680" y="5102352"/>
            <a:ext cx="4846320" cy="502920"/>
          </a:xfrm>
          <a:prstGeom prst="rect">
            <a:avLst/>
          </a:prstGeom>
          <a:noFill/>
        </p:spPr>
        <p:txBody>
          <a:bodyPr wrap="square" lIns="0" tIns="0" rIns="0" bIns="0" rtlCol="0" anchor="ctr"/>
          <a:lstStyle/>
          <a:p>
            <a:pPr marL="342900" indent="-342900">
              <a:buSzPct val="100000"/>
              <a:buChar char="•"/>
            </a:pPr>
            <a:r>
              <a:rPr lang="en-US" sz="1250" dirty="0">
                <a:solidFill>
                  <a:srgbClr val="26282B"/>
                </a:solidFill>
                <a:latin typeface="Calibri" panose="020F0502020204030204" pitchFamily="34" charset="0"/>
                <a:ea typeface="Calibri" panose="020F0502020204030204" pitchFamily="34" charset="-122"/>
                <a:cs typeface="Calibri" panose="020F0502020204030204" pitchFamily="34" charset="-120"/>
              </a:rPr>
              <a:t>Montant demandé et utilisation prévue</a:t>
            </a:r>
            <a:endParaRPr lang="en-US" sz="1250" dirty="0"/>
          </a:p>
        </p:txBody>
      </p:sp>
      <p:sp>
        <p:nvSpPr>
          <p:cNvPr id="15" name="Shape 13"/>
          <p:cNvSpPr/>
          <p:nvPr/>
        </p:nvSpPr>
        <p:spPr>
          <a:xfrm>
            <a:off x="6199632" y="2240280"/>
            <a:ext cx="5440680" cy="3886200"/>
          </a:xfrm>
          <a:prstGeom prst="roundRect">
            <a:avLst>
              <a:gd name="adj" fmla="val 1882"/>
            </a:avLst>
          </a:prstGeom>
          <a:solidFill>
            <a:srgbClr val="FFFFFF"/>
          </a:solidFill>
          <a:effectLst>
            <a:outerShdw blurRad="101600" dist="38100" dir="5400000" algn="bl" rotWithShape="0">
              <a:srgbClr val="000000">
                <a:alpha val="10000"/>
              </a:srgbClr>
            </a:outerShdw>
          </a:effectLst>
        </p:spPr>
      </p:sp>
      <p:sp>
        <p:nvSpPr>
          <p:cNvPr id="16" name="Text 14"/>
          <p:cNvSpPr/>
          <p:nvPr/>
        </p:nvSpPr>
        <p:spPr>
          <a:xfrm>
            <a:off x="6519672" y="2423160"/>
            <a:ext cx="4846320" cy="320040"/>
          </a:xfrm>
          <a:prstGeom prst="rect">
            <a:avLst/>
          </a:prstGeom>
          <a:noFill/>
        </p:spPr>
        <p:txBody>
          <a:bodyPr wrap="square" lIns="0" tIns="0" rIns="0" bIns="0" rtlCol="0" anchor="ctr"/>
          <a:lstStyle/>
          <a:p>
            <a:pPr marL="0" indent="0" algn="r" rtl="1">
              <a:buNone/>
            </a:pPr>
            <a:r>
              <a:rPr lang="en-US" sz="1300" b="1" dirty="0">
                <a:solidFill>
                  <a:srgbClr val="0F3A5F"/>
                </a:solidFill>
                <a:latin typeface="Shakila" pitchFamily="34" charset="0"/>
                <a:ea typeface="Shakila" pitchFamily="34" charset="-122"/>
                <a:cs typeface="Shakila" pitchFamily="34" charset="-120"/>
              </a:rPr>
              <a:t>:للتعبئة</a:t>
            </a:r>
            <a:endParaRPr lang="en-US" sz="1300" dirty="0"/>
          </a:p>
        </p:txBody>
      </p:sp>
      <p:sp>
        <p:nvSpPr>
          <p:cNvPr id="17" name="Text 15"/>
          <p:cNvSpPr/>
          <p:nvPr/>
        </p:nvSpPr>
        <p:spPr>
          <a:xfrm>
            <a:off x="6519672" y="2834640"/>
            <a:ext cx="4846320" cy="502920"/>
          </a:xfrm>
          <a:prstGeom prst="rect">
            <a:avLst/>
          </a:prstGeom>
          <a:noFill/>
        </p:spPr>
        <p:txBody>
          <a:bodyPr wrap="square" lIns="0" tIns="0" rIns="0" bIns="0" rtlCol="0" anchor="ctr"/>
          <a:lstStyle/>
          <a:p>
            <a:pPr marL="0" indent="0" algn="r" rtl="1">
              <a:buNone/>
            </a:pPr>
            <a:r>
              <a:rPr lang="en-US" sz="1300" dirty="0">
                <a:solidFill>
                  <a:srgbClr val="26282B"/>
                </a:solidFill>
                <a:latin typeface="Shakila" pitchFamily="34" charset="0"/>
                <a:ea typeface="Shakila" pitchFamily="34" charset="-122"/>
                <a:cs typeface="Shakila" pitchFamily="34" charset="-120"/>
              </a:rPr>
              <a:t>اسم المشروع واسم الفريق</a:t>
            </a:r>
            <a:endParaRPr lang="en-US" sz="1300" dirty="0"/>
          </a:p>
        </p:txBody>
      </p:sp>
      <p:sp>
        <p:nvSpPr>
          <p:cNvPr id="18" name="Text 16"/>
          <p:cNvSpPr/>
          <p:nvPr/>
        </p:nvSpPr>
        <p:spPr>
          <a:xfrm>
            <a:off x="6519672" y="3401568"/>
            <a:ext cx="4846320" cy="502920"/>
          </a:xfrm>
          <a:prstGeom prst="rect">
            <a:avLst/>
          </a:prstGeom>
          <a:noFill/>
        </p:spPr>
        <p:txBody>
          <a:bodyPr wrap="square" lIns="0" tIns="0" rIns="0" bIns="0" rtlCol="0" anchor="ctr"/>
          <a:lstStyle/>
          <a:p>
            <a:pPr marL="0" indent="0" algn="r" rtl="1">
              <a:buNone/>
            </a:pPr>
            <a:r>
              <a:rPr lang="en-US" sz="1300" dirty="0">
                <a:solidFill>
                  <a:srgbClr val="26282B"/>
                </a:solidFill>
                <a:latin typeface="Shakila" pitchFamily="34" charset="0"/>
                <a:ea typeface="Shakila" pitchFamily="34" charset="-122"/>
                <a:cs typeface="Shakila" pitchFamily="34" charset="-120"/>
              </a:rPr>
              <a:t>مجال الابتكار </a:t>
            </a:r>
            <a:endParaRPr lang="en-US" sz="1300" dirty="0"/>
          </a:p>
        </p:txBody>
      </p:sp>
      <p:sp>
        <p:nvSpPr>
          <p:cNvPr id="19" name="Text 17"/>
          <p:cNvSpPr/>
          <p:nvPr/>
        </p:nvSpPr>
        <p:spPr>
          <a:xfrm>
            <a:off x="6519672" y="3968496"/>
            <a:ext cx="4846320" cy="502920"/>
          </a:xfrm>
          <a:prstGeom prst="rect">
            <a:avLst/>
          </a:prstGeom>
          <a:noFill/>
        </p:spPr>
        <p:txBody>
          <a:bodyPr wrap="square" lIns="0" tIns="0" rIns="0" bIns="0" rtlCol="0" anchor="ctr"/>
          <a:lstStyle/>
          <a:p>
            <a:pPr marL="0" indent="0" algn="r" rtl="1">
              <a:buNone/>
            </a:pPr>
            <a:r>
              <a:rPr lang="en-US" sz="1300" dirty="0">
                <a:solidFill>
                  <a:srgbClr val="26282B"/>
                </a:solidFill>
                <a:latin typeface="Shakila" pitchFamily="34" charset="0"/>
                <a:ea typeface="Shakila" pitchFamily="34" charset="-122"/>
                <a:cs typeface="Shakila" pitchFamily="34" charset="-120"/>
              </a:rPr>
              <a:t>في جملة واحدة: ما المشكلة التي تحلونها</a:t>
            </a:r>
            <a:endParaRPr lang="en-US" sz="1300" dirty="0"/>
          </a:p>
        </p:txBody>
      </p:sp>
      <p:sp>
        <p:nvSpPr>
          <p:cNvPr id="20" name="Text 18"/>
          <p:cNvSpPr/>
          <p:nvPr/>
        </p:nvSpPr>
        <p:spPr>
          <a:xfrm>
            <a:off x="6519672" y="4535424"/>
            <a:ext cx="4846320" cy="502920"/>
          </a:xfrm>
          <a:prstGeom prst="rect">
            <a:avLst/>
          </a:prstGeom>
          <a:noFill/>
        </p:spPr>
        <p:txBody>
          <a:bodyPr wrap="square" lIns="0" tIns="0" rIns="0" bIns="0" rtlCol="0" anchor="ctr"/>
          <a:lstStyle/>
          <a:p>
            <a:pPr marL="0" indent="0" algn="r" rtl="1">
              <a:buNone/>
            </a:pPr>
            <a:r>
              <a:rPr lang="en-US" sz="1300" dirty="0">
                <a:solidFill>
                  <a:srgbClr val="26282B"/>
                </a:solidFill>
                <a:latin typeface="Shakila" pitchFamily="34" charset="0"/>
                <a:ea typeface="Shakila" pitchFamily="34" charset="-122"/>
                <a:cs typeface="Shakila" pitchFamily="34" charset="-120"/>
              </a:rPr>
              <a:t>المستوى الحالي للنموذج الأولي (TRL)</a:t>
            </a:r>
            <a:endParaRPr lang="en-US" sz="1300" dirty="0"/>
          </a:p>
        </p:txBody>
      </p:sp>
      <p:sp>
        <p:nvSpPr>
          <p:cNvPr id="21" name="Text 19"/>
          <p:cNvSpPr/>
          <p:nvPr/>
        </p:nvSpPr>
        <p:spPr>
          <a:xfrm>
            <a:off x="6519672" y="5102352"/>
            <a:ext cx="4846320" cy="502920"/>
          </a:xfrm>
          <a:prstGeom prst="rect">
            <a:avLst/>
          </a:prstGeom>
          <a:noFill/>
        </p:spPr>
        <p:txBody>
          <a:bodyPr wrap="square" lIns="0" tIns="0" rIns="0" bIns="0" rtlCol="0" anchor="ctr"/>
          <a:lstStyle/>
          <a:p>
            <a:pPr marL="0" indent="0" algn="r" rtl="1">
              <a:buNone/>
            </a:pPr>
            <a:r>
              <a:rPr lang="en-US" sz="1300" dirty="0">
                <a:solidFill>
                  <a:srgbClr val="26282B"/>
                </a:solidFill>
                <a:latin typeface="Shakila" pitchFamily="34" charset="0"/>
                <a:ea typeface="Shakila" pitchFamily="34" charset="-122"/>
                <a:cs typeface="Shakila" pitchFamily="34" charset="-120"/>
              </a:rPr>
              <a:t>المبلغ المطلوب واستخدامه المرتقب</a:t>
            </a:r>
            <a:endParaRPr lang="en-US" sz="1300" dirty="0"/>
          </a:p>
        </p:txBody>
      </p:sp>
      <p:sp>
        <p:nvSpPr>
          <p:cNvPr id="22" name="Text 20"/>
          <p:cNvSpPr/>
          <p:nvPr/>
        </p:nvSpPr>
        <p:spPr>
          <a:xfrm>
            <a:off x="11551615" y="6446520"/>
            <a:ext cx="365760" cy="274320"/>
          </a:xfrm>
          <a:prstGeom prst="rect">
            <a:avLst/>
          </a:prstGeom>
          <a:noFill/>
        </p:spPr>
        <p:txBody>
          <a:bodyPr wrap="square" rtlCol="0" anchor="ctr"/>
          <a:lstStyle/>
          <a:p>
            <a:pPr marL="0" indent="0" algn="r">
              <a:buNone/>
            </a:pPr>
            <a:r>
              <a:rPr lang="en-US" sz="1000" dirty="0">
                <a:solidFill>
                  <a:srgbClr val="6B7178"/>
                </a:solidFill>
                <a:latin typeface="Calibri" panose="020F0502020204030204" pitchFamily="34" charset="0"/>
                <a:ea typeface="Calibri" panose="020F0502020204030204" pitchFamily="34" charset="-122"/>
                <a:cs typeface="Calibri" panose="020F0502020204030204" pitchFamily="34" charset="-120"/>
              </a:rPr>
              <a:t>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2F3"/>
        </a:solidFill>
        <a:effectLst/>
      </p:bgPr>
    </p:bg>
    <p:spTree>
      <p:nvGrpSpPr>
        <p:cNvPr id="1" name=""/>
        <p:cNvGrpSpPr/>
        <p:nvPr/>
      </p:nvGrpSpPr>
      <p:grpSpPr>
        <a:xfrm>
          <a:off x="0" y="0"/>
          <a:ext cx="0" cy="0"/>
          <a:chOff x="0" y="0"/>
          <a:chExt cx="0" cy="0"/>
        </a:xfrm>
      </p:grpSpPr>
      <p:sp>
        <p:nvSpPr>
          <p:cNvPr id="2" name="Shape 0"/>
          <p:cNvSpPr/>
          <p:nvPr/>
        </p:nvSpPr>
        <p:spPr>
          <a:xfrm>
            <a:off x="548640" y="457200"/>
            <a:ext cx="3108960" cy="384048"/>
          </a:xfrm>
          <a:prstGeom prst="roundRect">
            <a:avLst>
              <a:gd name="adj" fmla="val 19048"/>
            </a:avLst>
          </a:prstGeom>
          <a:solidFill>
            <a:srgbClr val="E07B2A"/>
          </a:solidFill>
        </p:spPr>
      </p:sp>
      <p:sp>
        <p:nvSpPr>
          <p:cNvPr id="3" name="Text 1"/>
          <p:cNvSpPr/>
          <p:nvPr/>
        </p:nvSpPr>
        <p:spPr>
          <a:xfrm>
            <a:off x="548640" y="457200"/>
            <a:ext cx="3108960" cy="384048"/>
          </a:xfrm>
          <a:prstGeom prst="rect">
            <a:avLst/>
          </a:prstGeom>
          <a:noFill/>
        </p:spPr>
        <p:txBody>
          <a:bodyPr wrap="square" lIns="0" tIns="0" rIns="0" bIns="0" rtlCol="0" anchor="ctr"/>
          <a:lstStyle/>
          <a:p>
            <a:pPr marL="0" indent="0" algn="ctr">
              <a:buNone/>
            </a:pPr>
            <a:r>
              <a:rPr lang="en-US" sz="1200" b="1" dirty="0">
                <a:solidFill>
                  <a:srgbClr val="0F3A5F"/>
                </a:solidFill>
                <a:latin typeface="Calibri" panose="020F0502020204030204" pitchFamily="34" charset="0"/>
                <a:ea typeface="Calibri" panose="020F0502020204030204" pitchFamily="34" charset="-122"/>
                <a:cs typeface="Calibri" panose="020F0502020204030204" pitchFamily="34" charset="-120"/>
              </a:rPr>
              <a:t>02 · PROBLÈME &amp; BESOIN</a:t>
            </a:r>
            <a:endParaRPr lang="en-US" sz="1200" dirty="0"/>
          </a:p>
        </p:txBody>
      </p:sp>
      <p:sp>
        <p:nvSpPr>
          <p:cNvPr id="4" name="Shape 2"/>
          <p:cNvSpPr/>
          <p:nvPr/>
        </p:nvSpPr>
        <p:spPr>
          <a:xfrm>
            <a:off x="8534095" y="457200"/>
            <a:ext cx="3108960" cy="384048"/>
          </a:xfrm>
          <a:prstGeom prst="roundRect">
            <a:avLst>
              <a:gd name="adj" fmla="val 19048"/>
            </a:avLst>
          </a:prstGeom>
          <a:solidFill>
            <a:srgbClr val="E07B2A"/>
          </a:solidFill>
        </p:spPr>
      </p:sp>
      <p:sp>
        <p:nvSpPr>
          <p:cNvPr id="5" name="Text 3"/>
          <p:cNvSpPr/>
          <p:nvPr/>
        </p:nvSpPr>
        <p:spPr>
          <a:xfrm>
            <a:off x="8534095" y="457200"/>
            <a:ext cx="3108960" cy="384048"/>
          </a:xfrm>
          <a:prstGeom prst="rect">
            <a:avLst/>
          </a:prstGeom>
          <a:noFill/>
        </p:spPr>
        <p:txBody>
          <a:bodyPr wrap="square" lIns="0" tIns="0" rIns="0" bIns="0" rtlCol="0" anchor="ctr"/>
          <a:lstStyle/>
          <a:p>
            <a:pPr marL="0" indent="0" algn="ctr" rtl="1">
              <a:buNone/>
            </a:pPr>
            <a:r>
              <a:rPr lang="en-US" sz="1300" b="1" dirty="0">
                <a:solidFill>
                  <a:srgbClr val="0F3A5F"/>
                </a:solidFill>
                <a:latin typeface="Shakila" pitchFamily="34" charset="0"/>
                <a:ea typeface="Shakila" pitchFamily="34" charset="-122"/>
                <a:cs typeface="Shakila" pitchFamily="34" charset="-120"/>
              </a:rPr>
              <a:t>المشكلة والحاجة</a:t>
            </a:r>
            <a:endParaRPr lang="en-US" sz="1300" dirty="0"/>
          </a:p>
        </p:txBody>
      </p:sp>
      <p:sp>
        <p:nvSpPr>
          <p:cNvPr id="6" name="Text 4"/>
          <p:cNvSpPr/>
          <p:nvPr/>
        </p:nvSpPr>
        <p:spPr>
          <a:xfrm>
            <a:off x="548640" y="960120"/>
            <a:ext cx="11094415" cy="548640"/>
          </a:xfrm>
          <a:prstGeom prst="rect">
            <a:avLst/>
          </a:prstGeom>
          <a:noFill/>
        </p:spPr>
        <p:txBody>
          <a:bodyPr wrap="square" lIns="0" tIns="0" rIns="0" bIns="0" rtlCol="0" anchor="ctr"/>
          <a:lstStyle/>
          <a:p>
            <a:pPr marL="0" indent="0" algn="l">
              <a:buNone/>
            </a:pPr>
            <a:r>
              <a:rPr lang="en-US" sz="3000" b="1" dirty="0">
                <a:solidFill>
                  <a:srgbClr val="0F3A5F"/>
                </a:solidFill>
                <a:latin typeface="Cambria" panose="02040503050406030204" pitchFamily="34" charset="0"/>
                <a:ea typeface="Cambria" panose="02040503050406030204" pitchFamily="34" charset="-122"/>
                <a:cs typeface="Cambria" panose="02040503050406030204" pitchFamily="34" charset="-120"/>
              </a:rPr>
              <a:t>Le problème et le besoin</a:t>
            </a:r>
            <a:endParaRPr lang="en-US" sz="3000" dirty="0"/>
          </a:p>
        </p:txBody>
      </p:sp>
      <p:sp>
        <p:nvSpPr>
          <p:cNvPr id="7" name="Text 5"/>
          <p:cNvSpPr/>
          <p:nvPr/>
        </p:nvSpPr>
        <p:spPr>
          <a:xfrm>
            <a:off x="548640" y="1463040"/>
            <a:ext cx="11094415" cy="457200"/>
          </a:xfrm>
          <a:prstGeom prst="rect">
            <a:avLst/>
          </a:prstGeom>
          <a:noFill/>
        </p:spPr>
        <p:txBody>
          <a:bodyPr wrap="square" lIns="0" tIns="0" rIns="0" bIns="0" rtlCol="0" anchor="ctr"/>
          <a:lstStyle/>
          <a:p>
            <a:pPr marL="0" indent="0" algn="r" rtl="1">
              <a:buNone/>
            </a:pPr>
            <a:r>
              <a:rPr lang="en-US" sz="2200" b="1" dirty="0">
                <a:solidFill>
                  <a:srgbClr val="6B7178"/>
                </a:solidFill>
                <a:latin typeface="Shakila" pitchFamily="34" charset="0"/>
                <a:ea typeface="Shakila" pitchFamily="34" charset="-122"/>
                <a:cs typeface="Shakila" pitchFamily="34" charset="-120"/>
              </a:rPr>
              <a:t>المشكلة والحاجة</a:t>
            </a:r>
            <a:endParaRPr lang="en-US" sz="2200" dirty="0"/>
          </a:p>
        </p:txBody>
      </p:sp>
      <p:sp>
        <p:nvSpPr>
          <p:cNvPr id="8" name="Shape 6"/>
          <p:cNvSpPr/>
          <p:nvPr/>
        </p:nvSpPr>
        <p:spPr>
          <a:xfrm>
            <a:off x="548640" y="2194560"/>
            <a:ext cx="11094415" cy="914400"/>
          </a:xfrm>
          <a:prstGeom prst="roundRect">
            <a:avLst>
              <a:gd name="adj" fmla="val 7000"/>
            </a:avLst>
          </a:prstGeom>
          <a:solidFill>
            <a:srgbClr val="FFFFFF"/>
          </a:solidFill>
          <a:effectLst>
            <a:outerShdw blurRad="76200" dist="25400" dir="5400000" algn="bl" rotWithShape="0">
              <a:srgbClr val="000000">
                <a:alpha val="8000"/>
              </a:srgbClr>
            </a:outerShdw>
          </a:effectLst>
        </p:spPr>
      </p:sp>
      <p:sp>
        <p:nvSpPr>
          <p:cNvPr id="9" name="Shape 7"/>
          <p:cNvSpPr/>
          <p:nvPr/>
        </p:nvSpPr>
        <p:spPr>
          <a:xfrm>
            <a:off x="777240" y="2423160"/>
            <a:ext cx="457200" cy="457200"/>
          </a:xfrm>
          <a:prstGeom prst="ellipse">
            <a:avLst/>
          </a:prstGeom>
          <a:solidFill>
            <a:srgbClr val="E07B2A"/>
          </a:solidFill>
        </p:spPr>
      </p:sp>
      <p:sp>
        <p:nvSpPr>
          <p:cNvPr id="10" name="Text 8"/>
          <p:cNvSpPr/>
          <p:nvPr/>
        </p:nvSpPr>
        <p:spPr>
          <a:xfrm>
            <a:off x="777240" y="2423160"/>
            <a:ext cx="457200" cy="457200"/>
          </a:xfrm>
          <a:prstGeom prst="rect">
            <a:avLst/>
          </a:prstGeom>
          <a:noFill/>
        </p:spPr>
        <p:txBody>
          <a:bodyPr wrap="square" lIns="0" tIns="0" rIns="0" bIns="0" rtlCol="0" anchor="ctr"/>
          <a:lstStyle/>
          <a:p>
            <a:pPr marL="0" indent="0" algn="ctr">
              <a:buNone/>
            </a:pPr>
            <a:r>
              <a:rPr lang="en-US" sz="1600" b="1" dirty="0">
                <a:solidFill>
                  <a:srgbClr val="0F3A5F"/>
                </a:solidFill>
                <a:latin typeface="Cambria" panose="02040503050406030204" pitchFamily="34" charset="0"/>
                <a:ea typeface="Cambria" panose="02040503050406030204" pitchFamily="34" charset="-122"/>
                <a:cs typeface="Cambria" panose="02040503050406030204" pitchFamily="34" charset="-120"/>
              </a:rPr>
              <a:t>1</a:t>
            </a:r>
            <a:endParaRPr lang="en-US" sz="1600" dirty="0"/>
          </a:p>
        </p:txBody>
      </p:sp>
      <p:sp>
        <p:nvSpPr>
          <p:cNvPr id="11" name="Text 9"/>
          <p:cNvSpPr/>
          <p:nvPr/>
        </p:nvSpPr>
        <p:spPr>
          <a:xfrm>
            <a:off x="1417320" y="2267712"/>
            <a:ext cx="5074920" cy="768096"/>
          </a:xfrm>
          <a:prstGeom prst="rect">
            <a:avLst/>
          </a:prstGeom>
          <a:noFill/>
        </p:spPr>
        <p:txBody>
          <a:bodyPr wrap="square" lIns="0" tIns="0" rIns="0" bIns="0" rtlCol="0" anchor="ctr"/>
          <a:lstStyle/>
          <a:p>
            <a:pPr marL="0" indent="0">
              <a:buNone/>
            </a:pPr>
            <a:r>
              <a:rPr lang="en-US" sz="1200" dirty="0">
                <a:solidFill>
                  <a:srgbClr val="26282B"/>
                </a:solidFill>
                <a:latin typeface="Calibri" panose="020F0502020204030204" pitchFamily="34" charset="0"/>
                <a:ea typeface="Calibri" panose="020F0502020204030204" pitchFamily="34" charset="-122"/>
                <a:cs typeface="Calibri" panose="020F0502020204030204" pitchFamily="34" charset="-120"/>
              </a:rPr>
              <a:t>Quel problème concret rencontre votre client/utilisateur ?</a:t>
            </a:r>
            <a:endParaRPr lang="en-US" sz="1200" dirty="0"/>
          </a:p>
        </p:txBody>
      </p:sp>
      <p:sp>
        <p:nvSpPr>
          <p:cNvPr id="12" name="Text 10"/>
          <p:cNvSpPr/>
          <p:nvPr/>
        </p:nvSpPr>
        <p:spPr>
          <a:xfrm>
            <a:off x="6583680" y="2267712"/>
            <a:ext cx="5074920" cy="768096"/>
          </a:xfrm>
          <a:prstGeom prst="rect">
            <a:avLst/>
          </a:prstGeom>
          <a:noFill/>
        </p:spPr>
        <p:txBody>
          <a:bodyPr wrap="square" lIns="0" tIns="0" rIns="0" bIns="0" rtlCol="0" anchor="ctr"/>
          <a:lstStyle/>
          <a:p>
            <a:pPr marL="0" indent="0" algn="r" rtl="1">
              <a:buNone/>
            </a:pPr>
            <a:r>
              <a:rPr lang="en-US" sz="1250" dirty="0">
                <a:solidFill>
                  <a:srgbClr val="6B7178"/>
                </a:solidFill>
                <a:latin typeface="Shakila" pitchFamily="34" charset="0"/>
                <a:ea typeface="Shakila" pitchFamily="34" charset="-122"/>
                <a:cs typeface="Shakila" pitchFamily="34" charset="-120"/>
              </a:rPr>
              <a:t>ما المشكلة الملموسة التي يواجهها العميل أو المستخدم؟</a:t>
            </a:r>
            <a:endParaRPr lang="en-US" sz="1250" dirty="0"/>
          </a:p>
        </p:txBody>
      </p:sp>
      <p:sp>
        <p:nvSpPr>
          <p:cNvPr id="13" name="Shape 11"/>
          <p:cNvSpPr/>
          <p:nvPr/>
        </p:nvSpPr>
        <p:spPr>
          <a:xfrm>
            <a:off x="548640" y="3273552"/>
            <a:ext cx="11094415" cy="914400"/>
          </a:xfrm>
          <a:prstGeom prst="roundRect">
            <a:avLst>
              <a:gd name="adj" fmla="val 7000"/>
            </a:avLst>
          </a:prstGeom>
          <a:solidFill>
            <a:srgbClr val="FFFFFF"/>
          </a:solidFill>
          <a:effectLst>
            <a:outerShdw blurRad="76200" dist="25400" dir="5400000" algn="bl" rotWithShape="0">
              <a:srgbClr val="000000">
                <a:alpha val="8000"/>
              </a:srgbClr>
            </a:outerShdw>
          </a:effectLst>
        </p:spPr>
      </p:sp>
      <p:sp>
        <p:nvSpPr>
          <p:cNvPr id="14" name="Shape 12"/>
          <p:cNvSpPr/>
          <p:nvPr/>
        </p:nvSpPr>
        <p:spPr>
          <a:xfrm>
            <a:off x="777240" y="3502152"/>
            <a:ext cx="457200" cy="457200"/>
          </a:xfrm>
          <a:prstGeom prst="ellipse">
            <a:avLst/>
          </a:prstGeom>
          <a:solidFill>
            <a:srgbClr val="E07B2A"/>
          </a:solidFill>
        </p:spPr>
      </p:sp>
      <p:sp>
        <p:nvSpPr>
          <p:cNvPr id="15" name="Text 13"/>
          <p:cNvSpPr/>
          <p:nvPr/>
        </p:nvSpPr>
        <p:spPr>
          <a:xfrm>
            <a:off x="777240" y="3502152"/>
            <a:ext cx="457200" cy="457200"/>
          </a:xfrm>
          <a:prstGeom prst="rect">
            <a:avLst/>
          </a:prstGeom>
          <a:noFill/>
        </p:spPr>
        <p:txBody>
          <a:bodyPr wrap="square" lIns="0" tIns="0" rIns="0" bIns="0" rtlCol="0" anchor="ctr"/>
          <a:lstStyle/>
          <a:p>
            <a:pPr marL="0" indent="0" algn="ctr">
              <a:buNone/>
            </a:pPr>
            <a:r>
              <a:rPr lang="en-US" sz="1600" b="1" dirty="0">
                <a:solidFill>
                  <a:srgbClr val="0F3A5F"/>
                </a:solidFill>
                <a:latin typeface="Cambria" panose="02040503050406030204" pitchFamily="34" charset="0"/>
                <a:ea typeface="Cambria" panose="02040503050406030204" pitchFamily="34" charset="-122"/>
                <a:cs typeface="Cambria" panose="02040503050406030204" pitchFamily="34" charset="-120"/>
              </a:rPr>
              <a:t>2</a:t>
            </a:r>
            <a:endParaRPr lang="en-US" sz="1600" dirty="0"/>
          </a:p>
        </p:txBody>
      </p:sp>
      <p:sp>
        <p:nvSpPr>
          <p:cNvPr id="16" name="Text 14"/>
          <p:cNvSpPr/>
          <p:nvPr/>
        </p:nvSpPr>
        <p:spPr>
          <a:xfrm>
            <a:off x="1417320" y="3346704"/>
            <a:ext cx="5074920" cy="768096"/>
          </a:xfrm>
          <a:prstGeom prst="rect">
            <a:avLst/>
          </a:prstGeom>
          <a:noFill/>
        </p:spPr>
        <p:txBody>
          <a:bodyPr wrap="square" lIns="0" tIns="0" rIns="0" bIns="0" rtlCol="0" anchor="ctr"/>
          <a:lstStyle/>
          <a:p>
            <a:pPr marL="0" indent="0">
              <a:buNone/>
            </a:pPr>
            <a:r>
              <a:rPr lang="en-US" sz="1200" dirty="0">
                <a:solidFill>
                  <a:srgbClr val="26282B"/>
                </a:solidFill>
                <a:latin typeface="Calibri" panose="020F0502020204030204" pitchFamily="34" charset="0"/>
                <a:ea typeface="Calibri" panose="020F0502020204030204" pitchFamily="34" charset="-122"/>
                <a:cs typeface="Calibri" panose="020F0502020204030204" pitchFamily="34" charset="-120"/>
              </a:rPr>
              <a:t>Quelle est l'ampleur de ce problème (combien de personnes/entreprises touchées) ?</a:t>
            </a:r>
            <a:endParaRPr lang="en-US" sz="1200" dirty="0"/>
          </a:p>
        </p:txBody>
      </p:sp>
      <p:sp>
        <p:nvSpPr>
          <p:cNvPr id="17" name="Text 15"/>
          <p:cNvSpPr/>
          <p:nvPr/>
        </p:nvSpPr>
        <p:spPr>
          <a:xfrm>
            <a:off x="6583680" y="3346704"/>
            <a:ext cx="5074920" cy="768096"/>
          </a:xfrm>
          <a:prstGeom prst="rect">
            <a:avLst/>
          </a:prstGeom>
          <a:noFill/>
        </p:spPr>
        <p:txBody>
          <a:bodyPr wrap="square" lIns="0" tIns="0" rIns="0" bIns="0" rtlCol="0" anchor="ctr"/>
          <a:lstStyle/>
          <a:p>
            <a:pPr marL="0" indent="0" algn="r" rtl="1">
              <a:buNone/>
            </a:pPr>
            <a:r>
              <a:rPr lang="en-US" sz="1250" dirty="0">
                <a:solidFill>
                  <a:srgbClr val="6B7178"/>
                </a:solidFill>
                <a:latin typeface="Shakila" pitchFamily="34" charset="0"/>
                <a:ea typeface="Shakila" pitchFamily="34" charset="-122"/>
                <a:cs typeface="Shakila" pitchFamily="34" charset="-120"/>
              </a:rPr>
              <a:t>ما حجم هذه المشكلة (عدد الأشخاص أو المؤسسات المتأثرة)؟</a:t>
            </a:r>
            <a:endParaRPr lang="en-US" sz="1250" dirty="0"/>
          </a:p>
        </p:txBody>
      </p:sp>
      <p:sp>
        <p:nvSpPr>
          <p:cNvPr id="18" name="Shape 16"/>
          <p:cNvSpPr/>
          <p:nvPr/>
        </p:nvSpPr>
        <p:spPr>
          <a:xfrm>
            <a:off x="548640" y="4352544"/>
            <a:ext cx="11094415" cy="914400"/>
          </a:xfrm>
          <a:prstGeom prst="roundRect">
            <a:avLst>
              <a:gd name="adj" fmla="val 7000"/>
            </a:avLst>
          </a:prstGeom>
          <a:solidFill>
            <a:srgbClr val="FFFFFF"/>
          </a:solidFill>
          <a:effectLst>
            <a:outerShdw blurRad="76200" dist="25400" dir="5400000" algn="bl" rotWithShape="0">
              <a:srgbClr val="000000">
                <a:alpha val="8000"/>
              </a:srgbClr>
            </a:outerShdw>
          </a:effectLst>
        </p:spPr>
      </p:sp>
      <p:sp>
        <p:nvSpPr>
          <p:cNvPr id="19" name="Shape 17"/>
          <p:cNvSpPr/>
          <p:nvPr/>
        </p:nvSpPr>
        <p:spPr>
          <a:xfrm>
            <a:off x="777240" y="4581144"/>
            <a:ext cx="457200" cy="457200"/>
          </a:xfrm>
          <a:prstGeom prst="ellipse">
            <a:avLst/>
          </a:prstGeom>
          <a:solidFill>
            <a:srgbClr val="E07B2A"/>
          </a:solidFill>
        </p:spPr>
      </p:sp>
      <p:sp>
        <p:nvSpPr>
          <p:cNvPr id="20" name="Text 18"/>
          <p:cNvSpPr/>
          <p:nvPr/>
        </p:nvSpPr>
        <p:spPr>
          <a:xfrm>
            <a:off x="777240" y="4581144"/>
            <a:ext cx="457200" cy="457200"/>
          </a:xfrm>
          <a:prstGeom prst="rect">
            <a:avLst/>
          </a:prstGeom>
          <a:noFill/>
        </p:spPr>
        <p:txBody>
          <a:bodyPr wrap="square" lIns="0" tIns="0" rIns="0" bIns="0" rtlCol="0" anchor="ctr"/>
          <a:lstStyle/>
          <a:p>
            <a:pPr marL="0" indent="0" algn="ctr">
              <a:buNone/>
            </a:pPr>
            <a:r>
              <a:rPr lang="en-US" sz="1600" b="1" dirty="0">
                <a:solidFill>
                  <a:srgbClr val="0F3A5F"/>
                </a:solidFill>
                <a:latin typeface="Cambria" panose="02040503050406030204" pitchFamily="34" charset="0"/>
                <a:ea typeface="Cambria" panose="02040503050406030204" pitchFamily="34" charset="-122"/>
                <a:cs typeface="Cambria" panose="02040503050406030204" pitchFamily="34" charset="-120"/>
              </a:rPr>
              <a:t>3</a:t>
            </a:r>
            <a:endParaRPr lang="en-US" sz="1600" dirty="0"/>
          </a:p>
        </p:txBody>
      </p:sp>
      <p:sp>
        <p:nvSpPr>
          <p:cNvPr id="21" name="Text 19"/>
          <p:cNvSpPr/>
          <p:nvPr/>
        </p:nvSpPr>
        <p:spPr>
          <a:xfrm>
            <a:off x="1417320" y="4425696"/>
            <a:ext cx="5074920" cy="768096"/>
          </a:xfrm>
          <a:prstGeom prst="rect">
            <a:avLst/>
          </a:prstGeom>
          <a:noFill/>
        </p:spPr>
        <p:txBody>
          <a:bodyPr wrap="square" lIns="0" tIns="0" rIns="0" bIns="0" rtlCol="0" anchor="ctr"/>
          <a:lstStyle/>
          <a:p>
            <a:pPr marL="0" indent="0">
              <a:buNone/>
            </a:pPr>
            <a:r>
              <a:rPr lang="en-US" sz="1200" dirty="0">
                <a:solidFill>
                  <a:srgbClr val="26282B"/>
                </a:solidFill>
                <a:latin typeface="Calibri" panose="020F0502020204030204" pitchFamily="34" charset="0"/>
                <a:ea typeface="Calibri" panose="020F0502020204030204" pitchFamily="34" charset="-122"/>
                <a:cs typeface="Calibri" panose="020F0502020204030204" pitchFamily="34" charset="-120"/>
              </a:rPr>
              <a:t>Comment ce besoin est-il satisfait aujourd'hui, et pourquoi est-ce insuffisant ?</a:t>
            </a:r>
            <a:endParaRPr lang="en-US" sz="1200" dirty="0"/>
          </a:p>
        </p:txBody>
      </p:sp>
      <p:sp>
        <p:nvSpPr>
          <p:cNvPr id="22" name="Text 20"/>
          <p:cNvSpPr/>
          <p:nvPr/>
        </p:nvSpPr>
        <p:spPr>
          <a:xfrm>
            <a:off x="6583680" y="4425696"/>
            <a:ext cx="5074920" cy="768096"/>
          </a:xfrm>
          <a:prstGeom prst="rect">
            <a:avLst/>
          </a:prstGeom>
          <a:noFill/>
        </p:spPr>
        <p:txBody>
          <a:bodyPr wrap="square" lIns="0" tIns="0" rIns="0" bIns="0" rtlCol="0" anchor="ctr"/>
          <a:lstStyle/>
          <a:p>
            <a:pPr marL="0" indent="0" algn="r" rtl="1">
              <a:buNone/>
            </a:pPr>
            <a:r>
              <a:rPr lang="en-US" sz="1250" dirty="0">
                <a:solidFill>
                  <a:srgbClr val="6B7178"/>
                </a:solidFill>
                <a:latin typeface="Shakila" pitchFamily="34" charset="0"/>
                <a:ea typeface="Shakila" pitchFamily="34" charset="-122"/>
                <a:cs typeface="Shakila" pitchFamily="34" charset="-120"/>
              </a:rPr>
              <a:t>كيف تتم تلبية هذه الحاجة حاليًا، ولماذا تعتبر غير كافية؟</a:t>
            </a:r>
            <a:endParaRPr lang="en-US" sz="1250" dirty="0"/>
          </a:p>
        </p:txBody>
      </p:sp>
      <p:sp>
        <p:nvSpPr>
          <p:cNvPr id="23" name="Shape 21"/>
          <p:cNvSpPr/>
          <p:nvPr/>
        </p:nvSpPr>
        <p:spPr>
          <a:xfrm>
            <a:off x="548640" y="5431536"/>
            <a:ext cx="11094415" cy="914400"/>
          </a:xfrm>
          <a:prstGeom prst="roundRect">
            <a:avLst>
              <a:gd name="adj" fmla="val 7000"/>
            </a:avLst>
          </a:prstGeom>
          <a:solidFill>
            <a:srgbClr val="FFFFFF"/>
          </a:solidFill>
          <a:effectLst>
            <a:outerShdw blurRad="76200" dist="25400" dir="5400000" algn="bl" rotWithShape="0">
              <a:srgbClr val="000000">
                <a:alpha val="8000"/>
              </a:srgbClr>
            </a:outerShdw>
          </a:effectLst>
        </p:spPr>
      </p:sp>
      <p:sp>
        <p:nvSpPr>
          <p:cNvPr id="24" name="Shape 22"/>
          <p:cNvSpPr/>
          <p:nvPr/>
        </p:nvSpPr>
        <p:spPr>
          <a:xfrm>
            <a:off x="777240" y="5660136"/>
            <a:ext cx="457200" cy="457200"/>
          </a:xfrm>
          <a:prstGeom prst="ellipse">
            <a:avLst/>
          </a:prstGeom>
          <a:solidFill>
            <a:srgbClr val="E07B2A"/>
          </a:solidFill>
        </p:spPr>
      </p:sp>
      <p:sp>
        <p:nvSpPr>
          <p:cNvPr id="25" name="Text 23"/>
          <p:cNvSpPr/>
          <p:nvPr/>
        </p:nvSpPr>
        <p:spPr>
          <a:xfrm>
            <a:off x="777240" y="5660136"/>
            <a:ext cx="457200" cy="457200"/>
          </a:xfrm>
          <a:prstGeom prst="rect">
            <a:avLst/>
          </a:prstGeom>
          <a:noFill/>
        </p:spPr>
        <p:txBody>
          <a:bodyPr wrap="square" lIns="0" tIns="0" rIns="0" bIns="0" rtlCol="0" anchor="ctr"/>
          <a:lstStyle/>
          <a:p>
            <a:pPr marL="0" indent="0" algn="ctr">
              <a:buNone/>
            </a:pPr>
            <a:r>
              <a:rPr lang="en-US" sz="1600" b="1" dirty="0">
                <a:solidFill>
                  <a:srgbClr val="0F3A5F"/>
                </a:solidFill>
                <a:latin typeface="Cambria" panose="02040503050406030204" pitchFamily="34" charset="0"/>
                <a:ea typeface="Cambria" panose="02040503050406030204" pitchFamily="34" charset="-122"/>
                <a:cs typeface="Cambria" panose="02040503050406030204" pitchFamily="34" charset="-120"/>
              </a:rPr>
              <a:t>4</a:t>
            </a:r>
            <a:endParaRPr lang="en-US" sz="1600" dirty="0"/>
          </a:p>
        </p:txBody>
      </p:sp>
      <p:sp>
        <p:nvSpPr>
          <p:cNvPr id="26" name="Text 24"/>
          <p:cNvSpPr/>
          <p:nvPr/>
        </p:nvSpPr>
        <p:spPr>
          <a:xfrm>
            <a:off x="1417320" y="5504688"/>
            <a:ext cx="5074920" cy="768096"/>
          </a:xfrm>
          <a:prstGeom prst="rect">
            <a:avLst/>
          </a:prstGeom>
          <a:noFill/>
        </p:spPr>
        <p:txBody>
          <a:bodyPr wrap="square" lIns="0" tIns="0" rIns="0" bIns="0" rtlCol="0" anchor="ctr"/>
          <a:lstStyle/>
          <a:p>
            <a:pPr marL="0" indent="0">
              <a:buNone/>
            </a:pPr>
            <a:r>
              <a:rPr lang="en-US" sz="1200" dirty="0">
                <a:solidFill>
                  <a:srgbClr val="26282B"/>
                </a:solidFill>
                <a:latin typeface="Calibri" panose="020F0502020204030204" pitchFamily="34" charset="0"/>
                <a:ea typeface="Calibri" panose="020F0502020204030204" pitchFamily="34" charset="-122"/>
                <a:cs typeface="Calibri" panose="020F0502020204030204" pitchFamily="34" charset="-120"/>
              </a:rPr>
              <a:t>Quelles preuves avez-vous collectées (enquêtes, entretiens, données) ?</a:t>
            </a:r>
            <a:endParaRPr lang="en-US" sz="1200" dirty="0"/>
          </a:p>
        </p:txBody>
      </p:sp>
      <p:sp>
        <p:nvSpPr>
          <p:cNvPr id="27" name="Text 25"/>
          <p:cNvSpPr/>
          <p:nvPr/>
        </p:nvSpPr>
        <p:spPr>
          <a:xfrm>
            <a:off x="6583680" y="5504688"/>
            <a:ext cx="5074920" cy="768096"/>
          </a:xfrm>
          <a:prstGeom prst="rect">
            <a:avLst/>
          </a:prstGeom>
          <a:noFill/>
        </p:spPr>
        <p:txBody>
          <a:bodyPr wrap="square" lIns="0" tIns="0" rIns="0" bIns="0" rtlCol="0" anchor="ctr"/>
          <a:lstStyle/>
          <a:p>
            <a:pPr marL="0" indent="0" algn="r" rtl="1">
              <a:buNone/>
            </a:pPr>
            <a:r>
              <a:rPr lang="en-US" sz="1250" dirty="0">
                <a:solidFill>
                  <a:srgbClr val="6B7178"/>
                </a:solidFill>
                <a:latin typeface="Shakila" pitchFamily="34" charset="0"/>
                <a:ea typeface="Shakila" pitchFamily="34" charset="-122"/>
                <a:cs typeface="Shakila" pitchFamily="34" charset="-120"/>
              </a:rPr>
              <a:t>ما الأدلة التي جمعتموها (استبيانات، مقابلات، بيانات)؟</a:t>
            </a:r>
            <a:endParaRPr lang="en-US" sz="1250" dirty="0"/>
          </a:p>
        </p:txBody>
      </p:sp>
      <p:sp>
        <p:nvSpPr>
          <p:cNvPr id="28" name="Text 26"/>
          <p:cNvSpPr/>
          <p:nvPr/>
        </p:nvSpPr>
        <p:spPr>
          <a:xfrm>
            <a:off x="11551615" y="6446520"/>
            <a:ext cx="365760" cy="274320"/>
          </a:xfrm>
          <a:prstGeom prst="rect">
            <a:avLst/>
          </a:prstGeom>
          <a:noFill/>
        </p:spPr>
        <p:txBody>
          <a:bodyPr wrap="square" rtlCol="0" anchor="ctr"/>
          <a:lstStyle/>
          <a:p>
            <a:pPr marL="0" indent="0" algn="r">
              <a:buNone/>
            </a:pPr>
            <a:r>
              <a:rPr lang="en-US" sz="1000" dirty="0">
                <a:solidFill>
                  <a:srgbClr val="6B7178"/>
                </a:solidFill>
                <a:latin typeface="Calibri" panose="020F0502020204030204" pitchFamily="34" charset="0"/>
                <a:ea typeface="Calibri" panose="020F0502020204030204" pitchFamily="34" charset="-122"/>
                <a:cs typeface="Calibri" panose="020F0502020204030204" pitchFamily="34" charset="-120"/>
              </a:rPr>
              <a:t>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2F3"/>
        </a:solidFill>
        <a:effectLst/>
      </p:bgPr>
    </p:bg>
    <p:spTree>
      <p:nvGrpSpPr>
        <p:cNvPr id="1" name=""/>
        <p:cNvGrpSpPr/>
        <p:nvPr/>
      </p:nvGrpSpPr>
      <p:grpSpPr>
        <a:xfrm>
          <a:off x="0" y="0"/>
          <a:ext cx="0" cy="0"/>
          <a:chOff x="0" y="0"/>
          <a:chExt cx="0" cy="0"/>
        </a:xfrm>
      </p:grpSpPr>
      <p:sp>
        <p:nvSpPr>
          <p:cNvPr id="2" name="Shape 0"/>
          <p:cNvSpPr/>
          <p:nvPr/>
        </p:nvSpPr>
        <p:spPr>
          <a:xfrm>
            <a:off x="548640" y="457200"/>
            <a:ext cx="3108960" cy="384048"/>
          </a:xfrm>
          <a:prstGeom prst="roundRect">
            <a:avLst>
              <a:gd name="adj" fmla="val 19048"/>
            </a:avLst>
          </a:prstGeom>
          <a:solidFill>
            <a:srgbClr val="E07B2A"/>
          </a:solidFill>
        </p:spPr>
      </p:sp>
      <p:sp>
        <p:nvSpPr>
          <p:cNvPr id="3" name="Text 1"/>
          <p:cNvSpPr/>
          <p:nvPr/>
        </p:nvSpPr>
        <p:spPr>
          <a:xfrm>
            <a:off x="548640" y="457200"/>
            <a:ext cx="3108960" cy="384048"/>
          </a:xfrm>
          <a:prstGeom prst="rect">
            <a:avLst/>
          </a:prstGeom>
          <a:noFill/>
        </p:spPr>
        <p:txBody>
          <a:bodyPr wrap="square" lIns="0" tIns="0" rIns="0" bIns="0" rtlCol="0" anchor="ctr"/>
          <a:lstStyle/>
          <a:p>
            <a:pPr marL="0" indent="0" algn="ctr">
              <a:buNone/>
            </a:pPr>
            <a:r>
              <a:rPr lang="en-US" sz="1200" b="1" dirty="0">
                <a:solidFill>
                  <a:srgbClr val="0F3A5F"/>
                </a:solidFill>
                <a:latin typeface="Calibri" panose="020F0502020204030204" pitchFamily="34" charset="0"/>
                <a:ea typeface="Calibri" panose="020F0502020204030204" pitchFamily="34" charset="-122"/>
                <a:cs typeface="Calibri" panose="020F0502020204030204" pitchFamily="34" charset="-120"/>
              </a:rPr>
              <a:t>03 · SOLUTION</a:t>
            </a:r>
            <a:endParaRPr lang="en-US" sz="1200" dirty="0"/>
          </a:p>
        </p:txBody>
      </p:sp>
      <p:sp>
        <p:nvSpPr>
          <p:cNvPr id="4" name="Shape 2"/>
          <p:cNvSpPr/>
          <p:nvPr/>
        </p:nvSpPr>
        <p:spPr>
          <a:xfrm>
            <a:off x="8534095" y="457200"/>
            <a:ext cx="3108960" cy="384048"/>
          </a:xfrm>
          <a:prstGeom prst="roundRect">
            <a:avLst>
              <a:gd name="adj" fmla="val 19048"/>
            </a:avLst>
          </a:prstGeom>
          <a:solidFill>
            <a:srgbClr val="E07B2A"/>
          </a:solidFill>
        </p:spPr>
      </p:sp>
      <p:sp>
        <p:nvSpPr>
          <p:cNvPr id="5" name="Text 3"/>
          <p:cNvSpPr/>
          <p:nvPr/>
        </p:nvSpPr>
        <p:spPr>
          <a:xfrm>
            <a:off x="8534095" y="457200"/>
            <a:ext cx="3108960" cy="384048"/>
          </a:xfrm>
          <a:prstGeom prst="rect">
            <a:avLst/>
          </a:prstGeom>
          <a:noFill/>
        </p:spPr>
        <p:txBody>
          <a:bodyPr wrap="square" lIns="0" tIns="0" rIns="0" bIns="0" rtlCol="0" anchor="ctr"/>
          <a:lstStyle/>
          <a:p>
            <a:pPr marL="0" indent="0" algn="ctr" rtl="1">
              <a:buNone/>
            </a:pPr>
            <a:r>
              <a:rPr lang="en-US" sz="1300" b="1" dirty="0">
                <a:solidFill>
                  <a:srgbClr val="0F3A5F"/>
                </a:solidFill>
                <a:latin typeface="Shakila" pitchFamily="34" charset="0"/>
                <a:ea typeface="Shakila" pitchFamily="34" charset="-122"/>
                <a:cs typeface="Shakila" pitchFamily="34" charset="-120"/>
              </a:rPr>
              <a:t>الحل</a:t>
            </a:r>
            <a:endParaRPr lang="en-US" sz="1300" dirty="0"/>
          </a:p>
        </p:txBody>
      </p:sp>
      <p:sp>
        <p:nvSpPr>
          <p:cNvPr id="6" name="Text 4"/>
          <p:cNvSpPr/>
          <p:nvPr/>
        </p:nvSpPr>
        <p:spPr>
          <a:xfrm>
            <a:off x="548640" y="960120"/>
            <a:ext cx="11094415" cy="548640"/>
          </a:xfrm>
          <a:prstGeom prst="rect">
            <a:avLst/>
          </a:prstGeom>
          <a:noFill/>
        </p:spPr>
        <p:txBody>
          <a:bodyPr wrap="square" lIns="0" tIns="0" rIns="0" bIns="0" rtlCol="0" anchor="ctr"/>
          <a:lstStyle/>
          <a:p>
            <a:pPr marL="0" indent="0" algn="l">
              <a:buNone/>
            </a:pPr>
            <a:r>
              <a:rPr lang="en-US" sz="3000" b="1" dirty="0">
                <a:solidFill>
                  <a:srgbClr val="0F3A5F"/>
                </a:solidFill>
                <a:latin typeface="Cambria" panose="02040503050406030204" pitchFamily="34" charset="0"/>
                <a:ea typeface="Cambria" panose="02040503050406030204" pitchFamily="34" charset="-122"/>
                <a:cs typeface="Cambria" panose="02040503050406030204" pitchFamily="34" charset="-120"/>
              </a:rPr>
              <a:t>La solution et le prototype</a:t>
            </a:r>
            <a:endParaRPr lang="en-US" sz="3000" dirty="0"/>
          </a:p>
        </p:txBody>
      </p:sp>
      <p:sp>
        <p:nvSpPr>
          <p:cNvPr id="7" name="Text 5"/>
          <p:cNvSpPr/>
          <p:nvPr/>
        </p:nvSpPr>
        <p:spPr>
          <a:xfrm>
            <a:off x="548640" y="1463040"/>
            <a:ext cx="11094415" cy="457200"/>
          </a:xfrm>
          <a:prstGeom prst="rect">
            <a:avLst/>
          </a:prstGeom>
          <a:noFill/>
        </p:spPr>
        <p:txBody>
          <a:bodyPr wrap="square" lIns="0" tIns="0" rIns="0" bIns="0" rtlCol="0" anchor="ctr"/>
          <a:lstStyle/>
          <a:p>
            <a:pPr marL="0" indent="0" algn="r" rtl="1">
              <a:buNone/>
            </a:pPr>
            <a:r>
              <a:rPr lang="en-US" sz="2200" b="1" dirty="0">
                <a:solidFill>
                  <a:srgbClr val="6B7178"/>
                </a:solidFill>
                <a:latin typeface="Shakila" pitchFamily="34" charset="0"/>
                <a:ea typeface="Shakila" pitchFamily="34" charset="-122"/>
                <a:cs typeface="Shakila" pitchFamily="34" charset="-120"/>
              </a:rPr>
              <a:t>الحل والنموذج الأولي</a:t>
            </a:r>
            <a:endParaRPr lang="en-US" sz="2200" dirty="0"/>
          </a:p>
        </p:txBody>
      </p:sp>
      <p:sp>
        <p:nvSpPr>
          <p:cNvPr id="8" name="Shape 6"/>
          <p:cNvSpPr/>
          <p:nvPr/>
        </p:nvSpPr>
        <p:spPr>
          <a:xfrm>
            <a:off x="548640" y="2240280"/>
            <a:ext cx="5349240" cy="1691640"/>
          </a:xfrm>
          <a:prstGeom prst="roundRect">
            <a:avLst>
              <a:gd name="adj" fmla="val 4324"/>
            </a:avLst>
          </a:prstGeom>
          <a:solidFill>
            <a:srgbClr val="FFFFFF"/>
          </a:solidFill>
          <a:effectLst>
            <a:outerShdw blurRad="101600" dist="38100" dir="5400000" algn="bl" rotWithShape="0">
              <a:srgbClr val="000000">
                <a:alpha val="10000"/>
              </a:srgbClr>
            </a:outerShdw>
          </a:effectLst>
        </p:spPr>
      </p:sp>
      <p:sp>
        <p:nvSpPr>
          <p:cNvPr id="9" name="Shape 7"/>
          <p:cNvSpPr/>
          <p:nvPr/>
        </p:nvSpPr>
        <p:spPr>
          <a:xfrm>
            <a:off x="777240" y="2468880"/>
            <a:ext cx="548640" cy="548640"/>
          </a:xfrm>
          <a:prstGeom prst="ellipse">
            <a:avLst/>
          </a:prstGeom>
          <a:solidFill>
            <a:srgbClr val="0F3A5F"/>
          </a:solidFill>
        </p:spPr>
      </p:sp>
      <p:pic>
        <p:nvPicPr>
          <p:cNvPr id="10" name="Image 0" descr="/home/claude/assets/cogs.png"/>
          <p:cNvPicPr>
            <a:picLocks noChangeAspect="1"/>
          </p:cNvPicPr>
          <p:nvPr/>
        </p:nvPicPr>
        <p:blipFill>
          <a:blip r:embed="rId3"/>
          <a:stretch>
            <a:fillRect/>
          </a:stretch>
        </p:blipFill>
        <p:spPr>
          <a:xfrm>
            <a:off x="886968" y="2578608"/>
            <a:ext cx="329184" cy="329184"/>
          </a:xfrm>
          <a:prstGeom prst="rect">
            <a:avLst/>
          </a:prstGeom>
        </p:spPr>
      </p:pic>
      <p:sp>
        <p:nvSpPr>
          <p:cNvPr id="11" name="Text 8"/>
          <p:cNvSpPr/>
          <p:nvPr/>
        </p:nvSpPr>
        <p:spPr>
          <a:xfrm>
            <a:off x="1463040" y="2404872"/>
            <a:ext cx="4251960" cy="292608"/>
          </a:xfrm>
          <a:prstGeom prst="rect">
            <a:avLst/>
          </a:prstGeom>
          <a:noFill/>
        </p:spPr>
        <p:txBody>
          <a:bodyPr wrap="square" lIns="0" tIns="0" rIns="0" bIns="0" rtlCol="0" anchor="ctr"/>
          <a:lstStyle/>
          <a:p>
            <a:pPr marL="0" indent="0">
              <a:buNone/>
            </a:pPr>
            <a:r>
              <a:rPr lang="en-US" sz="1350" b="1" dirty="0">
                <a:solidFill>
                  <a:srgbClr val="0F3A5F"/>
                </a:solidFill>
                <a:latin typeface="Calibri" panose="020F0502020204030204" pitchFamily="34" charset="0"/>
                <a:ea typeface="Calibri" panose="020F0502020204030204" pitchFamily="34" charset="-122"/>
                <a:cs typeface="Calibri" panose="020F0502020204030204" pitchFamily="34" charset="-120"/>
              </a:rPr>
              <a:t>Description technique</a:t>
            </a:r>
            <a:endParaRPr lang="en-US" sz="1350" dirty="0"/>
          </a:p>
        </p:txBody>
      </p:sp>
      <p:sp>
        <p:nvSpPr>
          <p:cNvPr id="12" name="Text 9"/>
          <p:cNvSpPr/>
          <p:nvPr/>
        </p:nvSpPr>
        <p:spPr>
          <a:xfrm>
            <a:off x="1463040" y="2404872"/>
            <a:ext cx="4251960" cy="292608"/>
          </a:xfrm>
          <a:prstGeom prst="rect">
            <a:avLst/>
          </a:prstGeom>
          <a:noFill/>
        </p:spPr>
        <p:txBody>
          <a:bodyPr wrap="square" lIns="0" tIns="0" rIns="0" bIns="0" rtlCol="0" anchor="ctr"/>
          <a:lstStyle/>
          <a:p>
            <a:pPr marL="0" indent="0" algn="r" rtl="1">
              <a:buNone/>
            </a:pPr>
            <a:r>
              <a:rPr lang="en-US" sz="1250" b="1" dirty="0">
                <a:solidFill>
                  <a:srgbClr val="E07B2A"/>
                </a:solidFill>
                <a:latin typeface="Shakila" pitchFamily="34" charset="0"/>
                <a:ea typeface="Shakila" pitchFamily="34" charset="-122"/>
                <a:cs typeface="Shakila" pitchFamily="34" charset="-120"/>
              </a:rPr>
              <a:t>الوصف التقني</a:t>
            </a:r>
            <a:endParaRPr lang="en-US" sz="1250" dirty="0"/>
          </a:p>
        </p:txBody>
      </p:sp>
      <p:sp>
        <p:nvSpPr>
          <p:cNvPr id="13" name="Text 10"/>
          <p:cNvSpPr/>
          <p:nvPr/>
        </p:nvSpPr>
        <p:spPr>
          <a:xfrm>
            <a:off x="947363" y="3083654"/>
            <a:ext cx="4892040" cy="502920"/>
          </a:xfrm>
          <a:prstGeom prst="rect">
            <a:avLst/>
          </a:prstGeom>
          <a:noFill/>
        </p:spPr>
        <p:txBody>
          <a:bodyPr wrap="square" lIns="0" tIns="0" rIns="0" bIns="0" rtlCol="0" anchor="ctr"/>
          <a:lstStyle/>
          <a:p>
            <a:pPr marL="0" indent="0">
              <a:buNone/>
            </a:pPr>
            <a:r>
              <a:rPr lang="en-US" sz="1050" dirty="0">
                <a:solidFill>
                  <a:srgbClr val="26282B"/>
                </a:solidFill>
                <a:latin typeface="Calibri" panose="020F0502020204030204" pitchFamily="34" charset="0"/>
                <a:ea typeface="Calibri" panose="020F0502020204030204" pitchFamily="34" charset="-122"/>
                <a:cs typeface="Calibri" panose="020F0502020204030204" pitchFamily="34" charset="-120"/>
              </a:rPr>
              <a:t>Fonctionnement du prototype et technologie utilisée</a:t>
            </a:r>
            <a:endParaRPr lang="en-US" sz="1050" dirty="0"/>
          </a:p>
        </p:txBody>
      </p:sp>
      <p:sp>
        <p:nvSpPr>
          <p:cNvPr id="14" name="Text 11"/>
          <p:cNvSpPr/>
          <p:nvPr/>
        </p:nvSpPr>
        <p:spPr>
          <a:xfrm>
            <a:off x="777240" y="3319272"/>
            <a:ext cx="4892040" cy="502920"/>
          </a:xfrm>
          <a:prstGeom prst="rect">
            <a:avLst/>
          </a:prstGeom>
          <a:noFill/>
        </p:spPr>
        <p:txBody>
          <a:bodyPr wrap="square" lIns="0" tIns="0" rIns="0" bIns="0" rtlCol="0" anchor="ctr"/>
          <a:lstStyle/>
          <a:p>
            <a:pPr marL="0" indent="0" algn="r" rtl="1">
              <a:buNone/>
            </a:pPr>
            <a:r>
              <a:rPr lang="en-US" sz="1100" dirty="0">
                <a:solidFill>
                  <a:srgbClr val="6B7178"/>
                </a:solidFill>
                <a:latin typeface="Shakila" pitchFamily="34" charset="0"/>
                <a:ea typeface="Shakila" pitchFamily="34" charset="-122"/>
                <a:cs typeface="Shakila" pitchFamily="34" charset="-120"/>
              </a:rPr>
              <a:t>آلية عمل النموذج الأولي والتقنية المستخدمة</a:t>
            </a:r>
            <a:endParaRPr lang="en-US" sz="1100" dirty="0"/>
          </a:p>
        </p:txBody>
      </p:sp>
      <p:sp>
        <p:nvSpPr>
          <p:cNvPr id="15" name="Shape 12"/>
          <p:cNvSpPr/>
          <p:nvPr/>
        </p:nvSpPr>
        <p:spPr>
          <a:xfrm>
            <a:off x="6172200" y="2240280"/>
            <a:ext cx="5349240" cy="1691640"/>
          </a:xfrm>
          <a:prstGeom prst="roundRect">
            <a:avLst>
              <a:gd name="adj" fmla="val 4324"/>
            </a:avLst>
          </a:prstGeom>
          <a:solidFill>
            <a:srgbClr val="FFFFFF"/>
          </a:solidFill>
          <a:effectLst>
            <a:outerShdw blurRad="101600" dist="38100" dir="5400000" algn="bl" rotWithShape="0">
              <a:srgbClr val="000000">
                <a:alpha val="10000"/>
              </a:srgbClr>
            </a:outerShdw>
          </a:effectLst>
        </p:spPr>
      </p:sp>
      <p:sp>
        <p:nvSpPr>
          <p:cNvPr id="16" name="Shape 13"/>
          <p:cNvSpPr/>
          <p:nvPr/>
        </p:nvSpPr>
        <p:spPr>
          <a:xfrm>
            <a:off x="6400800" y="2468880"/>
            <a:ext cx="548640" cy="548640"/>
          </a:xfrm>
          <a:prstGeom prst="ellipse">
            <a:avLst/>
          </a:prstGeom>
          <a:solidFill>
            <a:srgbClr val="0F3A5F"/>
          </a:solidFill>
        </p:spPr>
      </p:sp>
      <p:pic>
        <p:nvPicPr>
          <p:cNvPr id="17" name="Image 1" descr="/home/claude/assets/flag.png"/>
          <p:cNvPicPr>
            <a:picLocks noChangeAspect="1"/>
          </p:cNvPicPr>
          <p:nvPr/>
        </p:nvPicPr>
        <p:blipFill>
          <a:blip r:embed="rId4"/>
          <a:stretch>
            <a:fillRect/>
          </a:stretch>
        </p:blipFill>
        <p:spPr>
          <a:xfrm>
            <a:off x="6510528" y="2578608"/>
            <a:ext cx="329184" cy="329184"/>
          </a:xfrm>
          <a:prstGeom prst="rect">
            <a:avLst/>
          </a:prstGeom>
        </p:spPr>
      </p:pic>
      <p:sp>
        <p:nvSpPr>
          <p:cNvPr id="18" name="Text 14"/>
          <p:cNvSpPr/>
          <p:nvPr/>
        </p:nvSpPr>
        <p:spPr>
          <a:xfrm>
            <a:off x="7086600" y="2404872"/>
            <a:ext cx="4251960" cy="292608"/>
          </a:xfrm>
          <a:prstGeom prst="rect">
            <a:avLst/>
          </a:prstGeom>
          <a:noFill/>
        </p:spPr>
        <p:txBody>
          <a:bodyPr wrap="square" lIns="0" tIns="0" rIns="0" bIns="0" rtlCol="0" anchor="ctr"/>
          <a:lstStyle/>
          <a:p>
            <a:pPr marL="0" indent="0">
              <a:buNone/>
            </a:pPr>
            <a:r>
              <a:rPr lang="en-US" sz="1350" b="1" dirty="0">
                <a:solidFill>
                  <a:srgbClr val="0F3A5F"/>
                </a:solidFill>
                <a:latin typeface="Calibri" panose="020F0502020204030204" pitchFamily="34" charset="0"/>
                <a:ea typeface="Calibri" panose="020F0502020204030204" pitchFamily="34" charset="-122"/>
                <a:cs typeface="Calibri" panose="020F0502020204030204" pitchFamily="34" charset="-120"/>
              </a:rPr>
              <a:t>Niveau de maturité (TRL)</a:t>
            </a:r>
            <a:endParaRPr lang="en-US" sz="1350" dirty="0"/>
          </a:p>
        </p:txBody>
      </p:sp>
      <p:sp>
        <p:nvSpPr>
          <p:cNvPr id="19" name="Text 15"/>
          <p:cNvSpPr/>
          <p:nvPr/>
        </p:nvSpPr>
        <p:spPr>
          <a:xfrm>
            <a:off x="7086600" y="2404872"/>
            <a:ext cx="4251960" cy="292608"/>
          </a:xfrm>
          <a:prstGeom prst="rect">
            <a:avLst/>
          </a:prstGeom>
          <a:noFill/>
        </p:spPr>
        <p:txBody>
          <a:bodyPr wrap="square" lIns="0" tIns="0" rIns="0" bIns="0" rtlCol="0" anchor="ctr"/>
          <a:lstStyle/>
          <a:p>
            <a:pPr marL="0" indent="0" algn="r" rtl="1">
              <a:buNone/>
            </a:pPr>
            <a:r>
              <a:rPr lang="en-US" sz="1250" b="1" dirty="0">
                <a:solidFill>
                  <a:srgbClr val="E07B2A"/>
                </a:solidFill>
                <a:latin typeface="Shakila" pitchFamily="34" charset="0"/>
                <a:ea typeface="Shakila" pitchFamily="34" charset="-122"/>
                <a:cs typeface="Shakila" pitchFamily="34" charset="-120"/>
              </a:rPr>
              <a:t>مستوى النضج التقني</a:t>
            </a:r>
            <a:endParaRPr lang="en-US" sz="1250" dirty="0"/>
          </a:p>
        </p:txBody>
      </p:sp>
      <p:sp>
        <p:nvSpPr>
          <p:cNvPr id="20" name="Text 16"/>
          <p:cNvSpPr/>
          <p:nvPr/>
        </p:nvSpPr>
        <p:spPr>
          <a:xfrm>
            <a:off x="6570923" y="3083654"/>
            <a:ext cx="4892040" cy="502920"/>
          </a:xfrm>
          <a:prstGeom prst="rect">
            <a:avLst/>
          </a:prstGeom>
          <a:noFill/>
        </p:spPr>
        <p:txBody>
          <a:bodyPr wrap="square" lIns="0" tIns="0" rIns="0" bIns="0" rtlCol="0" anchor="ctr"/>
          <a:lstStyle/>
          <a:p>
            <a:pPr marL="0" indent="0">
              <a:buNone/>
            </a:pPr>
            <a:r>
              <a:rPr lang="en-US" sz="1050" dirty="0">
                <a:solidFill>
                  <a:srgbClr val="26282B"/>
                </a:solidFill>
                <a:latin typeface="Calibri" panose="020F0502020204030204" pitchFamily="34" charset="0"/>
                <a:ea typeface="Calibri" panose="020F0502020204030204" pitchFamily="34" charset="-122"/>
                <a:cs typeface="Calibri" panose="020F0502020204030204" pitchFamily="34" charset="-120"/>
              </a:rPr>
              <a:t>Stade actuel : concept, maquette, prototype fonctionnel...</a:t>
            </a:r>
            <a:endParaRPr lang="en-US" sz="1050" dirty="0"/>
          </a:p>
        </p:txBody>
      </p:sp>
      <p:sp>
        <p:nvSpPr>
          <p:cNvPr id="21" name="Text 17"/>
          <p:cNvSpPr/>
          <p:nvPr/>
        </p:nvSpPr>
        <p:spPr>
          <a:xfrm>
            <a:off x="6400800" y="3319272"/>
            <a:ext cx="4892040" cy="502920"/>
          </a:xfrm>
          <a:prstGeom prst="rect">
            <a:avLst/>
          </a:prstGeom>
          <a:noFill/>
        </p:spPr>
        <p:txBody>
          <a:bodyPr wrap="square" lIns="0" tIns="0" rIns="0" bIns="0" rtlCol="0" anchor="ctr"/>
          <a:lstStyle/>
          <a:p>
            <a:pPr marL="0" indent="0" algn="r" rtl="1">
              <a:buNone/>
            </a:pPr>
            <a:r>
              <a:rPr lang="en-US" sz="1100" dirty="0">
                <a:solidFill>
                  <a:srgbClr val="6B7178"/>
                </a:solidFill>
                <a:latin typeface="Shakila" pitchFamily="34" charset="0"/>
                <a:ea typeface="Shakila" pitchFamily="34" charset="-122"/>
                <a:cs typeface="Shakila" pitchFamily="34" charset="-120"/>
              </a:rPr>
              <a:t>المستوى الحالي: فكرة، نموذج مصغر، نموذج أولي وظيفي...</a:t>
            </a:r>
            <a:endParaRPr lang="en-US" sz="1100" dirty="0"/>
          </a:p>
        </p:txBody>
      </p:sp>
      <p:sp>
        <p:nvSpPr>
          <p:cNvPr id="22" name="Shape 18"/>
          <p:cNvSpPr/>
          <p:nvPr/>
        </p:nvSpPr>
        <p:spPr>
          <a:xfrm>
            <a:off x="548640" y="4206240"/>
            <a:ext cx="5349240" cy="1691640"/>
          </a:xfrm>
          <a:prstGeom prst="roundRect">
            <a:avLst>
              <a:gd name="adj" fmla="val 4324"/>
            </a:avLst>
          </a:prstGeom>
          <a:solidFill>
            <a:srgbClr val="FFFFFF"/>
          </a:solidFill>
          <a:effectLst>
            <a:outerShdw blurRad="101600" dist="38100" dir="5400000" algn="bl" rotWithShape="0">
              <a:srgbClr val="000000">
                <a:alpha val="10000"/>
              </a:srgbClr>
            </a:outerShdw>
          </a:effectLst>
        </p:spPr>
      </p:sp>
      <p:sp>
        <p:nvSpPr>
          <p:cNvPr id="23" name="Shape 19"/>
          <p:cNvSpPr/>
          <p:nvPr/>
        </p:nvSpPr>
        <p:spPr>
          <a:xfrm>
            <a:off x="777240" y="4434840"/>
            <a:ext cx="548640" cy="548640"/>
          </a:xfrm>
          <a:prstGeom prst="ellipse">
            <a:avLst/>
          </a:prstGeom>
          <a:solidFill>
            <a:srgbClr val="0F3A5F"/>
          </a:solidFill>
        </p:spPr>
      </p:sp>
      <p:pic>
        <p:nvPicPr>
          <p:cNvPr id="24" name="Image 2" descr="/home/claude/assets/check.png"/>
          <p:cNvPicPr>
            <a:picLocks noChangeAspect="1"/>
          </p:cNvPicPr>
          <p:nvPr/>
        </p:nvPicPr>
        <p:blipFill>
          <a:blip r:embed="rId5"/>
          <a:stretch>
            <a:fillRect/>
          </a:stretch>
        </p:blipFill>
        <p:spPr>
          <a:xfrm>
            <a:off x="886968" y="4544568"/>
            <a:ext cx="329184" cy="329184"/>
          </a:xfrm>
          <a:prstGeom prst="rect">
            <a:avLst/>
          </a:prstGeom>
        </p:spPr>
      </p:pic>
      <p:sp>
        <p:nvSpPr>
          <p:cNvPr id="25" name="Text 20"/>
          <p:cNvSpPr/>
          <p:nvPr/>
        </p:nvSpPr>
        <p:spPr>
          <a:xfrm>
            <a:off x="1463040" y="4370832"/>
            <a:ext cx="4251960" cy="292608"/>
          </a:xfrm>
          <a:prstGeom prst="rect">
            <a:avLst/>
          </a:prstGeom>
          <a:noFill/>
        </p:spPr>
        <p:txBody>
          <a:bodyPr wrap="square" lIns="0" tIns="0" rIns="0" bIns="0" rtlCol="0" anchor="ctr"/>
          <a:lstStyle/>
          <a:p>
            <a:pPr marL="0" indent="0">
              <a:buNone/>
            </a:pPr>
            <a:r>
              <a:rPr lang="en-US" sz="1350" b="1" dirty="0">
                <a:solidFill>
                  <a:srgbClr val="0F3A5F"/>
                </a:solidFill>
                <a:latin typeface="Calibri" panose="020F0502020204030204" pitchFamily="34" charset="0"/>
                <a:ea typeface="Calibri" panose="020F0502020204030204" pitchFamily="34" charset="-122"/>
                <a:cs typeface="Calibri" panose="020F0502020204030204" pitchFamily="34" charset="-120"/>
              </a:rPr>
              <a:t>Avantage différenciant</a:t>
            </a:r>
            <a:endParaRPr lang="en-US" sz="1350" dirty="0"/>
          </a:p>
        </p:txBody>
      </p:sp>
      <p:sp>
        <p:nvSpPr>
          <p:cNvPr id="26" name="Text 21"/>
          <p:cNvSpPr/>
          <p:nvPr/>
        </p:nvSpPr>
        <p:spPr>
          <a:xfrm>
            <a:off x="1463040" y="4370832"/>
            <a:ext cx="4251960" cy="292608"/>
          </a:xfrm>
          <a:prstGeom prst="rect">
            <a:avLst/>
          </a:prstGeom>
          <a:noFill/>
        </p:spPr>
        <p:txBody>
          <a:bodyPr wrap="square" lIns="0" tIns="0" rIns="0" bIns="0" rtlCol="0" anchor="ctr"/>
          <a:lstStyle/>
          <a:p>
            <a:pPr marL="0" indent="0" algn="r" rtl="1">
              <a:buNone/>
            </a:pPr>
            <a:r>
              <a:rPr lang="en-US" sz="1250" b="1" dirty="0">
                <a:solidFill>
                  <a:srgbClr val="E07B2A"/>
                </a:solidFill>
                <a:latin typeface="Shakila" pitchFamily="34" charset="0"/>
                <a:ea typeface="Shakila" pitchFamily="34" charset="-122"/>
                <a:cs typeface="Shakila" pitchFamily="34" charset="-120"/>
              </a:rPr>
              <a:t>الميزة التنافسية</a:t>
            </a:r>
            <a:endParaRPr lang="en-US" sz="1250" dirty="0"/>
          </a:p>
        </p:txBody>
      </p:sp>
      <p:sp>
        <p:nvSpPr>
          <p:cNvPr id="27" name="Text 22"/>
          <p:cNvSpPr/>
          <p:nvPr/>
        </p:nvSpPr>
        <p:spPr>
          <a:xfrm>
            <a:off x="947363" y="5049614"/>
            <a:ext cx="4892040" cy="502920"/>
          </a:xfrm>
          <a:prstGeom prst="rect">
            <a:avLst/>
          </a:prstGeom>
          <a:noFill/>
        </p:spPr>
        <p:txBody>
          <a:bodyPr wrap="square" lIns="0" tIns="0" rIns="0" bIns="0" rtlCol="0" anchor="ctr"/>
          <a:lstStyle/>
          <a:p>
            <a:pPr marL="0" indent="0">
              <a:buNone/>
            </a:pPr>
            <a:r>
              <a:rPr lang="en-US" sz="1050" dirty="0">
                <a:solidFill>
                  <a:srgbClr val="26282B"/>
                </a:solidFill>
                <a:latin typeface="Calibri" panose="020F0502020204030204" pitchFamily="34" charset="0"/>
                <a:ea typeface="Calibri" panose="020F0502020204030204" pitchFamily="34" charset="-122"/>
                <a:cs typeface="Calibri" panose="020F0502020204030204" pitchFamily="34" charset="-120"/>
              </a:rPr>
              <a:t>Ce qui rend la solution unique face aux alternatives</a:t>
            </a:r>
            <a:endParaRPr lang="en-US" sz="1050" dirty="0"/>
          </a:p>
        </p:txBody>
      </p:sp>
      <p:sp>
        <p:nvSpPr>
          <p:cNvPr id="28" name="Text 23"/>
          <p:cNvSpPr/>
          <p:nvPr/>
        </p:nvSpPr>
        <p:spPr>
          <a:xfrm>
            <a:off x="777240" y="5285232"/>
            <a:ext cx="4892040" cy="502920"/>
          </a:xfrm>
          <a:prstGeom prst="rect">
            <a:avLst/>
          </a:prstGeom>
          <a:noFill/>
        </p:spPr>
        <p:txBody>
          <a:bodyPr wrap="square" lIns="0" tIns="0" rIns="0" bIns="0" rtlCol="0" anchor="ctr"/>
          <a:lstStyle/>
          <a:p>
            <a:pPr marL="0" indent="0" algn="r" rtl="1">
              <a:buNone/>
            </a:pPr>
            <a:r>
              <a:rPr lang="en-US" sz="1100" dirty="0">
                <a:solidFill>
                  <a:srgbClr val="6B7178"/>
                </a:solidFill>
                <a:latin typeface="Shakila" pitchFamily="34" charset="0"/>
                <a:ea typeface="Shakila" pitchFamily="34" charset="-122"/>
                <a:cs typeface="Shakila" pitchFamily="34" charset="-120"/>
              </a:rPr>
              <a:t>ما يجعل الحل مميزًا مقارنة بالبدائل المتوفرة</a:t>
            </a:r>
            <a:endParaRPr lang="en-US" sz="1100" dirty="0"/>
          </a:p>
        </p:txBody>
      </p:sp>
      <p:sp>
        <p:nvSpPr>
          <p:cNvPr id="29" name="Shape 24"/>
          <p:cNvSpPr/>
          <p:nvPr/>
        </p:nvSpPr>
        <p:spPr>
          <a:xfrm>
            <a:off x="6172200" y="4206240"/>
            <a:ext cx="5349240" cy="1691640"/>
          </a:xfrm>
          <a:prstGeom prst="roundRect">
            <a:avLst>
              <a:gd name="adj" fmla="val 4324"/>
            </a:avLst>
          </a:prstGeom>
          <a:solidFill>
            <a:srgbClr val="FFFFFF"/>
          </a:solidFill>
          <a:effectLst>
            <a:outerShdw blurRad="101600" dist="38100" dir="5400000" algn="bl" rotWithShape="0">
              <a:srgbClr val="000000">
                <a:alpha val="10000"/>
              </a:srgbClr>
            </a:outerShdw>
          </a:effectLst>
        </p:spPr>
      </p:sp>
      <p:sp>
        <p:nvSpPr>
          <p:cNvPr id="30" name="Shape 25"/>
          <p:cNvSpPr/>
          <p:nvPr/>
        </p:nvSpPr>
        <p:spPr>
          <a:xfrm>
            <a:off x="6400800" y="4434840"/>
            <a:ext cx="548640" cy="548640"/>
          </a:xfrm>
          <a:prstGeom prst="ellipse">
            <a:avLst/>
          </a:prstGeom>
          <a:solidFill>
            <a:srgbClr val="0F3A5F"/>
          </a:solidFill>
        </p:spPr>
      </p:sp>
      <p:pic>
        <p:nvPicPr>
          <p:cNvPr id="31" name="Image 3" descr="/home/claude/assets/target.png"/>
          <p:cNvPicPr>
            <a:picLocks noChangeAspect="1"/>
          </p:cNvPicPr>
          <p:nvPr/>
        </p:nvPicPr>
        <p:blipFill>
          <a:blip r:embed="rId6"/>
          <a:stretch>
            <a:fillRect/>
          </a:stretch>
        </p:blipFill>
        <p:spPr>
          <a:xfrm>
            <a:off x="6510528" y="4544568"/>
            <a:ext cx="329184" cy="329184"/>
          </a:xfrm>
          <a:prstGeom prst="rect">
            <a:avLst/>
          </a:prstGeom>
        </p:spPr>
      </p:pic>
      <p:sp>
        <p:nvSpPr>
          <p:cNvPr id="32" name="Text 26"/>
          <p:cNvSpPr/>
          <p:nvPr/>
        </p:nvSpPr>
        <p:spPr>
          <a:xfrm>
            <a:off x="7086600" y="4370832"/>
            <a:ext cx="4251960" cy="292608"/>
          </a:xfrm>
          <a:prstGeom prst="rect">
            <a:avLst/>
          </a:prstGeom>
          <a:noFill/>
        </p:spPr>
        <p:txBody>
          <a:bodyPr wrap="square" lIns="0" tIns="0" rIns="0" bIns="0" rtlCol="0" anchor="ctr"/>
          <a:lstStyle/>
          <a:p>
            <a:pPr marL="0" indent="0">
              <a:buNone/>
            </a:pPr>
            <a:r>
              <a:rPr lang="en-US" sz="1350" b="1" dirty="0">
                <a:solidFill>
                  <a:srgbClr val="0F3A5F"/>
                </a:solidFill>
                <a:latin typeface="Calibri" panose="020F0502020204030204" pitchFamily="34" charset="0"/>
                <a:ea typeface="Calibri" panose="020F0502020204030204" pitchFamily="34" charset="-122"/>
                <a:cs typeface="Calibri" panose="020F0502020204030204" pitchFamily="34" charset="-120"/>
              </a:rPr>
              <a:t>Validation effectuée</a:t>
            </a:r>
            <a:endParaRPr lang="en-US" sz="1350" dirty="0"/>
          </a:p>
        </p:txBody>
      </p:sp>
      <p:sp>
        <p:nvSpPr>
          <p:cNvPr id="33" name="Text 27"/>
          <p:cNvSpPr/>
          <p:nvPr/>
        </p:nvSpPr>
        <p:spPr>
          <a:xfrm>
            <a:off x="7086600" y="4370832"/>
            <a:ext cx="4251960" cy="292608"/>
          </a:xfrm>
          <a:prstGeom prst="rect">
            <a:avLst/>
          </a:prstGeom>
          <a:noFill/>
        </p:spPr>
        <p:txBody>
          <a:bodyPr wrap="square" lIns="0" tIns="0" rIns="0" bIns="0" rtlCol="0" anchor="ctr"/>
          <a:lstStyle/>
          <a:p>
            <a:pPr marL="0" indent="0" algn="r" rtl="1">
              <a:buNone/>
            </a:pPr>
            <a:r>
              <a:rPr lang="en-US" sz="1250" b="1" dirty="0">
                <a:solidFill>
                  <a:srgbClr val="E07B2A"/>
                </a:solidFill>
                <a:latin typeface="Shakila" pitchFamily="34" charset="0"/>
                <a:ea typeface="Shakila" pitchFamily="34" charset="-122"/>
                <a:cs typeface="Shakila" pitchFamily="34" charset="-120"/>
              </a:rPr>
              <a:t>التحقق الذي تم</a:t>
            </a:r>
            <a:endParaRPr lang="en-US" sz="1250" dirty="0"/>
          </a:p>
        </p:txBody>
      </p:sp>
      <p:sp>
        <p:nvSpPr>
          <p:cNvPr id="34" name="Text 28"/>
          <p:cNvSpPr/>
          <p:nvPr/>
        </p:nvSpPr>
        <p:spPr>
          <a:xfrm>
            <a:off x="6570923" y="5049614"/>
            <a:ext cx="4892040" cy="502920"/>
          </a:xfrm>
          <a:prstGeom prst="rect">
            <a:avLst/>
          </a:prstGeom>
          <a:noFill/>
        </p:spPr>
        <p:txBody>
          <a:bodyPr wrap="square" lIns="0" tIns="0" rIns="0" bIns="0" rtlCol="0" anchor="ctr"/>
          <a:lstStyle/>
          <a:p>
            <a:pPr marL="0" indent="0">
              <a:buNone/>
            </a:pPr>
            <a:r>
              <a:rPr lang="en-US" sz="1050" dirty="0">
                <a:solidFill>
                  <a:srgbClr val="26282B"/>
                </a:solidFill>
                <a:latin typeface="Calibri" panose="020F0502020204030204" pitchFamily="34" charset="0"/>
                <a:ea typeface="Calibri" panose="020F0502020204030204" pitchFamily="34" charset="-122"/>
                <a:cs typeface="Calibri" panose="020F0502020204030204" pitchFamily="34" charset="-120"/>
              </a:rPr>
              <a:t>Tests, retours d'utilisateurs, résultats obtenus</a:t>
            </a:r>
            <a:endParaRPr lang="en-US" sz="1050" dirty="0"/>
          </a:p>
        </p:txBody>
      </p:sp>
      <p:sp>
        <p:nvSpPr>
          <p:cNvPr id="35" name="Text 29"/>
          <p:cNvSpPr/>
          <p:nvPr/>
        </p:nvSpPr>
        <p:spPr>
          <a:xfrm>
            <a:off x="6400800" y="5285232"/>
            <a:ext cx="4892040" cy="502920"/>
          </a:xfrm>
          <a:prstGeom prst="rect">
            <a:avLst/>
          </a:prstGeom>
          <a:noFill/>
        </p:spPr>
        <p:txBody>
          <a:bodyPr wrap="square" lIns="0" tIns="0" rIns="0" bIns="0" rtlCol="0" anchor="ctr"/>
          <a:lstStyle/>
          <a:p>
            <a:pPr marL="0" indent="0" algn="r" rtl="1">
              <a:buNone/>
            </a:pPr>
            <a:r>
              <a:rPr lang="en-US" sz="1100" dirty="0">
                <a:solidFill>
                  <a:srgbClr val="6B7178"/>
                </a:solidFill>
                <a:latin typeface="Shakila" pitchFamily="34" charset="0"/>
                <a:ea typeface="Shakila" pitchFamily="34" charset="-122"/>
                <a:cs typeface="Shakila" pitchFamily="34" charset="-120"/>
              </a:rPr>
              <a:t>الاختبارات، آراء المستخدمين، النتائج المحققة</a:t>
            </a:r>
            <a:endParaRPr lang="en-US" sz="1100" dirty="0"/>
          </a:p>
        </p:txBody>
      </p:sp>
      <p:sp>
        <p:nvSpPr>
          <p:cNvPr id="36" name="Text 30"/>
          <p:cNvSpPr/>
          <p:nvPr/>
        </p:nvSpPr>
        <p:spPr>
          <a:xfrm>
            <a:off x="11551615" y="6446520"/>
            <a:ext cx="365760" cy="274320"/>
          </a:xfrm>
          <a:prstGeom prst="rect">
            <a:avLst/>
          </a:prstGeom>
          <a:noFill/>
        </p:spPr>
        <p:txBody>
          <a:bodyPr wrap="square" rtlCol="0" anchor="ctr"/>
          <a:lstStyle/>
          <a:p>
            <a:pPr marL="0" indent="0" algn="r">
              <a:buNone/>
            </a:pPr>
            <a:r>
              <a:rPr lang="en-US" sz="1000" dirty="0">
                <a:solidFill>
                  <a:srgbClr val="6B7178"/>
                </a:solidFill>
                <a:latin typeface="Calibri" panose="020F0502020204030204" pitchFamily="34" charset="0"/>
                <a:ea typeface="Calibri" panose="020F0502020204030204" pitchFamily="34" charset="-122"/>
                <a:cs typeface="Calibri" panose="020F0502020204030204" pitchFamily="34" charset="-120"/>
              </a:rPr>
              <a:t>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2F3"/>
        </a:solidFill>
        <a:effectLst/>
      </p:bgPr>
    </p:bg>
    <p:spTree>
      <p:nvGrpSpPr>
        <p:cNvPr id="1" name=""/>
        <p:cNvGrpSpPr/>
        <p:nvPr/>
      </p:nvGrpSpPr>
      <p:grpSpPr>
        <a:xfrm>
          <a:off x="0" y="0"/>
          <a:ext cx="0" cy="0"/>
          <a:chOff x="0" y="0"/>
          <a:chExt cx="0" cy="0"/>
        </a:xfrm>
      </p:grpSpPr>
      <p:sp>
        <p:nvSpPr>
          <p:cNvPr id="2" name="Shape 0"/>
          <p:cNvSpPr/>
          <p:nvPr/>
        </p:nvSpPr>
        <p:spPr>
          <a:xfrm>
            <a:off x="548640" y="457200"/>
            <a:ext cx="3108960" cy="384048"/>
          </a:xfrm>
          <a:prstGeom prst="roundRect">
            <a:avLst>
              <a:gd name="adj" fmla="val 19048"/>
            </a:avLst>
          </a:prstGeom>
          <a:solidFill>
            <a:srgbClr val="E07B2A"/>
          </a:solidFill>
        </p:spPr>
      </p:sp>
      <p:sp>
        <p:nvSpPr>
          <p:cNvPr id="3" name="Text 1"/>
          <p:cNvSpPr/>
          <p:nvPr/>
        </p:nvSpPr>
        <p:spPr>
          <a:xfrm>
            <a:off x="548640" y="457200"/>
            <a:ext cx="3108960" cy="384048"/>
          </a:xfrm>
          <a:prstGeom prst="rect">
            <a:avLst/>
          </a:prstGeom>
          <a:noFill/>
        </p:spPr>
        <p:txBody>
          <a:bodyPr wrap="square" lIns="0" tIns="0" rIns="0" bIns="0" rtlCol="0" anchor="ctr"/>
          <a:lstStyle/>
          <a:p>
            <a:pPr marL="0" indent="0" algn="ctr">
              <a:buNone/>
            </a:pPr>
            <a:r>
              <a:rPr lang="en-US" sz="1200" b="1" dirty="0">
                <a:solidFill>
                  <a:srgbClr val="0F3A5F"/>
                </a:solidFill>
                <a:latin typeface="Calibri" panose="020F0502020204030204" pitchFamily="34" charset="0"/>
                <a:ea typeface="Calibri" panose="020F0502020204030204" pitchFamily="34" charset="-122"/>
                <a:cs typeface="Calibri" panose="020F0502020204030204" pitchFamily="34" charset="-120"/>
              </a:rPr>
              <a:t>04 · MARCHÉ</a:t>
            </a:r>
            <a:endParaRPr lang="en-US" sz="1200" dirty="0"/>
          </a:p>
        </p:txBody>
      </p:sp>
      <p:sp>
        <p:nvSpPr>
          <p:cNvPr id="4" name="Shape 2"/>
          <p:cNvSpPr/>
          <p:nvPr/>
        </p:nvSpPr>
        <p:spPr>
          <a:xfrm>
            <a:off x="8534095" y="457200"/>
            <a:ext cx="3108960" cy="384048"/>
          </a:xfrm>
          <a:prstGeom prst="roundRect">
            <a:avLst>
              <a:gd name="adj" fmla="val 19048"/>
            </a:avLst>
          </a:prstGeom>
          <a:solidFill>
            <a:srgbClr val="E07B2A"/>
          </a:solidFill>
        </p:spPr>
      </p:sp>
      <p:sp>
        <p:nvSpPr>
          <p:cNvPr id="5" name="Text 3"/>
          <p:cNvSpPr/>
          <p:nvPr/>
        </p:nvSpPr>
        <p:spPr>
          <a:xfrm>
            <a:off x="8534095" y="457200"/>
            <a:ext cx="3108960" cy="384048"/>
          </a:xfrm>
          <a:prstGeom prst="rect">
            <a:avLst/>
          </a:prstGeom>
          <a:noFill/>
        </p:spPr>
        <p:txBody>
          <a:bodyPr wrap="square" lIns="0" tIns="0" rIns="0" bIns="0" rtlCol="0" anchor="ctr"/>
          <a:lstStyle/>
          <a:p>
            <a:pPr marL="0" indent="0" algn="ctr" rtl="1">
              <a:buNone/>
            </a:pPr>
            <a:r>
              <a:rPr lang="en-US" sz="1300" b="1" dirty="0">
                <a:solidFill>
                  <a:srgbClr val="0F3A5F"/>
                </a:solidFill>
                <a:latin typeface="Shakila" pitchFamily="34" charset="0"/>
                <a:ea typeface="Shakila" pitchFamily="34" charset="-122"/>
                <a:cs typeface="Shakila" pitchFamily="34" charset="-120"/>
              </a:rPr>
              <a:t>السوق</a:t>
            </a:r>
            <a:endParaRPr lang="en-US" sz="1300" dirty="0"/>
          </a:p>
        </p:txBody>
      </p:sp>
      <p:sp>
        <p:nvSpPr>
          <p:cNvPr id="6" name="Text 4"/>
          <p:cNvSpPr/>
          <p:nvPr/>
        </p:nvSpPr>
        <p:spPr>
          <a:xfrm>
            <a:off x="548640" y="960120"/>
            <a:ext cx="11094415" cy="548640"/>
          </a:xfrm>
          <a:prstGeom prst="rect">
            <a:avLst/>
          </a:prstGeom>
          <a:noFill/>
        </p:spPr>
        <p:txBody>
          <a:bodyPr wrap="square" lIns="0" tIns="0" rIns="0" bIns="0" rtlCol="0" anchor="ctr"/>
          <a:lstStyle/>
          <a:p>
            <a:pPr marL="0" indent="0" algn="l">
              <a:buNone/>
            </a:pPr>
            <a:r>
              <a:rPr lang="en-US" sz="3000" b="1" dirty="0">
                <a:solidFill>
                  <a:srgbClr val="0F3A5F"/>
                </a:solidFill>
                <a:latin typeface="Cambria" panose="02040503050406030204" pitchFamily="34" charset="0"/>
                <a:ea typeface="Cambria" panose="02040503050406030204" pitchFamily="34" charset="-122"/>
                <a:cs typeface="Cambria" panose="02040503050406030204" pitchFamily="34" charset="-120"/>
              </a:rPr>
              <a:t>Le marché cible</a:t>
            </a:r>
            <a:endParaRPr lang="en-US" sz="3000" dirty="0"/>
          </a:p>
        </p:txBody>
      </p:sp>
      <p:sp>
        <p:nvSpPr>
          <p:cNvPr id="7" name="Text 5"/>
          <p:cNvSpPr/>
          <p:nvPr/>
        </p:nvSpPr>
        <p:spPr>
          <a:xfrm>
            <a:off x="548640" y="1463040"/>
            <a:ext cx="11094415" cy="457200"/>
          </a:xfrm>
          <a:prstGeom prst="rect">
            <a:avLst/>
          </a:prstGeom>
          <a:noFill/>
        </p:spPr>
        <p:txBody>
          <a:bodyPr wrap="square" lIns="0" tIns="0" rIns="0" bIns="0" rtlCol="0" anchor="ctr"/>
          <a:lstStyle/>
          <a:p>
            <a:pPr marL="0" indent="0" algn="r" rtl="1">
              <a:buNone/>
            </a:pPr>
            <a:r>
              <a:rPr lang="en-US" sz="2200" b="1" dirty="0">
                <a:solidFill>
                  <a:srgbClr val="6B7178"/>
                </a:solidFill>
                <a:latin typeface="Shakila" pitchFamily="34" charset="0"/>
                <a:ea typeface="Shakila" pitchFamily="34" charset="-122"/>
                <a:cs typeface="Shakila" pitchFamily="34" charset="-120"/>
              </a:rPr>
              <a:t>السوق المستهدف</a:t>
            </a:r>
            <a:endParaRPr lang="en-US" sz="2200" dirty="0"/>
          </a:p>
        </p:txBody>
      </p:sp>
      <p:sp>
        <p:nvSpPr>
          <p:cNvPr id="8" name="Shape 6"/>
          <p:cNvSpPr/>
          <p:nvPr/>
        </p:nvSpPr>
        <p:spPr>
          <a:xfrm>
            <a:off x="548640" y="2286000"/>
            <a:ext cx="6858000" cy="960120"/>
          </a:xfrm>
          <a:prstGeom prst="roundRect">
            <a:avLst>
              <a:gd name="adj" fmla="val 7619"/>
            </a:avLst>
          </a:prstGeom>
          <a:solidFill>
            <a:srgbClr val="0F3A5F"/>
          </a:solidFill>
        </p:spPr>
      </p:sp>
      <p:sp>
        <p:nvSpPr>
          <p:cNvPr id="9" name="Text 7"/>
          <p:cNvSpPr/>
          <p:nvPr/>
        </p:nvSpPr>
        <p:spPr>
          <a:xfrm>
            <a:off x="548640" y="2359152"/>
            <a:ext cx="6858000"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Marché total (TAM)</a:t>
            </a:r>
            <a:endParaRPr lang="en-US" sz="1300" dirty="0"/>
          </a:p>
        </p:txBody>
      </p:sp>
      <p:sp>
        <p:nvSpPr>
          <p:cNvPr id="10" name="Text 8"/>
          <p:cNvSpPr/>
          <p:nvPr/>
        </p:nvSpPr>
        <p:spPr>
          <a:xfrm>
            <a:off x="548640" y="2743200"/>
            <a:ext cx="6858000" cy="384048"/>
          </a:xfrm>
          <a:prstGeom prst="rect">
            <a:avLst/>
          </a:prstGeom>
          <a:noFill/>
        </p:spPr>
        <p:txBody>
          <a:bodyPr wrap="square" lIns="0" tIns="0" rIns="0" bIns="0" rtlCol="0" anchor="ctr"/>
          <a:lstStyle/>
          <a:p>
            <a:pPr marL="0" indent="0" algn="ctr" rtl="1">
              <a:buNone/>
            </a:pPr>
            <a:r>
              <a:rPr lang="en-US" sz="1200" dirty="0">
                <a:solidFill>
                  <a:srgbClr val="D6E3F0"/>
                </a:solidFill>
                <a:latin typeface="Shakila" pitchFamily="34" charset="0"/>
                <a:ea typeface="Shakila" pitchFamily="34" charset="-122"/>
                <a:cs typeface="Shakila" pitchFamily="34" charset="-120"/>
              </a:rPr>
              <a:t>السوق الكلي</a:t>
            </a:r>
            <a:endParaRPr lang="en-US" sz="1200" dirty="0"/>
          </a:p>
        </p:txBody>
      </p:sp>
      <p:sp>
        <p:nvSpPr>
          <p:cNvPr id="11" name="Shape 9"/>
          <p:cNvSpPr/>
          <p:nvPr/>
        </p:nvSpPr>
        <p:spPr>
          <a:xfrm>
            <a:off x="1417320" y="3410712"/>
            <a:ext cx="5120640" cy="960120"/>
          </a:xfrm>
          <a:prstGeom prst="roundRect">
            <a:avLst>
              <a:gd name="adj" fmla="val 7619"/>
            </a:avLst>
          </a:prstGeom>
          <a:solidFill>
            <a:srgbClr val="16507F"/>
          </a:solidFill>
        </p:spPr>
      </p:sp>
      <p:sp>
        <p:nvSpPr>
          <p:cNvPr id="12" name="Text 10"/>
          <p:cNvSpPr/>
          <p:nvPr/>
        </p:nvSpPr>
        <p:spPr>
          <a:xfrm>
            <a:off x="1417320" y="3483864"/>
            <a:ext cx="5120640"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Marché accessible (SAM)</a:t>
            </a:r>
            <a:endParaRPr lang="en-US" sz="1300" dirty="0"/>
          </a:p>
        </p:txBody>
      </p:sp>
      <p:sp>
        <p:nvSpPr>
          <p:cNvPr id="13" name="Text 11"/>
          <p:cNvSpPr/>
          <p:nvPr/>
        </p:nvSpPr>
        <p:spPr>
          <a:xfrm>
            <a:off x="1417320" y="3867912"/>
            <a:ext cx="5120640" cy="384048"/>
          </a:xfrm>
          <a:prstGeom prst="rect">
            <a:avLst/>
          </a:prstGeom>
          <a:noFill/>
        </p:spPr>
        <p:txBody>
          <a:bodyPr wrap="square" lIns="0" tIns="0" rIns="0" bIns="0" rtlCol="0" anchor="ctr"/>
          <a:lstStyle/>
          <a:p>
            <a:pPr marL="0" indent="0" algn="ctr" rtl="1">
              <a:buNone/>
            </a:pPr>
            <a:r>
              <a:rPr lang="en-US" sz="1200" dirty="0">
                <a:solidFill>
                  <a:srgbClr val="D6E3F0"/>
                </a:solidFill>
                <a:latin typeface="Shakila" pitchFamily="34" charset="0"/>
                <a:ea typeface="Shakila" pitchFamily="34" charset="-122"/>
                <a:cs typeface="Shakila" pitchFamily="34" charset="-120"/>
              </a:rPr>
              <a:t>السوق القابل للوصول</a:t>
            </a:r>
            <a:endParaRPr lang="en-US" sz="1200" dirty="0"/>
          </a:p>
        </p:txBody>
      </p:sp>
      <p:sp>
        <p:nvSpPr>
          <p:cNvPr id="14" name="Shape 12"/>
          <p:cNvSpPr/>
          <p:nvPr/>
        </p:nvSpPr>
        <p:spPr>
          <a:xfrm>
            <a:off x="2286000" y="4535424"/>
            <a:ext cx="3383280" cy="960120"/>
          </a:xfrm>
          <a:prstGeom prst="roundRect">
            <a:avLst>
              <a:gd name="adj" fmla="val 7619"/>
            </a:avLst>
          </a:prstGeom>
          <a:solidFill>
            <a:srgbClr val="E07B2A"/>
          </a:solidFill>
        </p:spPr>
      </p:sp>
      <p:sp>
        <p:nvSpPr>
          <p:cNvPr id="15" name="Text 13"/>
          <p:cNvSpPr/>
          <p:nvPr/>
        </p:nvSpPr>
        <p:spPr>
          <a:xfrm>
            <a:off x="2286000" y="4608576"/>
            <a:ext cx="3383280" cy="384048"/>
          </a:xfrm>
          <a:prstGeom prst="rect">
            <a:avLst/>
          </a:prstGeom>
          <a:noFill/>
        </p:spPr>
        <p:txBody>
          <a:bodyPr wrap="square" lIns="0" tIns="0" rIns="0" bIns="0" rtlCol="0" anchor="ctr"/>
          <a:lstStyle/>
          <a:p>
            <a:pPr marL="0" indent="0" algn="ctr">
              <a:buNone/>
            </a:pPr>
            <a:r>
              <a:rPr lang="en-US" sz="1300" b="1" dirty="0">
                <a:solidFill>
                  <a:srgbClr val="0F3A5F"/>
                </a:solidFill>
                <a:latin typeface="Calibri" panose="020F0502020204030204" pitchFamily="34" charset="0"/>
                <a:ea typeface="Calibri" panose="020F0502020204030204" pitchFamily="34" charset="-122"/>
                <a:cs typeface="Calibri" panose="020F0502020204030204" pitchFamily="34" charset="-120"/>
              </a:rPr>
              <a:t>Marché cible initial (SOM)</a:t>
            </a:r>
            <a:endParaRPr lang="en-US" sz="1300" dirty="0"/>
          </a:p>
        </p:txBody>
      </p:sp>
      <p:sp>
        <p:nvSpPr>
          <p:cNvPr id="16" name="Text 14"/>
          <p:cNvSpPr/>
          <p:nvPr/>
        </p:nvSpPr>
        <p:spPr>
          <a:xfrm>
            <a:off x="2286000" y="4992624"/>
            <a:ext cx="3383280" cy="384048"/>
          </a:xfrm>
          <a:prstGeom prst="rect">
            <a:avLst/>
          </a:prstGeom>
          <a:noFill/>
        </p:spPr>
        <p:txBody>
          <a:bodyPr wrap="square" lIns="0" tIns="0" rIns="0" bIns="0" rtlCol="0" anchor="ctr"/>
          <a:lstStyle/>
          <a:p>
            <a:pPr marL="0" indent="0" algn="ctr" rtl="1">
              <a:buNone/>
            </a:pPr>
            <a:r>
              <a:rPr lang="en-US" sz="1200" dirty="0">
                <a:solidFill>
                  <a:srgbClr val="0F3A5F"/>
                </a:solidFill>
                <a:latin typeface="Shakila" pitchFamily="34" charset="0"/>
                <a:ea typeface="Shakila" pitchFamily="34" charset="-122"/>
                <a:cs typeface="Shakila" pitchFamily="34" charset="-120"/>
              </a:rPr>
              <a:t>السوق المستهدف أوليًا</a:t>
            </a:r>
            <a:endParaRPr lang="en-US" sz="1200" dirty="0"/>
          </a:p>
        </p:txBody>
      </p:sp>
      <p:sp>
        <p:nvSpPr>
          <p:cNvPr id="17" name="Shape 15"/>
          <p:cNvSpPr/>
          <p:nvPr/>
        </p:nvSpPr>
        <p:spPr>
          <a:xfrm>
            <a:off x="7818120" y="2286000"/>
            <a:ext cx="3840480" cy="1188720"/>
          </a:xfrm>
          <a:prstGeom prst="roundRect">
            <a:avLst>
              <a:gd name="adj" fmla="val 6154"/>
            </a:avLst>
          </a:prstGeom>
          <a:solidFill>
            <a:srgbClr val="FFFFFF"/>
          </a:solidFill>
          <a:effectLst>
            <a:outerShdw blurRad="76200" dist="25400" dir="5400000" algn="bl" rotWithShape="0">
              <a:srgbClr val="000000">
                <a:alpha val="10000"/>
              </a:srgbClr>
            </a:outerShdw>
          </a:effectLst>
        </p:spPr>
      </p:sp>
      <p:sp>
        <p:nvSpPr>
          <p:cNvPr id="18" name="Text 16"/>
          <p:cNvSpPr/>
          <p:nvPr/>
        </p:nvSpPr>
        <p:spPr>
          <a:xfrm>
            <a:off x="8001000" y="2377440"/>
            <a:ext cx="3474720" cy="502920"/>
          </a:xfrm>
          <a:prstGeom prst="rect">
            <a:avLst/>
          </a:prstGeom>
          <a:noFill/>
        </p:spPr>
        <p:txBody>
          <a:bodyPr wrap="square" lIns="0" tIns="0" rIns="0" bIns="0" rtlCol="0" anchor="ctr"/>
          <a:lstStyle/>
          <a:p>
            <a:pPr marL="0" indent="0">
              <a:buNone/>
            </a:pPr>
            <a:r>
              <a:rPr lang="en-US" sz="1050" dirty="0">
                <a:solidFill>
                  <a:srgbClr val="26282B"/>
                </a:solidFill>
                <a:latin typeface="Calibri" panose="020F0502020204030204" pitchFamily="34" charset="0"/>
                <a:ea typeface="Calibri" panose="020F0502020204030204" pitchFamily="34" charset="-122"/>
                <a:cs typeface="Calibri" panose="020F0502020204030204" pitchFamily="34" charset="-120"/>
              </a:rPr>
              <a:t>Qui sont vos clients/utilisateurs cibles (segments) ?</a:t>
            </a:r>
            <a:endParaRPr lang="en-US" sz="1050" dirty="0"/>
          </a:p>
        </p:txBody>
      </p:sp>
      <p:sp>
        <p:nvSpPr>
          <p:cNvPr id="19" name="Text 17"/>
          <p:cNvSpPr/>
          <p:nvPr/>
        </p:nvSpPr>
        <p:spPr>
          <a:xfrm>
            <a:off x="8001000" y="2926080"/>
            <a:ext cx="3474720" cy="457200"/>
          </a:xfrm>
          <a:prstGeom prst="rect">
            <a:avLst/>
          </a:prstGeom>
          <a:noFill/>
        </p:spPr>
        <p:txBody>
          <a:bodyPr wrap="square" lIns="0" tIns="0" rIns="0" bIns="0" rtlCol="0" anchor="ctr"/>
          <a:lstStyle/>
          <a:p>
            <a:pPr marL="0" indent="0" algn="r" rtl="1">
              <a:buNone/>
            </a:pPr>
            <a:r>
              <a:rPr lang="en-US" sz="1050" dirty="0">
                <a:solidFill>
                  <a:srgbClr val="6B7178"/>
                </a:solidFill>
                <a:latin typeface="Shakila" pitchFamily="34" charset="0"/>
                <a:ea typeface="Shakila" pitchFamily="34" charset="-122"/>
                <a:cs typeface="Shakila" pitchFamily="34" charset="-120"/>
              </a:rPr>
              <a:t>من هم عملاؤكم أو مستخدموكم المستهدفون (الشرائح)؟</a:t>
            </a:r>
            <a:endParaRPr lang="en-US" sz="1050" dirty="0"/>
          </a:p>
        </p:txBody>
      </p:sp>
      <p:sp>
        <p:nvSpPr>
          <p:cNvPr id="20" name="Shape 18"/>
          <p:cNvSpPr/>
          <p:nvPr/>
        </p:nvSpPr>
        <p:spPr>
          <a:xfrm>
            <a:off x="7818120" y="3639312"/>
            <a:ext cx="3840480" cy="1188720"/>
          </a:xfrm>
          <a:prstGeom prst="roundRect">
            <a:avLst>
              <a:gd name="adj" fmla="val 6154"/>
            </a:avLst>
          </a:prstGeom>
          <a:solidFill>
            <a:srgbClr val="FFFFFF"/>
          </a:solidFill>
          <a:effectLst>
            <a:outerShdw blurRad="76200" dist="25400" dir="5400000" algn="bl" rotWithShape="0">
              <a:srgbClr val="000000">
                <a:alpha val="10000"/>
              </a:srgbClr>
            </a:outerShdw>
          </a:effectLst>
        </p:spPr>
      </p:sp>
      <p:sp>
        <p:nvSpPr>
          <p:cNvPr id="21" name="Text 19"/>
          <p:cNvSpPr/>
          <p:nvPr/>
        </p:nvSpPr>
        <p:spPr>
          <a:xfrm>
            <a:off x="8001000" y="3730752"/>
            <a:ext cx="3474720" cy="502920"/>
          </a:xfrm>
          <a:prstGeom prst="rect">
            <a:avLst/>
          </a:prstGeom>
          <a:noFill/>
        </p:spPr>
        <p:txBody>
          <a:bodyPr wrap="square" lIns="0" tIns="0" rIns="0" bIns="0" rtlCol="0" anchor="ctr"/>
          <a:lstStyle/>
          <a:p>
            <a:pPr marL="0" indent="0">
              <a:buNone/>
            </a:pPr>
            <a:r>
              <a:rPr lang="en-US" sz="1050" dirty="0">
                <a:solidFill>
                  <a:srgbClr val="26282B"/>
                </a:solidFill>
                <a:latin typeface="Calibri" panose="020F0502020204030204" pitchFamily="34" charset="0"/>
                <a:ea typeface="Calibri" panose="020F0502020204030204" pitchFamily="34" charset="-122"/>
                <a:cs typeface="Calibri" panose="020F0502020204030204" pitchFamily="34" charset="-120"/>
              </a:rPr>
              <a:t>Quelle est la taille estimée du marché (national/régional) ?</a:t>
            </a:r>
            <a:endParaRPr lang="en-US" sz="1050" dirty="0"/>
          </a:p>
        </p:txBody>
      </p:sp>
      <p:sp>
        <p:nvSpPr>
          <p:cNvPr id="22" name="Text 20"/>
          <p:cNvSpPr/>
          <p:nvPr/>
        </p:nvSpPr>
        <p:spPr>
          <a:xfrm>
            <a:off x="8001000" y="4279392"/>
            <a:ext cx="3474720" cy="457200"/>
          </a:xfrm>
          <a:prstGeom prst="rect">
            <a:avLst/>
          </a:prstGeom>
          <a:noFill/>
        </p:spPr>
        <p:txBody>
          <a:bodyPr wrap="square" lIns="0" tIns="0" rIns="0" bIns="0" rtlCol="0" anchor="ctr"/>
          <a:lstStyle/>
          <a:p>
            <a:pPr marL="0" indent="0" algn="r" rtl="1">
              <a:buNone/>
            </a:pPr>
            <a:r>
              <a:rPr lang="en-US" sz="1050" dirty="0">
                <a:solidFill>
                  <a:srgbClr val="6B7178"/>
                </a:solidFill>
                <a:latin typeface="Shakila" pitchFamily="34" charset="0"/>
                <a:ea typeface="Shakila" pitchFamily="34" charset="-122"/>
                <a:cs typeface="Shakila" pitchFamily="34" charset="-120"/>
              </a:rPr>
              <a:t>ما الحجم التقديري للسوق (وطني/إقليمي)؟</a:t>
            </a:r>
            <a:endParaRPr lang="en-US" sz="1050" dirty="0"/>
          </a:p>
        </p:txBody>
      </p:sp>
      <p:sp>
        <p:nvSpPr>
          <p:cNvPr id="23" name="Shape 21"/>
          <p:cNvSpPr/>
          <p:nvPr/>
        </p:nvSpPr>
        <p:spPr>
          <a:xfrm>
            <a:off x="7818120" y="4992624"/>
            <a:ext cx="3840480" cy="1188720"/>
          </a:xfrm>
          <a:prstGeom prst="roundRect">
            <a:avLst>
              <a:gd name="adj" fmla="val 6154"/>
            </a:avLst>
          </a:prstGeom>
          <a:solidFill>
            <a:srgbClr val="FFFFFF"/>
          </a:solidFill>
          <a:effectLst>
            <a:outerShdw blurRad="76200" dist="25400" dir="5400000" algn="bl" rotWithShape="0">
              <a:srgbClr val="000000">
                <a:alpha val="10000"/>
              </a:srgbClr>
            </a:outerShdw>
          </a:effectLst>
        </p:spPr>
      </p:sp>
      <p:sp>
        <p:nvSpPr>
          <p:cNvPr id="24" name="Text 22"/>
          <p:cNvSpPr/>
          <p:nvPr/>
        </p:nvSpPr>
        <p:spPr>
          <a:xfrm>
            <a:off x="8001000" y="5084064"/>
            <a:ext cx="3474720" cy="502920"/>
          </a:xfrm>
          <a:prstGeom prst="rect">
            <a:avLst/>
          </a:prstGeom>
          <a:noFill/>
        </p:spPr>
        <p:txBody>
          <a:bodyPr wrap="square" lIns="0" tIns="0" rIns="0" bIns="0" rtlCol="0" anchor="ctr"/>
          <a:lstStyle/>
          <a:p>
            <a:pPr marL="0" indent="0">
              <a:buNone/>
            </a:pPr>
            <a:r>
              <a:rPr lang="en-US" sz="1050" dirty="0">
                <a:solidFill>
                  <a:srgbClr val="26282B"/>
                </a:solidFill>
                <a:latin typeface="Calibri" panose="020F0502020204030204" pitchFamily="34" charset="0"/>
                <a:ea typeface="Calibri" panose="020F0502020204030204" pitchFamily="34" charset="-122"/>
                <a:cs typeface="Calibri" panose="020F0502020204030204" pitchFamily="34" charset="-120"/>
              </a:rPr>
              <a:t>Qui sont vos concurrents directs et indirects ?</a:t>
            </a:r>
            <a:endParaRPr lang="en-US" sz="1050" dirty="0"/>
          </a:p>
        </p:txBody>
      </p:sp>
      <p:sp>
        <p:nvSpPr>
          <p:cNvPr id="25" name="Text 23"/>
          <p:cNvSpPr/>
          <p:nvPr/>
        </p:nvSpPr>
        <p:spPr>
          <a:xfrm>
            <a:off x="8001000" y="5632704"/>
            <a:ext cx="3474720" cy="457200"/>
          </a:xfrm>
          <a:prstGeom prst="rect">
            <a:avLst/>
          </a:prstGeom>
          <a:noFill/>
        </p:spPr>
        <p:txBody>
          <a:bodyPr wrap="square" lIns="0" tIns="0" rIns="0" bIns="0" rtlCol="0" anchor="ctr"/>
          <a:lstStyle/>
          <a:p>
            <a:pPr marL="0" indent="0" algn="r" rtl="1">
              <a:buNone/>
            </a:pPr>
            <a:r>
              <a:rPr lang="en-US" sz="1050" dirty="0">
                <a:solidFill>
                  <a:srgbClr val="6B7178"/>
                </a:solidFill>
                <a:latin typeface="Shakila" pitchFamily="34" charset="0"/>
                <a:ea typeface="Shakila" pitchFamily="34" charset="-122"/>
                <a:cs typeface="Shakila" pitchFamily="34" charset="-120"/>
              </a:rPr>
              <a:t>من هم منافسوكم المباشرون وغير المباشرون؟</a:t>
            </a:r>
            <a:endParaRPr lang="en-US" sz="1050" dirty="0"/>
          </a:p>
        </p:txBody>
      </p:sp>
      <p:sp>
        <p:nvSpPr>
          <p:cNvPr id="26" name="Text 24"/>
          <p:cNvSpPr/>
          <p:nvPr/>
        </p:nvSpPr>
        <p:spPr>
          <a:xfrm>
            <a:off x="11551615" y="6446520"/>
            <a:ext cx="365760" cy="274320"/>
          </a:xfrm>
          <a:prstGeom prst="rect">
            <a:avLst/>
          </a:prstGeom>
          <a:noFill/>
        </p:spPr>
        <p:txBody>
          <a:bodyPr wrap="square" rtlCol="0" anchor="ctr"/>
          <a:lstStyle/>
          <a:p>
            <a:pPr marL="0" indent="0" algn="r">
              <a:buNone/>
            </a:pPr>
            <a:r>
              <a:rPr lang="en-US" sz="1000" dirty="0">
                <a:solidFill>
                  <a:srgbClr val="6B7178"/>
                </a:solidFill>
                <a:latin typeface="Calibri" panose="020F0502020204030204" pitchFamily="34" charset="0"/>
                <a:ea typeface="Calibri" panose="020F0502020204030204" pitchFamily="34" charset="-122"/>
                <a:cs typeface="Calibri" panose="020F0502020204030204" pitchFamily="34" charset="-120"/>
              </a:rPr>
              <a:t>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2F3"/>
        </a:solidFill>
        <a:effectLst/>
      </p:bgPr>
    </p:bg>
    <p:spTree>
      <p:nvGrpSpPr>
        <p:cNvPr id="1" name=""/>
        <p:cNvGrpSpPr/>
        <p:nvPr/>
      </p:nvGrpSpPr>
      <p:grpSpPr>
        <a:xfrm>
          <a:off x="0" y="0"/>
          <a:ext cx="0" cy="0"/>
          <a:chOff x="0" y="0"/>
          <a:chExt cx="0" cy="0"/>
        </a:xfrm>
      </p:grpSpPr>
      <p:sp>
        <p:nvSpPr>
          <p:cNvPr id="2" name="Shape 0"/>
          <p:cNvSpPr/>
          <p:nvPr/>
        </p:nvSpPr>
        <p:spPr>
          <a:xfrm>
            <a:off x="548640" y="457200"/>
            <a:ext cx="3108960" cy="384048"/>
          </a:xfrm>
          <a:prstGeom prst="roundRect">
            <a:avLst>
              <a:gd name="adj" fmla="val 19048"/>
            </a:avLst>
          </a:prstGeom>
          <a:solidFill>
            <a:srgbClr val="E07B2A"/>
          </a:solidFill>
        </p:spPr>
      </p:sp>
      <p:sp>
        <p:nvSpPr>
          <p:cNvPr id="3" name="Text 1"/>
          <p:cNvSpPr/>
          <p:nvPr/>
        </p:nvSpPr>
        <p:spPr>
          <a:xfrm>
            <a:off x="548640" y="457200"/>
            <a:ext cx="3108960" cy="384048"/>
          </a:xfrm>
          <a:prstGeom prst="rect">
            <a:avLst/>
          </a:prstGeom>
          <a:noFill/>
        </p:spPr>
        <p:txBody>
          <a:bodyPr wrap="square" lIns="0" tIns="0" rIns="0" bIns="0" rtlCol="0" anchor="ctr"/>
          <a:lstStyle/>
          <a:p>
            <a:pPr marL="0" indent="0" algn="ctr">
              <a:buNone/>
            </a:pPr>
            <a:r>
              <a:rPr lang="en-US" sz="1200" b="1" dirty="0">
                <a:solidFill>
                  <a:srgbClr val="0F3A5F"/>
                </a:solidFill>
                <a:latin typeface="Calibri" panose="020F0502020204030204" pitchFamily="34" charset="0"/>
                <a:ea typeface="Calibri" panose="020F0502020204030204" pitchFamily="34" charset="-122"/>
                <a:cs typeface="Calibri" panose="020F0502020204030204" pitchFamily="34" charset="-120"/>
              </a:rPr>
              <a:t>05 · MODÈLE ÉCONOMIQUE</a:t>
            </a:r>
            <a:endParaRPr lang="en-US" sz="1200" dirty="0"/>
          </a:p>
        </p:txBody>
      </p:sp>
      <p:sp>
        <p:nvSpPr>
          <p:cNvPr id="4" name="Shape 2"/>
          <p:cNvSpPr/>
          <p:nvPr/>
        </p:nvSpPr>
        <p:spPr>
          <a:xfrm>
            <a:off x="8534095" y="457200"/>
            <a:ext cx="3108960" cy="384048"/>
          </a:xfrm>
          <a:prstGeom prst="roundRect">
            <a:avLst>
              <a:gd name="adj" fmla="val 19048"/>
            </a:avLst>
          </a:prstGeom>
          <a:solidFill>
            <a:srgbClr val="E07B2A"/>
          </a:solidFill>
        </p:spPr>
      </p:sp>
      <p:sp>
        <p:nvSpPr>
          <p:cNvPr id="5" name="Text 3"/>
          <p:cNvSpPr/>
          <p:nvPr/>
        </p:nvSpPr>
        <p:spPr>
          <a:xfrm>
            <a:off x="8534095" y="457200"/>
            <a:ext cx="3108960" cy="384048"/>
          </a:xfrm>
          <a:prstGeom prst="rect">
            <a:avLst/>
          </a:prstGeom>
          <a:noFill/>
        </p:spPr>
        <p:txBody>
          <a:bodyPr wrap="square" lIns="0" tIns="0" rIns="0" bIns="0" rtlCol="0" anchor="ctr"/>
          <a:lstStyle/>
          <a:p>
            <a:pPr marL="0" indent="0" algn="ctr" rtl="1">
              <a:buNone/>
            </a:pPr>
            <a:r>
              <a:rPr lang="en-US" sz="1300" b="1" dirty="0">
                <a:solidFill>
                  <a:srgbClr val="0F3A5F"/>
                </a:solidFill>
                <a:latin typeface="Shakila" pitchFamily="34" charset="0"/>
                <a:ea typeface="Shakila" pitchFamily="34" charset="-122"/>
                <a:cs typeface="Shakila" pitchFamily="34" charset="-120"/>
              </a:rPr>
              <a:t>النموذج الاقتصادي</a:t>
            </a:r>
            <a:endParaRPr lang="en-US" sz="1300" dirty="0"/>
          </a:p>
        </p:txBody>
      </p:sp>
      <p:sp>
        <p:nvSpPr>
          <p:cNvPr id="6" name="Text 4"/>
          <p:cNvSpPr/>
          <p:nvPr/>
        </p:nvSpPr>
        <p:spPr>
          <a:xfrm>
            <a:off x="548640" y="960120"/>
            <a:ext cx="11094415" cy="548640"/>
          </a:xfrm>
          <a:prstGeom prst="rect">
            <a:avLst/>
          </a:prstGeom>
          <a:noFill/>
        </p:spPr>
        <p:txBody>
          <a:bodyPr wrap="square" lIns="0" tIns="0" rIns="0" bIns="0" rtlCol="0" anchor="ctr"/>
          <a:lstStyle/>
          <a:p>
            <a:pPr marL="0" indent="0" algn="l">
              <a:buNone/>
            </a:pPr>
            <a:r>
              <a:rPr lang="en-US" sz="3000" b="1" dirty="0">
                <a:solidFill>
                  <a:srgbClr val="0F3A5F"/>
                </a:solidFill>
                <a:latin typeface="Cambria" panose="02040503050406030204" pitchFamily="34" charset="0"/>
                <a:ea typeface="Cambria" panose="02040503050406030204" pitchFamily="34" charset="-122"/>
                <a:cs typeface="Cambria" panose="02040503050406030204" pitchFamily="34" charset="-120"/>
              </a:rPr>
              <a:t>Le modèle économique</a:t>
            </a:r>
            <a:endParaRPr lang="en-US" sz="3000" dirty="0"/>
          </a:p>
        </p:txBody>
      </p:sp>
      <p:sp>
        <p:nvSpPr>
          <p:cNvPr id="7" name="Text 5"/>
          <p:cNvSpPr/>
          <p:nvPr/>
        </p:nvSpPr>
        <p:spPr>
          <a:xfrm>
            <a:off x="548640" y="1463040"/>
            <a:ext cx="11094415" cy="457200"/>
          </a:xfrm>
          <a:prstGeom prst="rect">
            <a:avLst/>
          </a:prstGeom>
          <a:noFill/>
        </p:spPr>
        <p:txBody>
          <a:bodyPr wrap="square" lIns="0" tIns="0" rIns="0" bIns="0" rtlCol="0" anchor="ctr"/>
          <a:lstStyle/>
          <a:p>
            <a:pPr marL="0" indent="0" algn="r" rtl="1">
              <a:buNone/>
            </a:pPr>
            <a:r>
              <a:rPr lang="en-US" sz="2200" b="1" dirty="0">
                <a:solidFill>
                  <a:srgbClr val="6B7178"/>
                </a:solidFill>
                <a:latin typeface="Shakila" pitchFamily="34" charset="0"/>
                <a:ea typeface="Shakila" pitchFamily="34" charset="-122"/>
                <a:cs typeface="Shakila" pitchFamily="34" charset="-120"/>
              </a:rPr>
              <a:t>النموذج الاقتصادي</a:t>
            </a:r>
            <a:endParaRPr lang="en-US" sz="2200" dirty="0"/>
          </a:p>
        </p:txBody>
      </p:sp>
      <p:sp>
        <p:nvSpPr>
          <p:cNvPr id="8" name="Shape 6"/>
          <p:cNvSpPr/>
          <p:nvPr/>
        </p:nvSpPr>
        <p:spPr>
          <a:xfrm>
            <a:off x="548640" y="2240280"/>
            <a:ext cx="2606040" cy="3383280"/>
          </a:xfrm>
          <a:prstGeom prst="roundRect">
            <a:avLst>
              <a:gd name="adj" fmla="val 2807"/>
            </a:avLst>
          </a:prstGeom>
          <a:solidFill>
            <a:srgbClr val="FFFFFF"/>
          </a:solidFill>
          <a:effectLst>
            <a:outerShdw blurRad="101600" dist="38100" dir="5400000" algn="bl" rotWithShape="0">
              <a:srgbClr val="000000">
                <a:alpha val="10000"/>
              </a:srgbClr>
            </a:outerShdw>
          </a:effectLst>
        </p:spPr>
      </p:sp>
      <p:sp>
        <p:nvSpPr>
          <p:cNvPr id="9" name="Shape 7"/>
          <p:cNvSpPr/>
          <p:nvPr/>
        </p:nvSpPr>
        <p:spPr>
          <a:xfrm>
            <a:off x="1531620" y="2514600"/>
            <a:ext cx="640080" cy="640080"/>
          </a:xfrm>
          <a:prstGeom prst="ellipse">
            <a:avLst/>
          </a:prstGeom>
          <a:solidFill>
            <a:srgbClr val="0F3A5F"/>
          </a:solidFill>
        </p:spPr>
      </p:sp>
      <p:pic>
        <p:nvPicPr>
          <p:cNvPr id="10" name="Image 0" descr="/home/claude/assets/handholding.png"/>
          <p:cNvPicPr>
            <a:picLocks noChangeAspect="1"/>
          </p:cNvPicPr>
          <p:nvPr/>
        </p:nvPicPr>
        <p:blipFill>
          <a:blip r:embed="rId3"/>
          <a:stretch>
            <a:fillRect/>
          </a:stretch>
        </p:blipFill>
        <p:spPr>
          <a:xfrm>
            <a:off x="1659636" y="2642616"/>
            <a:ext cx="384048" cy="384048"/>
          </a:xfrm>
          <a:prstGeom prst="rect">
            <a:avLst/>
          </a:prstGeom>
        </p:spPr>
      </p:pic>
      <p:sp>
        <p:nvSpPr>
          <p:cNvPr id="11" name="Text 8"/>
          <p:cNvSpPr/>
          <p:nvPr/>
        </p:nvSpPr>
        <p:spPr>
          <a:xfrm>
            <a:off x="685800" y="3337560"/>
            <a:ext cx="2331720" cy="457200"/>
          </a:xfrm>
          <a:prstGeom prst="rect">
            <a:avLst/>
          </a:prstGeom>
          <a:noFill/>
        </p:spPr>
        <p:txBody>
          <a:bodyPr wrap="square" lIns="0" tIns="0" rIns="0" bIns="0" rtlCol="0" anchor="ctr"/>
          <a:lstStyle/>
          <a:p>
            <a:pPr marL="0" indent="0" algn="ctr">
              <a:buNone/>
            </a:pPr>
            <a:r>
              <a:rPr lang="en-US" sz="1250" b="1" dirty="0">
                <a:solidFill>
                  <a:srgbClr val="0F3A5F"/>
                </a:solidFill>
                <a:latin typeface="Calibri" panose="020F0502020204030204" pitchFamily="34" charset="0"/>
                <a:ea typeface="Calibri" panose="020F0502020204030204" pitchFamily="34" charset="-122"/>
                <a:cs typeface="Calibri" panose="020F0502020204030204" pitchFamily="34" charset="-120"/>
              </a:rPr>
              <a:t>Sources de revenus</a:t>
            </a:r>
            <a:endParaRPr lang="en-US" sz="1250" dirty="0"/>
          </a:p>
        </p:txBody>
      </p:sp>
      <p:sp>
        <p:nvSpPr>
          <p:cNvPr id="12" name="Text 9"/>
          <p:cNvSpPr/>
          <p:nvPr/>
        </p:nvSpPr>
        <p:spPr>
          <a:xfrm>
            <a:off x="685800" y="3749040"/>
            <a:ext cx="2331720" cy="411480"/>
          </a:xfrm>
          <a:prstGeom prst="rect">
            <a:avLst/>
          </a:prstGeom>
          <a:noFill/>
        </p:spPr>
        <p:txBody>
          <a:bodyPr wrap="square" lIns="0" tIns="0" rIns="0" bIns="0" rtlCol="0" anchor="ctr"/>
          <a:lstStyle/>
          <a:p>
            <a:pPr marL="0" indent="0" algn="ctr" rtl="1">
              <a:buNone/>
            </a:pPr>
            <a:r>
              <a:rPr lang="en-US" sz="1250" b="1" dirty="0">
                <a:solidFill>
                  <a:srgbClr val="E07B2A"/>
                </a:solidFill>
                <a:latin typeface="Shakila" pitchFamily="34" charset="0"/>
                <a:ea typeface="Shakila" pitchFamily="34" charset="-122"/>
                <a:cs typeface="Shakila" pitchFamily="34" charset="-120"/>
              </a:rPr>
              <a:t>مصادر الدخل</a:t>
            </a:r>
            <a:endParaRPr lang="en-US" sz="1250" dirty="0"/>
          </a:p>
        </p:txBody>
      </p:sp>
      <p:sp>
        <p:nvSpPr>
          <p:cNvPr id="13" name="Shape 10"/>
          <p:cNvSpPr/>
          <p:nvPr/>
        </p:nvSpPr>
        <p:spPr>
          <a:xfrm>
            <a:off x="1005840" y="4206240"/>
            <a:ext cx="1691640" cy="0"/>
          </a:xfrm>
          <a:prstGeom prst="line">
            <a:avLst/>
          </a:prstGeom>
          <a:noFill/>
          <a:ln w="19050">
            <a:solidFill>
              <a:srgbClr val="F1F2F3"/>
            </a:solidFill>
            <a:prstDash val="solid"/>
          </a:ln>
        </p:spPr>
      </p:sp>
      <p:sp>
        <p:nvSpPr>
          <p:cNvPr id="14" name="Text 11"/>
          <p:cNvSpPr/>
          <p:nvPr/>
        </p:nvSpPr>
        <p:spPr>
          <a:xfrm>
            <a:off x="731520" y="4343400"/>
            <a:ext cx="2240280" cy="1143000"/>
          </a:xfrm>
          <a:prstGeom prst="rect">
            <a:avLst/>
          </a:prstGeom>
          <a:noFill/>
        </p:spPr>
        <p:txBody>
          <a:bodyPr wrap="square" lIns="0" tIns="0" rIns="0" bIns="0" rtlCol="0" anchor="ctr"/>
          <a:lstStyle/>
          <a:p>
            <a:pPr marL="0" indent="0" algn="ctr">
              <a:buNone/>
            </a:pPr>
            <a:r>
              <a:rPr lang="en-US" sz="1000" dirty="0">
                <a:solidFill>
                  <a:srgbClr val="26282B"/>
                </a:solidFill>
                <a:latin typeface="Calibri" panose="020F0502020204030204" pitchFamily="34" charset="0"/>
                <a:ea typeface="Calibri" panose="020F0502020204030204" pitchFamily="34" charset="-122"/>
                <a:cs typeface="Calibri" panose="020F0502020204030204" pitchFamily="34" charset="-120"/>
              </a:rPr>
              <a:t>Vente directe, abonnement, licence, prestation de service...</a:t>
            </a:r>
            <a:endParaRPr lang="en-US" sz="1000" dirty="0"/>
          </a:p>
        </p:txBody>
      </p:sp>
      <p:sp>
        <p:nvSpPr>
          <p:cNvPr id="15" name="Shape 12"/>
          <p:cNvSpPr/>
          <p:nvPr/>
        </p:nvSpPr>
        <p:spPr>
          <a:xfrm>
            <a:off x="3383280" y="2240280"/>
            <a:ext cx="2606040" cy="3383280"/>
          </a:xfrm>
          <a:prstGeom prst="roundRect">
            <a:avLst>
              <a:gd name="adj" fmla="val 2807"/>
            </a:avLst>
          </a:prstGeom>
          <a:solidFill>
            <a:srgbClr val="FFFFFF"/>
          </a:solidFill>
          <a:effectLst>
            <a:outerShdw blurRad="101600" dist="38100" dir="5400000" algn="bl" rotWithShape="0">
              <a:srgbClr val="000000">
                <a:alpha val="10000"/>
              </a:srgbClr>
            </a:outerShdw>
          </a:effectLst>
        </p:spPr>
      </p:sp>
      <p:sp>
        <p:nvSpPr>
          <p:cNvPr id="16" name="Shape 13"/>
          <p:cNvSpPr/>
          <p:nvPr/>
        </p:nvSpPr>
        <p:spPr>
          <a:xfrm>
            <a:off x="4366260" y="2514600"/>
            <a:ext cx="640080" cy="640080"/>
          </a:xfrm>
          <a:prstGeom prst="ellipse">
            <a:avLst/>
          </a:prstGeom>
          <a:solidFill>
            <a:srgbClr val="0F3A5F"/>
          </a:solidFill>
        </p:spPr>
      </p:sp>
      <p:pic>
        <p:nvPicPr>
          <p:cNvPr id="17" name="Image 1" descr="/home/claude/assets/cart.png"/>
          <p:cNvPicPr>
            <a:picLocks noChangeAspect="1"/>
          </p:cNvPicPr>
          <p:nvPr/>
        </p:nvPicPr>
        <p:blipFill>
          <a:blip r:embed="rId4"/>
          <a:stretch>
            <a:fillRect/>
          </a:stretch>
        </p:blipFill>
        <p:spPr>
          <a:xfrm>
            <a:off x="4494276" y="2642616"/>
            <a:ext cx="384048" cy="384048"/>
          </a:xfrm>
          <a:prstGeom prst="rect">
            <a:avLst/>
          </a:prstGeom>
        </p:spPr>
      </p:pic>
      <p:sp>
        <p:nvSpPr>
          <p:cNvPr id="18" name="Text 14"/>
          <p:cNvSpPr/>
          <p:nvPr/>
        </p:nvSpPr>
        <p:spPr>
          <a:xfrm>
            <a:off x="3520440" y="3337560"/>
            <a:ext cx="2331720" cy="457200"/>
          </a:xfrm>
          <a:prstGeom prst="rect">
            <a:avLst/>
          </a:prstGeom>
          <a:noFill/>
        </p:spPr>
        <p:txBody>
          <a:bodyPr wrap="square" lIns="0" tIns="0" rIns="0" bIns="0" rtlCol="0" anchor="ctr"/>
          <a:lstStyle/>
          <a:p>
            <a:pPr marL="0" indent="0" algn="ctr">
              <a:buNone/>
            </a:pPr>
            <a:r>
              <a:rPr lang="en-US" sz="1250" b="1" dirty="0">
                <a:solidFill>
                  <a:srgbClr val="0F3A5F"/>
                </a:solidFill>
                <a:latin typeface="Calibri" panose="020F0502020204030204" pitchFamily="34" charset="0"/>
                <a:ea typeface="Calibri" panose="020F0502020204030204" pitchFamily="34" charset="-122"/>
                <a:cs typeface="Calibri" panose="020F0502020204030204" pitchFamily="34" charset="-120"/>
              </a:rPr>
              <a:t>Structure de coûts</a:t>
            </a:r>
            <a:endParaRPr lang="en-US" sz="1250" dirty="0"/>
          </a:p>
        </p:txBody>
      </p:sp>
      <p:sp>
        <p:nvSpPr>
          <p:cNvPr id="19" name="Text 15"/>
          <p:cNvSpPr/>
          <p:nvPr/>
        </p:nvSpPr>
        <p:spPr>
          <a:xfrm>
            <a:off x="3520440" y="3749040"/>
            <a:ext cx="2331720" cy="411480"/>
          </a:xfrm>
          <a:prstGeom prst="rect">
            <a:avLst/>
          </a:prstGeom>
          <a:noFill/>
        </p:spPr>
        <p:txBody>
          <a:bodyPr wrap="square" lIns="0" tIns="0" rIns="0" bIns="0" rtlCol="0" anchor="ctr"/>
          <a:lstStyle/>
          <a:p>
            <a:pPr marL="0" indent="0" algn="ctr" rtl="1">
              <a:buNone/>
            </a:pPr>
            <a:r>
              <a:rPr lang="en-US" sz="1250" b="1" dirty="0">
                <a:solidFill>
                  <a:srgbClr val="E07B2A"/>
                </a:solidFill>
                <a:latin typeface="Shakila" pitchFamily="34" charset="0"/>
                <a:ea typeface="Shakila" pitchFamily="34" charset="-122"/>
                <a:cs typeface="Shakila" pitchFamily="34" charset="-120"/>
              </a:rPr>
              <a:t>هيكل التكاليف</a:t>
            </a:r>
            <a:endParaRPr lang="en-US" sz="1250" dirty="0"/>
          </a:p>
        </p:txBody>
      </p:sp>
      <p:sp>
        <p:nvSpPr>
          <p:cNvPr id="20" name="Shape 16"/>
          <p:cNvSpPr/>
          <p:nvPr/>
        </p:nvSpPr>
        <p:spPr>
          <a:xfrm>
            <a:off x="3840480" y="4206240"/>
            <a:ext cx="1691640" cy="0"/>
          </a:xfrm>
          <a:prstGeom prst="line">
            <a:avLst/>
          </a:prstGeom>
          <a:noFill/>
          <a:ln w="19050">
            <a:solidFill>
              <a:srgbClr val="F1F2F3"/>
            </a:solidFill>
            <a:prstDash val="solid"/>
          </a:ln>
        </p:spPr>
      </p:sp>
      <p:sp>
        <p:nvSpPr>
          <p:cNvPr id="21" name="Text 17"/>
          <p:cNvSpPr/>
          <p:nvPr/>
        </p:nvSpPr>
        <p:spPr>
          <a:xfrm>
            <a:off x="3566160" y="4343400"/>
            <a:ext cx="2240280" cy="1143000"/>
          </a:xfrm>
          <a:prstGeom prst="rect">
            <a:avLst/>
          </a:prstGeom>
          <a:noFill/>
        </p:spPr>
        <p:txBody>
          <a:bodyPr wrap="square" lIns="0" tIns="0" rIns="0" bIns="0" rtlCol="0" anchor="ctr"/>
          <a:lstStyle/>
          <a:p>
            <a:pPr marL="0" indent="0" algn="ctr">
              <a:buNone/>
            </a:pPr>
            <a:r>
              <a:rPr lang="en-US" sz="1000" dirty="0">
                <a:solidFill>
                  <a:srgbClr val="26282B"/>
                </a:solidFill>
                <a:latin typeface="Calibri" panose="020F0502020204030204" pitchFamily="34" charset="0"/>
                <a:ea typeface="Calibri" panose="020F0502020204030204" pitchFamily="34" charset="-122"/>
                <a:cs typeface="Calibri" panose="020F0502020204030204" pitchFamily="34" charset="-120"/>
              </a:rPr>
              <a:t>Coûts fixes et variables : production, R&amp;D, marketing, RH</a:t>
            </a:r>
            <a:endParaRPr lang="en-US" sz="1000" dirty="0"/>
          </a:p>
        </p:txBody>
      </p:sp>
      <p:sp>
        <p:nvSpPr>
          <p:cNvPr id="22" name="Shape 18"/>
          <p:cNvSpPr/>
          <p:nvPr/>
        </p:nvSpPr>
        <p:spPr>
          <a:xfrm>
            <a:off x="6217920" y="2240280"/>
            <a:ext cx="2606040" cy="3383280"/>
          </a:xfrm>
          <a:prstGeom prst="roundRect">
            <a:avLst>
              <a:gd name="adj" fmla="val 2807"/>
            </a:avLst>
          </a:prstGeom>
          <a:solidFill>
            <a:srgbClr val="FFFFFF"/>
          </a:solidFill>
          <a:effectLst>
            <a:outerShdw blurRad="101600" dist="38100" dir="5400000" algn="bl" rotWithShape="0">
              <a:srgbClr val="000000">
                <a:alpha val="10000"/>
              </a:srgbClr>
            </a:outerShdw>
          </a:effectLst>
        </p:spPr>
      </p:sp>
      <p:sp>
        <p:nvSpPr>
          <p:cNvPr id="23" name="Shape 19"/>
          <p:cNvSpPr/>
          <p:nvPr/>
        </p:nvSpPr>
        <p:spPr>
          <a:xfrm>
            <a:off x="7200900" y="2514600"/>
            <a:ext cx="640080" cy="640080"/>
          </a:xfrm>
          <a:prstGeom prst="ellipse">
            <a:avLst/>
          </a:prstGeom>
          <a:solidFill>
            <a:srgbClr val="0F3A5F"/>
          </a:solidFill>
        </p:spPr>
      </p:sp>
      <p:pic>
        <p:nvPicPr>
          <p:cNvPr id="24" name="Image 2" descr="/home/claude/assets/chartline.png"/>
          <p:cNvPicPr>
            <a:picLocks noChangeAspect="1"/>
          </p:cNvPicPr>
          <p:nvPr/>
        </p:nvPicPr>
        <p:blipFill>
          <a:blip r:embed="rId5"/>
          <a:stretch>
            <a:fillRect/>
          </a:stretch>
        </p:blipFill>
        <p:spPr>
          <a:xfrm>
            <a:off x="7328916" y="2642616"/>
            <a:ext cx="384048" cy="384048"/>
          </a:xfrm>
          <a:prstGeom prst="rect">
            <a:avLst/>
          </a:prstGeom>
        </p:spPr>
      </p:pic>
      <p:sp>
        <p:nvSpPr>
          <p:cNvPr id="25" name="Text 20"/>
          <p:cNvSpPr/>
          <p:nvPr/>
        </p:nvSpPr>
        <p:spPr>
          <a:xfrm>
            <a:off x="6355080" y="3337560"/>
            <a:ext cx="2331720" cy="457200"/>
          </a:xfrm>
          <a:prstGeom prst="rect">
            <a:avLst/>
          </a:prstGeom>
          <a:noFill/>
        </p:spPr>
        <p:txBody>
          <a:bodyPr wrap="square" lIns="0" tIns="0" rIns="0" bIns="0" rtlCol="0" anchor="ctr"/>
          <a:lstStyle/>
          <a:p>
            <a:pPr marL="0" indent="0" algn="ctr">
              <a:buNone/>
            </a:pPr>
            <a:r>
              <a:rPr lang="en-US" sz="1250" b="1" dirty="0">
                <a:solidFill>
                  <a:srgbClr val="0F3A5F"/>
                </a:solidFill>
                <a:latin typeface="Calibri" panose="020F0502020204030204" pitchFamily="34" charset="0"/>
                <a:ea typeface="Calibri" panose="020F0502020204030204" pitchFamily="34" charset="-122"/>
                <a:cs typeface="Calibri" panose="020F0502020204030204" pitchFamily="34" charset="-120"/>
              </a:rPr>
              <a:t>Stratégie de prix</a:t>
            </a:r>
            <a:endParaRPr lang="en-US" sz="1250" dirty="0"/>
          </a:p>
        </p:txBody>
      </p:sp>
      <p:sp>
        <p:nvSpPr>
          <p:cNvPr id="26" name="Text 21"/>
          <p:cNvSpPr/>
          <p:nvPr/>
        </p:nvSpPr>
        <p:spPr>
          <a:xfrm>
            <a:off x="6355080" y="3749040"/>
            <a:ext cx="2331720" cy="411480"/>
          </a:xfrm>
          <a:prstGeom prst="rect">
            <a:avLst/>
          </a:prstGeom>
          <a:noFill/>
        </p:spPr>
        <p:txBody>
          <a:bodyPr wrap="square" lIns="0" tIns="0" rIns="0" bIns="0" rtlCol="0" anchor="ctr"/>
          <a:lstStyle/>
          <a:p>
            <a:pPr marL="0" indent="0" algn="ctr" rtl="1">
              <a:buNone/>
            </a:pPr>
            <a:r>
              <a:rPr lang="en-US" sz="1250" b="1" dirty="0">
                <a:solidFill>
                  <a:srgbClr val="E07B2A"/>
                </a:solidFill>
                <a:latin typeface="Shakila" pitchFamily="34" charset="0"/>
                <a:ea typeface="Shakila" pitchFamily="34" charset="-122"/>
                <a:cs typeface="Shakila" pitchFamily="34" charset="-120"/>
              </a:rPr>
              <a:t>استراتيجية التسعير</a:t>
            </a:r>
            <a:endParaRPr lang="en-US" sz="1250" dirty="0"/>
          </a:p>
        </p:txBody>
      </p:sp>
      <p:sp>
        <p:nvSpPr>
          <p:cNvPr id="27" name="Shape 22"/>
          <p:cNvSpPr/>
          <p:nvPr/>
        </p:nvSpPr>
        <p:spPr>
          <a:xfrm>
            <a:off x="6675120" y="4206240"/>
            <a:ext cx="1691640" cy="0"/>
          </a:xfrm>
          <a:prstGeom prst="line">
            <a:avLst/>
          </a:prstGeom>
          <a:noFill/>
          <a:ln w="19050">
            <a:solidFill>
              <a:srgbClr val="F1F2F3"/>
            </a:solidFill>
            <a:prstDash val="solid"/>
          </a:ln>
        </p:spPr>
      </p:sp>
      <p:sp>
        <p:nvSpPr>
          <p:cNvPr id="28" name="Text 23"/>
          <p:cNvSpPr/>
          <p:nvPr/>
        </p:nvSpPr>
        <p:spPr>
          <a:xfrm>
            <a:off x="6400800" y="4343400"/>
            <a:ext cx="2240280" cy="1143000"/>
          </a:xfrm>
          <a:prstGeom prst="rect">
            <a:avLst/>
          </a:prstGeom>
          <a:noFill/>
        </p:spPr>
        <p:txBody>
          <a:bodyPr wrap="square" lIns="0" tIns="0" rIns="0" bIns="0" rtlCol="0" anchor="ctr"/>
          <a:lstStyle/>
          <a:p>
            <a:pPr marL="0" indent="0" algn="ctr">
              <a:buNone/>
            </a:pPr>
            <a:r>
              <a:rPr lang="en-US" sz="1000" dirty="0">
                <a:solidFill>
                  <a:srgbClr val="26282B"/>
                </a:solidFill>
                <a:latin typeface="Calibri" panose="020F0502020204030204" pitchFamily="34" charset="0"/>
                <a:ea typeface="Calibri" panose="020F0502020204030204" pitchFamily="34" charset="-122"/>
                <a:cs typeface="Calibri" panose="020F0502020204030204" pitchFamily="34" charset="-120"/>
              </a:rPr>
              <a:t>Méthode de fixation du prix et marge visée</a:t>
            </a:r>
            <a:endParaRPr lang="en-US" sz="1000" dirty="0"/>
          </a:p>
        </p:txBody>
      </p:sp>
      <p:sp>
        <p:nvSpPr>
          <p:cNvPr id="29" name="Shape 24"/>
          <p:cNvSpPr/>
          <p:nvPr/>
        </p:nvSpPr>
        <p:spPr>
          <a:xfrm>
            <a:off x="9052560" y="2240280"/>
            <a:ext cx="2606040" cy="3383280"/>
          </a:xfrm>
          <a:prstGeom prst="roundRect">
            <a:avLst>
              <a:gd name="adj" fmla="val 2807"/>
            </a:avLst>
          </a:prstGeom>
          <a:solidFill>
            <a:srgbClr val="FFFFFF"/>
          </a:solidFill>
          <a:effectLst>
            <a:outerShdw blurRad="101600" dist="38100" dir="5400000" algn="bl" rotWithShape="0">
              <a:srgbClr val="000000">
                <a:alpha val="10000"/>
              </a:srgbClr>
            </a:outerShdw>
          </a:effectLst>
        </p:spPr>
      </p:sp>
      <p:sp>
        <p:nvSpPr>
          <p:cNvPr id="30" name="Shape 25"/>
          <p:cNvSpPr/>
          <p:nvPr/>
        </p:nvSpPr>
        <p:spPr>
          <a:xfrm>
            <a:off x="10035540" y="2514600"/>
            <a:ext cx="640080" cy="640080"/>
          </a:xfrm>
          <a:prstGeom prst="ellipse">
            <a:avLst/>
          </a:prstGeom>
          <a:solidFill>
            <a:srgbClr val="0F3A5F"/>
          </a:solidFill>
        </p:spPr>
      </p:sp>
      <p:pic>
        <p:nvPicPr>
          <p:cNvPr id="31" name="Image 3" descr="/home/claude/assets/users.png"/>
          <p:cNvPicPr>
            <a:picLocks noChangeAspect="1"/>
          </p:cNvPicPr>
          <p:nvPr/>
        </p:nvPicPr>
        <p:blipFill>
          <a:blip r:embed="rId6"/>
          <a:stretch>
            <a:fillRect/>
          </a:stretch>
        </p:blipFill>
        <p:spPr>
          <a:xfrm>
            <a:off x="10163556" y="2642616"/>
            <a:ext cx="384048" cy="384048"/>
          </a:xfrm>
          <a:prstGeom prst="rect">
            <a:avLst/>
          </a:prstGeom>
        </p:spPr>
      </p:pic>
      <p:sp>
        <p:nvSpPr>
          <p:cNvPr id="32" name="Text 26"/>
          <p:cNvSpPr/>
          <p:nvPr/>
        </p:nvSpPr>
        <p:spPr>
          <a:xfrm>
            <a:off x="9189720" y="3337560"/>
            <a:ext cx="2331720" cy="457200"/>
          </a:xfrm>
          <a:prstGeom prst="rect">
            <a:avLst/>
          </a:prstGeom>
          <a:noFill/>
        </p:spPr>
        <p:txBody>
          <a:bodyPr wrap="square" lIns="0" tIns="0" rIns="0" bIns="0" rtlCol="0" anchor="ctr"/>
          <a:lstStyle/>
          <a:p>
            <a:pPr marL="0" indent="0" algn="ctr">
              <a:buNone/>
            </a:pPr>
            <a:r>
              <a:rPr lang="en-US" sz="1250" b="1" dirty="0">
                <a:solidFill>
                  <a:srgbClr val="0F3A5F"/>
                </a:solidFill>
                <a:latin typeface="Calibri" panose="020F0502020204030204" pitchFamily="34" charset="0"/>
                <a:ea typeface="Calibri" panose="020F0502020204030204" pitchFamily="34" charset="-122"/>
                <a:cs typeface="Calibri" panose="020F0502020204030204" pitchFamily="34" charset="-120"/>
              </a:rPr>
              <a:t>Canaux de distribution</a:t>
            </a:r>
            <a:endParaRPr lang="en-US" sz="1250" dirty="0"/>
          </a:p>
        </p:txBody>
      </p:sp>
      <p:sp>
        <p:nvSpPr>
          <p:cNvPr id="33" name="Text 27"/>
          <p:cNvSpPr/>
          <p:nvPr/>
        </p:nvSpPr>
        <p:spPr>
          <a:xfrm>
            <a:off x="9189720" y="3749040"/>
            <a:ext cx="2331720" cy="411480"/>
          </a:xfrm>
          <a:prstGeom prst="rect">
            <a:avLst/>
          </a:prstGeom>
          <a:noFill/>
        </p:spPr>
        <p:txBody>
          <a:bodyPr wrap="square" lIns="0" tIns="0" rIns="0" bIns="0" rtlCol="0" anchor="ctr"/>
          <a:lstStyle/>
          <a:p>
            <a:pPr marL="0" indent="0" algn="ctr" rtl="1">
              <a:buNone/>
            </a:pPr>
            <a:r>
              <a:rPr lang="en-US" sz="1250" b="1" dirty="0">
                <a:solidFill>
                  <a:srgbClr val="E07B2A"/>
                </a:solidFill>
                <a:latin typeface="Shakila" pitchFamily="34" charset="0"/>
                <a:ea typeface="Shakila" pitchFamily="34" charset="-122"/>
                <a:cs typeface="Shakila" pitchFamily="34" charset="-120"/>
              </a:rPr>
              <a:t>قنوات التوزيع</a:t>
            </a:r>
            <a:endParaRPr lang="en-US" sz="1250" dirty="0"/>
          </a:p>
        </p:txBody>
      </p:sp>
      <p:sp>
        <p:nvSpPr>
          <p:cNvPr id="34" name="Shape 28"/>
          <p:cNvSpPr/>
          <p:nvPr/>
        </p:nvSpPr>
        <p:spPr>
          <a:xfrm>
            <a:off x="9509760" y="4206240"/>
            <a:ext cx="1691640" cy="0"/>
          </a:xfrm>
          <a:prstGeom prst="line">
            <a:avLst/>
          </a:prstGeom>
          <a:noFill/>
          <a:ln w="19050">
            <a:solidFill>
              <a:srgbClr val="F1F2F3"/>
            </a:solidFill>
            <a:prstDash val="solid"/>
          </a:ln>
        </p:spPr>
      </p:sp>
      <p:sp>
        <p:nvSpPr>
          <p:cNvPr id="35" name="Text 29"/>
          <p:cNvSpPr/>
          <p:nvPr/>
        </p:nvSpPr>
        <p:spPr>
          <a:xfrm>
            <a:off x="9235440" y="4343400"/>
            <a:ext cx="2240280" cy="1143000"/>
          </a:xfrm>
          <a:prstGeom prst="rect">
            <a:avLst/>
          </a:prstGeom>
          <a:noFill/>
        </p:spPr>
        <p:txBody>
          <a:bodyPr wrap="square" lIns="0" tIns="0" rIns="0" bIns="0" rtlCol="0" anchor="ctr"/>
          <a:lstStyle/>
          <a:p>
            <a:pPr marL="0" indent="0" algn="ctr">
              <a:buNone/>
            </a:pPr>
            <a:r>
              <a:rPr lang="en-US" sz="1000" dirty="0">
                <a:solidFill>
                  <a:srgbClr val="26282B"/>
                </a:solidFill>
                <a:latin typeface="Calibri" panose="020F0502020204030204" pitchFamily="34" charset="0"/>
                <a:ea typeface="Calibri" panose="020F0502020204030204" pitchFamily="34" charset="-122"/>
                <a:cs typeface="Calibri" panose="020F0502020204030204" pitchFamily="34" charset="-120"/>
              </a:rPr>
              <a:t>Vente en ligne, partenaires, points de vente physiques...</a:t>
            </a:r>
            <a:endParaRPr lang="en-US" sz="1000" dirty="0"/>
          </a:p>
        </p:txBody>
      </p:sp>
      <p:sp>
        <p:nvSpPr>
          <p:cNvPr id="36" name="Text 30"/>
          <p:cNvSpPr/>
          <p:nvPr/>
        </p:nvSpPr>
        <p:spPr>
          <a:xfrm>
            <a:off x="11551615" y="6446520"/>
            <a:ext cx="365760" cy="274320"/>
          </a:xfrm>
          <a:prstGeom prst="rect">
            <a:avLst/>
          </a:prstGeom>
          <a:noFill/>
        </p:spPr>
        <p:txBody>
          <a:bodyPr wrap="square" rtlCol="0" anchor="ctr"/>
          <a:lstStyle/>
          <a:p>
            <a:pPr marL="0" indent="0" algn="r">
              <a:buNone/>
            </a:pPr>
            <a:r>
              <a:rPr lang="en-US" sz="1000" dirty="0">
                <a:solidFill>
                  <a:srgbClr val="6B7178"/>
                </a:solidFill>
                <a:latin typeface="Calibri" panose="020F0502020204030204" pitchFamily="34" charset="0"/>
                <a:ea typeface="Calibri" panose="020F0502020204030204" pitchFamily="34" charset="-122"/>
                <a:cs typeface="Calibri" panose="020F0502020204030204" pitchFamily="34" charset="-120"/>
              </a:rPr>
              <a:t>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3A5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4415" cy="457200"/>
          </a:xfrm>
          <a:prstGeom prst="rect">
            <a:avLst/>
          </a:prstGeom>
          <a:noFill/>
        </p:spPr>
        <p:txBody>
          <a:bodyPr wrap="square" lIns="0" tIns="0" rIns="0" bIns="0"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Stratégie de mise sur le marché</a:t>
            </a:r>
            <a:endParaRPr lang="en-US" sz="2600" dirty="0"/>
          </a:p>
        </p:txBody>
      </p:sp>
      <p:sp>
        <p:nvSpPr>
          <p:cNvPr id="3" name="Text 1"/>
          <p:cNvSpPr/>
          <p:nvPr/>
        </p:nvSpPr>
        <p:spPr>
          <a:xfrm>
            <a:off x="548640" y="960120"/>
            <a:ext cx="11094415" cy="411480"/>
          </a:xfrm>
          <a:prstGeom prst="rect">
            <a:avLst/>
          </a:prstGeom>
          <a:noFill/>
        </p:spPr>
        <p:txBody>
          <a:bodyPr wrap="square" lIns="0" tIns="0" rIns="0" bIns="0" rtlCol="0" anchor="ctr"/>
          <a:lstStyle/>
          <a:p>
            <a:pPr marL="0" indent="0" algn="r" rtl="1">
              <a:buNone/>
            </a:pPr>
            <a:r>
              <a:rPr lang="en-US" sz="1800" b="1" dirty="0">
                <a:solidFill>
                  <a:srgbClr val="E07B2A"/>
                </a:solidFill>
                <a:latin typeface="Shakila" pitchFamily="34" charset="0"/>
                <a:ea typeface="Shakila" pitchFamily="34" charset="-122"/>
                <a:cs typeface="Shakila" pitchFamily="34" charset="-120"/>
              </a:rPr>
              <a:t>استراتيجية طرح المنتج في السوق</a:t>
            </a:r>
            <a:endParaRPr lang="en-US" sz="1800" dirty="0"/>
          </a:p>
        </p:txBody>
      </p:sp>
      <p:sp>
        <p:nvSpPr>
          <p:cNvPr id="4" name="Shape 2"/>
          <p:cNvSpPr/>
          <p:nvPr/>
        </p:nvSpPr>
        <p:spPr>
          <a:xfrm>
            <a:off x="548640" y="1691640"/>
            <a:ext cx="2697480" cy="3566160"/>
          </a:xfrm>
          <a:prstGeom prst="roundRect">
            <a:avLst>
              <a:gd name="adj" fmla="val 2712"/>
            </a:avLst>
          </a:prstGeom>
          <a:solidFill>
            <a:srgbClr val="16507F"/>
          </a:solidFill>
        </p:spPr>
      </p:sp>
      <p:sp>
        <p:nvSpPr>
          <p:cNvPr id="5" name="Text 3"/>
          <p:cNvSpPr/>
          <p:nvPr/>
        </p:nvSpPr>
        <p:spPr>
          <a:xfrm>
            <a:off x="731520" y="1874520"/>
            <a:ext cx="914400" cy="640080"/>
          </a:xfrm>
          <a:prstGeom prst="rect">
            <a:avLst/>
          </a:prstGeom>
          <a:noFill/>
        </p:spPr>
        <p:txBody>
          <a:bodyPr wrap="square" lIns="0" tIns="0" rIns="0" bIns="0" rtlCol="0" anchor="ctr"/>
          <a:lstStyle/>
          <a:p>
            <a:pPr marL="0" indent="0">
              <a:buNone/>
            </a:pPr>
            <a:r>
              <a:rPr lang="en-US" sz="3000" b="1" dirty="0">
                <a:solidFill>
                  <a:srgbClr val="E07B2A"/>
                </a:solidFill>
                <a:latin typeface="Cambria" panose="02040503050406030204" pitchFamily="34" charset="0"/>
                <a:ea typeface="Cambria" panose="02040503050406030204" pitchFamily="34" charset="-122"/>
                <a:cs typeface="Cambria" panose="02040503050406030204" pitchFamily="34" charset="-120"/>
              </a:rPr>
              <a:t>1</a:t>
            </a:r>
            <a:endParaRPr lang="en-US" sz="3000" dirty="0"/>
          </a:p>
        </p:txBody>
      </p:sp>
      <p:sp>
        <p:nvSpPr>
          <p:cNvPr id="6" name="Text 4"/>
          <p:cNvSpPr/>
          <p:nvPr/>
        </p:nvSpPr>
        <p:spPr>
          <a:xfrm>
            <a:off x="731520" y="2606040"/>
            <a:ext cx="2331720" cy="411480"/>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Lancement pilote</a:t>
            </a:r>
            <a:endParaRPr lang="en-US" sz="1350" dirty="0"/>
          </a:p>
        </p:txBody>
      </p:sp>
      <p:sp>
        <p:nvSpPr>
          <p:cNvPr id="7" name="Text 5"/>
          <p:cNvSpPr/>
          <p:nvPr/>
        </p:nvSpPr>
        <p:spPr>
          <a:xfrm>
            <a:off x="731520" y="2990088"/>
            <a:ext cx="2331720" cy="365760"/>
          </a:xfrm>
          <a:prstGeom prst="rect">
            <a:avLst/>
          </a:prstGeom>
          <a:noFill/>
        </p:spPr>
        <p:txBody>
          <a:bodyPr wrap="square" lIns="0" tIns="0" rIns="0" bIns="0" rtlCol="0" anchor="ctr"/>
          <a:lstStyle/>
          <a:p>
            <a:pPr marL="0" indent="0" algn="r" rtl="1">
              <a:buNone/>
            </a:pPr>
            <a:r>
              <a:rPr lang="en-US" sz="1300" b="1" dirty="0">
                <a:solidFill>
                  <a:srgbClr val="E07B2A"/>
                </a:solidFill>
                <a:latin typeface="Shakila" pitchFamily="34" charset="0"/>
                <a:ea typeface="Shakila" pitchFamily="34" charset="-122"/>
                <a:cs typeface="Shakila" pitchFamily="34" charset="-120"/>
              </a:rPr>
              <a:t>إطلاق تجريبي</a:t>
            </a:r>
            <a:endParaRPr lang="en-US" sz="1300" dirty="0"/>
          </a:p>
        </p:txBody>
      </p:sp>
      <p:sp>
        <p:nvSpPr>
          <p:cNvPr id="8" name="Shape 6"/>
          <p:cNvSpPr/>
          <p:nvPr/>
        </p:nvSpPr>
        <p:spPr>
          <a:xfrm>
            <a:off x="731520" y="3474720"/>
            <a:ext cx="2331720" cy="0"/>
          </a:xfrm>
          <a:prstGeom prst="line">
            <a:avLst/>
          </a:prstGeom>
          <a:noFill/>
          <a:ln w="19050">
            <a:solidFill>
              <a:srgbClr val="1F4D74"/>
            </a:solidFill>
            <a:prstDash val="solid"/>
          </a:ln>
        </p:spPr>
      </p:sp>
      <p:sp>
        <p:nvSpPr>
          <p:cNvPr id="9" name="Text 7"/>
          <p:cNvSpPr/>
          <p:nvPr/>
        </p:nvSpPr>
        <p:spPr>
          <a:xfrm>
            <a:off x="731520" y="3611880"/>
            <a:ext cx="2331720" cy="1463040"/>
          </a:xfrm>
          <a:prstGeom prst="rect">
            <a:avLst/>
          </a:prstGeom>
          <a:noFill/>
        </p:spPr>
        <p:txBody>
          <a:bodyPr wrap="square" lIns="0" tIns="0" rIns="0" bIns="0" rtlCol="0" anchor="ctr"/>
          <a:lstStyle/>
          <a:p>
            <a:pPr marL="0" indent="0">
              <a:buNone/>
            </a:pPr>
            <a:r>
              <a:rPr lang="en-US" sz="1100" dirty="0">
                <a:solidFill>
                  <a:srgbClr val="D6E3F0"/>
                </a:solidFill>
                <a:latin typeface="Calibri" panose="020F0502020204030204" pitchFamily="34" charset="0"/>
                <a:ea typeface="Calibri" panose="020F0502020204030204" pitchFamily="34" charset="-122"/>
                <a:cs typeface="Calibri" panose="020F0502020204030204" pitchFamily="34" charset="-120"/>
              </a:rPr>
              <a:t>Test auprès d'un groupe restreint de clients/partenaires</a:t>
            </a:r>
            <a:endParaRPr lang="en-US" sz="1100" dirty="0"/>
          </a:p>
        </p:txBody>
      </p:sp>
      <p:sp>
        <p:nvSpPr>
          <p:cNvPr id="10" name="Shape 8"/>
          <p:cNvSpPr/>
          <p:nvPr/>
        </p:nvSpPr>
        <p:spPr>
          <a:xfrm>
            <a:off x="3250692" y="3364992"/>
            <a:ext cx="219456" cy="219456"/>
          </a:xfrm>
          <a:prstGeom prst="ellipse">
            <a:avLst/>
          </a:prstGeom>
          <a:solidFill>
            <a:srgbClr val="E07B2A"/>
          </a:solidFill>
        </p:spPr>
      </p:sp>
      <p:sp>
        <p:nvSpPr>
          <p:cNvPr id="11" name="Shape 9"/>
          <p:cNvSpPr/>
          <p:nvPr/>
        </p:nvSpPr>
        <p:spPr>
          <a:xfrm>
            <a:off x="3474720" y="1691640"/>
            <a:ext cx="2697480" cy="3566160"/>
          </a:xfrm>
          <a:prstGeom prst="roundRect">
            <a:avLst>
              <a:gd name="adj" fmla="val 2712"/>
            </a:avLst>
          </a:prstGeom>
          <a:solidFill>
            <a:srgbClr val="16507F"/>
          </a:solidFill>
        </p:spPr>
      </p:sp>
      <p:sp>
        <p:nvSpPr>
          <p:cNvPr id="12" name="Text 10"/>
          <p:cNvSpPr/>
          <p:nvPr/>
        </p:nvSpPr>
        <p:spPr>
          <a:xfrm>
            <a:off x="3657600" y="1874520"/>
            <a:ext cx="914400" cy="640080"/>
          </a:xfrm>
          <a:prstGeom prst="rect">
            <a:avLst/>
          </a:prstGeom>
          <a:noFill/>
        </p:spPr>
        <p:txBody>
          <a:bodyPr wrap="square" lIns="0" tIns="0" rIns="0" bIns="0" rtlCol="0" anchor="ctr"/>
          <a:lstStyle/>
          <a:p>
            <a:pPr marL="0" indent="0">
              <a:buNone/>
            </a:pPr>
            <a:r>
              <a:rPr lang="en-US" sz="3000" b="1" dirty="0">
                <a:solidFill>
                  <a:srgbClr val="E07B2A"/>
                </a:solidFill>
                <a:latin typeface="Cambria" panose="02040503050406030204" pitchFamily="34" charset="0"/>
                <a:ea typeface="Cambria" panose="02040503050406030204" pitchFamily="34" charset="-122"/>
                <a:cs typeface="Cambria" panose="02040503050406030204" pitchFamily="34" charset="-120"/>
              </a:rPr>
              <a:t>2</a:t>
            </a:r>
            <a:endParaRPr lang="en-US" sz="3000" dirty="0"/>
          </a:p>
        </p:txBody>
      </p:sp>
      <p:sp>
        <p:nvSpPr>
          <p:cNvPr id="13" name="Text 11"/>
          <p:cNvSpPr/>
          <p:nvPr/>
        </p:nvSpPr>
        <p:spPr>
          <a:xfrm>
            <a:off x="3657600" y="2606040"/>
            <a:ext cx="2331720" cy="411480"/>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Acquisition clients</a:t>
            </a:r>
            <a:endParaRPr lang="en-US" sz="1350" dirty="0"/>
          </a:p>
        </p:txBody>
      </p:sp>
      <p:sp>
        <p:nvSpPr>
          <p:cNvPr id="14" name="Text 12"/>
          <p:cNvSpPr/>
          <p:nvPr/>
        </p:nvSpPr>
        <p:spPr>
          <a:xfrm>
            <a:off x="3657600" y="2990088"/>
            <a:ext cx="2331720" cy="365760"/>
          </a:xfrm>
          <a:prstGeom prst="rect">
            <a:avLst/>
          </a:prstGeom>
          <a:noFill/>
        </p:spPr>
        <p:txBody>
          <a:bodyPr wrap="square" lIns="0" tIns="0" rIns="0" bIns="0" rtlCol="0" anchor="ctr"/>
          <a:lstStyle/>
          <a:p>
            <a:pPr marL="0" indent="0" algn="r" rtl="1">
              <a:buNone/>
            </a:pPr>
            <a:r>
              <a:rPr lang="en-US" sz="1300" b="1" dirty="0">
                <a:solidFill>
                  <a:srgbClr val="E07B2A"/>
                </a:solidFill>
                <a:latin typeface="Shakila" pitchFamily="34" charset="0"/>
                <a:ea typeface="Shakila" pitchFamily="34" charset="-122"/>
                <a:cs typeface="Shakila" pitchFamily="34" charset="-120"/>
              </a:rPr>
              <a:t>اكتساب العملاء</a:t>
            </a:r>
            <a:endParaRPr lang="en-US" sz="1300" dirty="0"/>
          </a:p>
        </p:txBody>
      </p:sp>
      <p:sp>
        <p:nvSpPr>
          <p:cNvPr id="15" name="Shape 13"/>
          <p:cNvSpPr/>
          <p:nvPr/>
        </p:nvSpPr>
        <p:spPr>
          <a:xfrm>
            <a:off x="3657600" y="3474720"/>
            <a:ext cx="2331720" cy="0"/>
          </a:xfrm>
          <a:prstGeom prst="line">
            <a:avLst/>
          </a:prstGeom>
          <a:noFill/>
          <a:ln w="19050">
            <a:solidFill>
              <a:srgbClr val="1F4D74"/>
            </a:solidFill>
            <a:prstDash val="solid"/>
          </a:ln>
        </p:spPr>
      </p:sp>
      <p:sp>
        <p:nvSpPr>
          <p:cNvPr id="16" name="Text 14"/>
          <p:cNvSpPr/>
          <p:nvPr/>
        </p:nvSpPr>
        <p:spPr>
          <a:xfrm>
            <a:off x="3657600" y="3611880"/>
            <a:ext cx="2331720" cy="1463040"/>
          </a:xfrm>
          <a:prstGeom prst="rect">
            <a:avLst/>
          </a:prstGeom>
          <a:noFill/>
        </p:spPr>
        <p:txBody>
          <a:bodyPr wrap="square" lIns="0" tIns="0" rIns="0" bIns="0" rtlCol="0" anchor="ctr"/>
          <a:lstStyle/>
          <a:p>
            <a:pPr marL="0" indent="0">
              <a:buNone/>
            </a:pPr>
            <a:r>
              <a:rPr lang="en-US" sz="1100" dirty="0">
                <a:solidFill>
                  <a:srgbClr val="D6E3F0"/>
                </a:solidFill>
                <a:latin typeface="Calibri" panose="020F0502020204030204" pitchFamily="34" charset="0"/>
                <a:ea typeface="Calibri" panose="020F0502020204030204" pitchFamily="34" charset="-122"/>
                <a:cs typeface="Calibri" panose="020F0502020204030204" pitchFamily="34" charset="-120"/>
              </a:rPr>
              <a:t>Canaux marketing, partenariats, présence digitale</a:t>
            </a:r>
            <a:endParaRPr lang="en-US" sz="1100" dirty="0"/>
          </a:p>
        </p:txBody>
      </p:sp>
      <p:sp>
        <p:nvSpPr>
          <p:cNvPr id="17" name="Shape 15"/>
          <p:cNvSpPr/>
          <p:nvPr/>
        </p:nvSpPr>
        <p:spPr>
          <a:xfrm>
            <a:off x="6176772" y="3364992"/>
            <a:ext cx="219456" cy="219456"/>
          </a:xfrm>
          <a:prstGeom prst="ellipse">
            <a:avLst/>
          </a:prstGeom>
          <a:solidFill>
            <a:srgbClr val="E07B2A"/>
          </a:solidFill>
        </p:spPr>
      </p:sp>
      <p:sp>
        <p:nvSpPr>
          <p:cNvPr id="18" name="Shape 16"/>
          <p:cNvSpPr/>
          <p:nvPr/>
        </p:nvSpPr>
        <p:spPr>
          <a:xfrm>
            <a:off x="6400800" y="1691640"/>
            <a:ext cx="2697480" cy="3566160"/>
          </a:xfrm>
          <a:prstGeom prst="roundRect">
            <a:avLst>
              <a:gd name="adj" fmla="val 2712"/>
            </a:avLst>
          </a:prstGeom>
          <a:solidFill>
            <a:srgbClr val="16507F"/>
          </a:solidFill>
        </p:spPr>
      </p:sp>
      <p:sp>
        <p:nvSpPr>
          <p:cNvPr id="19" name="Text 17"/>
          <p:cNvSpPr/>
          <p:nvPr/>
        </p:nvSpPr>
        <p:spPr>
          <a:xfrm>
            <a:off x="6583680" y="1874520"/>
            <a:ext cx="914400" cy="640080"/>
          </a:xfrm>
          <a:prstGeom prst="rect">
            <a:avLst/>
          </a:prstGeom>
          <a:noFill/>
        </p:spPr>
        <p:txBody>
          <a:bodyPr wrap="square" lIns="0" tIns="0" rIns="0" bIns="0" rtlCol="0" anchor="ctr"/>
          <a:lstStyle/>
          <a:p>
            <a:pPr marL="0" indent="0">
              <a:buNone/>
            </a:pPr>
            <a:r>
              <a:rPr lang="en-US" sz="3000" b="1" dirty="0">
                <a:solidFill>
                  <a:srgbClr val="E07B2A"/>
                </a:solidFill>
                <a:latin typeface="Cambria" panose="02040503050406030204" pitchFamily="34" charset="0"/>
                <a:ea typeface="Cambria" panose="02040503050406030204" pitchFamily="34" charset="-122"/>
                <a:cs typeface="Cambria" panose="02040503050406030204" pitchFamily="34" charset="-120"/>
              </a:rPr>
              <a:t>3</a:t>
            </a:r>
            <a:endParaRPr lang="en-US" sz="3000" dirty="0"/>
          </a:p>
        </p:txBody>
      </p:sp>
      <p:sp>
        <p:nvSpPr>
          <p:cNvPr id="20" name="Text 18"/>
          <p:cNvSpPr/>
          <p:nvPr/>
        </p:nvSpPr>
        <p:spPr>
          <a:xfrm>
            <a:off x="6583680" y="2606040"/>
            <a:ext cx="2331720" cy="411480"/>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Mise à l'échelle</a:t>
            </a:r>
            <a:endParaRPr lang="en-US" sz="1350" dirty="0"/>
          </a:p>
        </p:txBody>
      </p:sp>
      <p:sp>
        <p:nvSpPr>
          <p:cNvPr id="21" name="Text 19"/>
          <p:cNvSpPr/>
          <p:nvPr/>
        </p:nvSpPr>
        <p:spPr>
          <a:xfrm>
            <a:off x="6583680" y="2990088"/>
            <a:ext cx="2331720" cy="365760"/>
          </a:xfrm>
          <a:prstGeom prst="rect">
            <a:avLst/>
          </a:prstGeom>
          <a:noFill/>
        </p:spPr>
        <p:txBody>
          <a:bodyPr wrap="square" lIns="0" tIns="0" rIns="0" bIns="0" rtlCol="0" anchor="ctr"/>
          <a:lstStyle/>
          <a:p>
            <a:pPr marL="0" indent="0" algn="r" rtl="1">
              <a:buNone/>
            </a:pPr>
            <a:r>
              <a:rPr lang="en-US" sz="1300" b="1" dirty="0">
                <a:solidFill>
                  <a:srgbClr val="E07B2A"/>
                </a:solidFill>
                <a:latin typeface="Shakila" pitchFamily="34" charset="0"/>
                <a:ea typeface="Shakila" pitchFamily="34" charset="-122"/>
                <a:cs typeface="Shakila" pitchFamily="34" charset="-120"/>
              </a:rPr>
              <a:t>التوسّع</a:t>
            </a:r>
            <a:endParaRPr lang="en-US" sz="1300" dirty="0"/>
          </a:p>
        </p:txBody>
      </p:sp>
      <p:sp>
        <p:nvSpPr>
          <p:cNvPr id="22" name="Shape 20"/>
          <p:cNvSpPr/>
          <p:nvPr/>
        </p:nvSpPr>
        <p:spPr>
          <a:xfrm>
            <a:off x="6583680" y="3474720"/>
            <a:ext cx="2331720" cy="0"/>
          </a:xfrm>
          <a:prstGeom prst="line">
            <a:avLst/>
          </a:prstGeom>
          <a:noFill/>
          <a:ln w="19050">
            <a:solidFill>
              <a:srgbClr val="1F4D74"/>
            </a:solidFill>
            <a:prstDash val="solid"/>
          </a:ln>
        </p:spPr>
      </p:sp>
      <p:sp>
        <p:nvSpPr>
          <p:cNvPr id="23" name="Text 21"/>
          <p:cNvSpPr/>
          <p:nvPr/>
        </p:nvSpPr>
        <p:spPr>
          <a:xfrm>
            <a:off x="6583680" y="3611880"/>
            <a:ext cx="2331720" cy="1463040"/>
          </a:xfrm>
          <a:prstGeom prst="rect">
            <a:avLst/>
          </a:prstGeom>
          <a:noFill/>
        </p:spPr>
        <p:txBody>
          <a:bodyPr wrap="square" lIns="0" tIns="0" rIns="0" bIns="0" rtlCol="0" anchor="ctr"/>
          <a:lstStyle/>
          <a:p>
            <a:pPr marL="0" indent="0">
              <a:buNone/>
            </a:pPr>
            <a:r>
              <a:rPr lang="en-US" sz="1100" dirty="0">
                <a:solidFill>
                  <a:srgbClr val="D6E3F0"/>
                </a:solidFill>
                <a:latin typeface="Calibri" panose="020F0502020204030204" pitchFamily="34" charset="0"/>
                <a:ea typeface="Calibri" panose="020F0502020204030204" pitchFamily="34" charset="-122"/>
                <a:cs typeface="Calibri" panose="020F0502020204030204" pitchFamily="34" charset="-120"/>
              </a:rPr>
              <a:t>Industrialisation et expansion géographique progressive</a:t>
            </a:r>
            <a:endParaRPr lang="en-US" sz="1100" dirty="0"/>
          </a:p>
        </p:txBody>
      </p:sp>
      <p:sp>
        <p:nvSpPr>
          <p:cNvPr id="24" name="Shape 22"/>
          <p:cNvSpPr/>
          <p:nvPr/>
        </p:nvSpPr>
        <p:spPr>
          <a:xfrm>
            <a:off x="9102852" y="3364992"/>
            <a:ext cx="219456" cy="219456"/>
          </a:xfrm>
          <a:prstGeom prst="ellipse">
            <a:avLst/>
          </a:prstGeom>
          <a:solidFill>
            <a:srgbClr val="E07B2A"/>
          </a:solidFill>
        </p:spPr>
      </p:sp>
      <p:sp>
        <p:nvSpPr>
          <p:cNvPr id="25" name="Shape 23"/>
          <p:cNvSpPr/>
          <p:nvPr/>
        </p:nvSpPr>
        <p:spPr>
          <a:xfrm>
            <a:off x="9326880" y="1691640"/>
            <a:ext cx="2697480" cy="3566160"/>
          </a:xfrm>
          <a:prstGeom prst="roundRect">
            <a:avLst>
              <a:gd name="adj" fmla="val 2712"/>
            </a:avLst>
          </a:prstGeom>
          <a:solidFill>
            <a:srgbClr val="16507F"/>
          </a:solidFill>
        </p:spPr>
      </p:sp>
      <p:sp>
        <p:nvSpPr>
          <p:cNvPr id="26" name="Text 24"/>
          <p:cNvSpPr/>
          <p:nvPr/>
        </p:nvSpPr>
        <p:spPr>
          <a:xfrm>
            <a:off x="9509760" y="1874520"/>
            <a:ext cx="914400" cy="640080"/>
          </a:xfrm>
          <a:prstGeom prst="rect">
            <a:avLst/>
          </a:prstGeom>
          <a:noFill/>
        </p:spPr>
        <p:txBody>
          <a:bodyPr wrap="square" lIns="0" tIns="0" rIns="0" bIns="0" rtlCol="0" anchor="ctr"/>
          <a:lstStyle/>
          <a:p>
            <a:pPr marL="0" indent="0">
              <a:buNone/>
            </a:pPr>
            <a:r>
              <a:rPr lang="en-US" sz="3000" b="1" dirty="0">
                <a:solidFill>
                  <a:srgbClr val="E07B2A"/>
                </a:solidFill>
                <a:latin typeface="Cambria" panose="02040503050406030204" pitchFamily="34" charset="0"/>
                <a:ea typeface="Cambria" panose="02040503050406030204" pitchFamily="34" charset="-122"/>
                <a:cs typeface="Cambria" panose="02040503050406030204" pitchFamily="34" charset="-120"/>
              </a:rPr>
              <a:t>4</a:t>
            </a:r>
            <a:endParaRPr lang="en-US" sz="3000" dirty="0"/>
          </a:p>
        </p:txBody>
      </p:sp>
      <p:sp>
        <p:nvSpPr>
          <p:cNvPr id="27" name="Text 25"/>
          <p:cNvSpPr/>
          <p:nvPr/>
        </p:nvSpPr>
        <p:spPr>
          <a:xfrm>
            <a:off x="9509760" y="2606040"/>
            <a:ext cx="2331720" cy="411480"/>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Fidélisation</a:t>
            </a:r>
            <a:endParaRPr lang="en-US" sz="1350" dirty="0"/>
          </a:p>
        </p:txBody>
      </p:sp>
      <p:sp>
        <p:nvSpPr>
          <p:cNvPr id="28" name="Text 26"/>
          <p:cNvSpPr/>
          <p:nvPr/>
        </p:nvSpPr>
        <p:spPr>
          <a:xfrm>
            <a:off x="9509760" y="2990088"/>
            <a:ext cx="2331720" cy="365760"/>
          </a:xfrm>
          <a:prstGeom prst="rect">
            <a:avLst/>
          </a:prstGeom>
          <a:noFill/>
        </p:spPr>
        <p:txBody>
          <a:bodyPr wrap="square" lIns="0" tIns="0" rIns="0" bIns="0" rtlCol="0" anchor="ctr"/>
          <a:lstStyle/>
          <a:p>
            <a:pPr marL="0" indent="0" algn="r" rtl="1">
              <a:buNone/>
            </a:pPr>
            <a:r>
              <a:rPr lang="en-US" sz="1300" b="1" dirty="0">
                <a:solidFill>
                  <a:srgbClr val="E07B2A"/>
                </a:solidFill>
                <a:latin typeface="Shakila" pitchFamily="34" charset="0"/>
                <a:ea typeface="Shakila" pitchFamily="34" charset="-122"/>
                <a:cs typeface="Shakila" pitchFamily="34" charset="-120"/>
              </a:rPr>
              <a:t>ضمان الولاء</a:t>
            </a:r>
            <a:endParaRPr lang="en-US" sz="1300" dirty="0"/>
          </a:p>
        </p:txBody>
      </p:sp>
      <p:sp>
        <p:nvSpPr>
          <p:cNvPr id="29" name="Shape 27"/>
          <p:cNvSpPr/>
          <p:nvPr/>
        </p:nvSpPr>
        <p:spPr>
          <a:xfrm>
            <a:off x="9509760" y="3474720"/>
            <a:ext cx="2331720" cy="0"/>
          </a:xfrm>
          <a:prstGeom prst="line">
            <a:avLst/>
          </a:prstGeom>
          <a:noFill/>
          <a:ln w="19050">
            <a:solidFill>
              <a:srgbClr val="1F4D74"/>
            </a:solidFill>
            <a:prstDash val="solid"/>
          </a:ln>
        </p:spPr>
      </p:sp>
      <p:sp>
        <p:nvSpPr>
          <p:cNvPr id="30" name="Text 28"/>
          <p:cNvSpPr/>
          <p:nvPr/>
        </p:nvSpPr>
        <p:spPr>
          <a:xfrm>
            <a:off x="9509760" y="3611880"/>
            <a:ext cx="2331720" cy="1463040"/>
          </a:xfrm>
          <a:prstGeom prst="rect">
            <a:avLst/>
          </a:prstGeom>
          <a:noFill/>
        </p:spPr>
        <p:txBody>
          <a:bodyPr wrap="square" lIns="0" tIns="0" rIns="0" bIns="0" rtlCol="0" anchor="ctr"/>
          <a:lstStyle/>
          <a:p>
            <a:pPr marL="0" indent="0">
              <a:buNone/>
            </a:pPr>
            <a:r>
              <a:rPr lang="en-US" sz="1100" dirty="0">
                <a:solidFill>
                  <a:srgbClr val="D6E3F0"/>
                </a:solidFill>
                <a:latin typeface="Calibri" panose="020F0502020204030204" pitchFamily="34" charset="0"/>
                <a:ea typeface="Calibri" panose="020F0502020204030204" pitchFamily="34" charset="-122"/>
                <a:cs typeface="Calibri" panose="020F0502020204030204" pitchFamily="34" charset="-120"/>
              </a:rPr>
              <a:t>Service après-vente, amélioration continue du produit</a:t>
            </a:r>
            <a:endParaRPr lang="en-US" sz="1100" dirty="0"/>
          </a:p>
        </p:txBody>
      </p:sp>
      <p:sp>
        <p:nvSpPr>
          <p:cNvPr id="31" name="Text 29"/>
          <p:cNvSpPr/>
          <p:nvPr/>
        </p:nvSpPr>
        <p:spPr>
          <a:xfrm>
            <a:off x="11551615" y="6446520"/>
            <a:ext cx="365760" cy="274320"/>
          </a:xfrm>
          <a:prstGeom prst="rect">
            <a:avLst/>
          </a:prstGeom>
          <a:noFill/>
        </p:spPr>
        <p:txBody>
          <a:bodyPr wrap="square" rtlCol="0" anchor="ctr"/>
          <a:lstStyle/>
          <a:p>
            <a:pPr marL="0" indent="0" algn="r">
              <a:buNone/>
            </a:pPr>
            <a:r>
              <a:rPr lang="en-US" sz="1000" dirty="0">
                <a:solidFill>
                  <a:srgbClr val="6B7178"/>
                </a:solidFill>
                <a:latin typeface="Calibri" panose="020F0502020204030204" pitchFamily="34" charset="0"/>
                <a:ea typeface="Calibri" panose="020F0502020204030204" pitchFamily="34" charset="-122"/>
                <a:cs typeface="Calibri" panose="020F0502020204030204" pitchFamily="34" charset="-120"/>
              </a:rPr>
              <a:t>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2F3"/>
        </a:solidFill>
        <a:effectLst/>
      </p:bgPr>
    </p:bg>
    <p:spTree>
      <p:nvGrpSpPr>
        <p:cNvPr id="1" name=""/>
        <p:cNvGrpSpPr/>
        <p:nvPr/>
      </p:nvGrpSpPr>
      <p:grpSpPr>
        <a:xfrm>
          <a:off x="0" y="0"/>
          <a:ext cx="0" cy="0"/>
          <a:chOff x="0" y="0"/>
          <a:chExt cx="0" cy="0"/>
        </a:xfrm>
      </p:grpSpPr>
      <p:sp>
        <p:nvSpPr>
          <p:cNvPr id="2" name="Shape 0"/>
          <p:cNvSpPr/>
          <p:nvPr/>
        </p:nvSpPr>
        <p:spPr>
          <a:xfrm>
            <a:off x="548640" y="457200"/>
            <a:ext cx="3108960" cy="384048"/>
          </a:xfrm>
          <a:prstGeom prst="roundRect">
            <a:avLst>
              <a:gd name="adj" fmla="val 19048"/>
            </a:avLst>
          </a:prstGeom>
          <a:solidFill>
            <a:srgbClr val="E07B2A"/>
          </a:solidFill>
        </p:spPr>
      </p:sp>
      <p:sp>
        <p:nvSpPr>
          <p:cNvPr id="3" name="Text 1"/>
          <p:cNvSpPr/>
          <p:nvPr/>
        </p:nvSpPr>
        <p:spPr>
          <a:xfrm>
            <a:off x="548640" y="457200"/>
            <a:ext cx="3108960" cy="384048"/>
          </a:xfrm>
          <a:prstGeom prst="rect">
            <a:avLst/>
          </a:prstGeom>
          <a:noFill/>
        </p:spPr>
        <p:txBody>
          <a:bodyPr wrap="square" lIns="0" tIns="0" rIns="0" bIns="0" rtlCol="0" anchor="ctr"/>
          <a:lstStyle/>
          <a:p>
            <a:pPr marL="0" indent="0" algn="ctr">
              <a:buNone/>
            </a:pPr>
            <a:r>
              <a:rPr lang="en-US" sz="1200" b="1" dirty="0">
                <a:solidFill>
                  <a:srgbClr val="0F3A5F"/>
                </a:solidFill>
                <a:latin typeface="Calibri" panose="020F0502020204030204" pitchFamily="34" charset="0"/>
                <a:ea typeface="Calibri" panose="020F0502020204030204" pitchFamily="34" charset="-122"/>
                <a:cs typeface="Calibri" panose="020F0502020204030204" pitchFamily="34" charset="-120"/>
              </a:rPr>
              <a:t>09 · FINANCES</a:t>
            </a:r>
            <a:endParaRPr lang="en-US" sz="1200" dirty="0"/>
          </a:p>
        </p:txBody>
      </p:sp>
      <p:sp>
        <p:nvSpPr>
          <p:cNvPr id="4" name="Shape 2"/>
          <p:cNvSpPr/>
          <p:nvPr/>
        </p:nvSpPr>
        <p:spPr>
          <a:xfrm>
            <a:off x="8534095" y="457200"/>
            <a:ext cx="3108960" cy="384048"/>
          </a:xfrm>
          <a:prstGeom prst="roundRect">
            <a:avLst>
              <a:gd name="adj" fmla="val 19048"/>
            </a:avLst>
          </a:prstGeom>
          <a:solidFill>
            <a:srgbClr val="E07B2A"/>
          </a:solidFill>
        </p:spPr>
      </p:sp>
      <p:sp>
        <p:nvSpPr>
          <p:cNvPr id="5" name="Text 3"/>
          <p:cNvSpPr/>
          <p:nvPr/>
        </p:nvSpPr>
        <p:spPr>
          <a:xfrm>
            <a:off x="8534095" y="457200"/>
            <a:ext cx="3108960" cy="384048"/>
          </a:xfrm>
          <a:prstGeom prst="rect">
            <a:avLst/>
          </a:prstGeom>
          <a:noFill/>
        </p:spPr>
        <p:txBody>
          <a:bodyPr wrap="square" lIns="0" tIns="0" rIns="0" bIns="0" rtlCol="0" anchor="ctr"/>
          <a:lstStyle/>
          <a:p>
            <a:pPr marL="0" indent="0" algn="ctr" rtl="1">
              <a:buNone/>
            </a:pPr>
            <a:r>
              <a:rPr lang="en-US" sz="1300" b="1" dirty="0">
                <a:solidFill>
                  <a:srgbClr val="0F3A5F"/>
                </a:solidFill>
                <a:latin typeface="Shakila" pitchFamily="34" charset="0"/>
                <a:ea typeface="Shakila" pitchFamily="34" charset="-122"/>
                <a:cs typeface="Shakila" pitchFamily="34" charset="-120"/>
              </a:rPr>
              <a:t>الجوانب المالية</a:t>
            </a:r>
            <a:endParaRPr lang="en-US" sz="1300" dirty="0"/>
          </a:p>
        </p:txBody>
      </p:sp>
      <p:sp>
        <p:nvSpPr>
          <p:cNvPr id="6" name="Text 4"/>
          <p:cNvSpPr/>
          <p:nvPr/>
        </p:nvSpPr>
        <p:spPr>
          <a:xfrm>
            <a:off x="548640" y="960120"/>
            <a:ext cx="11094415" cy="548640"/>
          </a:xfrm>
          <a:prstGeom prst="rect">
            <a:avLst/>
          </a:prstGeom>
          <a:noFill/>
        </p:spPr>
        <p:txBody>
          <a:bodyPr wrap="square" lIns="0" tIns="0" rIns="0" bIns="0" rtlCol="0" anchor="ctr"/>
          <a:lstStyle/>
          <a:p>
            <a:pPr marL="0" indent="0" algn="l">
              <a:buNone/>
            </a:pPr>
            <a:r>
              <a:rPr lang="en-US" sz="3000" b="1" dirty="0">
                <a:solidFill>
                  <a:srgbClr val="0F3A5F"/>
                </a:solidFill>
                <a:latin typeface="Cambria" panose="02040503050406030204" pitchFamily="34" charset="0"/>
                <a:ea typeface="Cambria" panose="02040503050406030204" pitchFamily="34" charset="-122"/>
                <a:cs typeface="Cambria" panose="02040503050406030204" pitchFamily="34" charset="-120"/>
              </a:rPr>
              <a:t>Prévisions financières (3 ans)</a:t>
            </a:r>
            <a:endParaRPr lang="en-US" sz="3000" dirty="0"/>
          </a:p>
        </p:txBody>
      </p:sp>
      <p:sp>
        <p:nvSpPr>
          <p:cNvPr id="7" name="Text 5"/>
          <p:cNvSpPr/>
          <p:nvPr/>
        </p:nvSpPr>
        <p:spPr>
          <a:xfrm>
            <a:off x="548640" y="1463040"/>
            <a:ext cx="11094415" cy="457200"/>
          </a:xfrm>
          <a:prstGeom prst="rect">
            <a:avLst/>
          </a:prstGeom>
          <a:noFill/>
        </p:spPr>
        <p:txBody>
          <a:bodyPr wrap="square" lIns="0" tIns="0" rIns="0" bIns="0" rtlCol="0" anchor="ctr"/>
          <a:lstStyle/>
          <a:p>
            <a:pPr marL="0" indent="0" algn="r" rtl="1">
              <a:buNone/>
            </a:pPr>
            <a:r>
              <a:rPr lang="en-US" sz="2200" b="1" dirty="0">
                <a:solidFill>
                  <a:srgbClr val="6B7178"/>
                </a:solidFill>
                <a:latin typeface="Shakila" pitchFamily="34" charset="0"/>
                <a:ea typeface="Shakila" pitchFamily="34" charset="-122"/>
                <a:cs typeface="Shakila" pitchFamily="34" charset="-120"/>
              </a:rPr>
              <a:t>التوقعات المالية لثلاث سنوات</a:t>
            </a:r>
            <a:endParaRPr lang="en-US" sz="2200" dirty="0"/>
          </a:p>
        </p:txBody>
      </p:sp>
      <p:graphicFrame>
        <p:nvGraphicFramePr>
          <p:cNvPr id="8" name="Chart 0"/>
          <p:cNvGraphicFramePr/>
          <p:nvPr/>
        </p:nvGraphicFramePr>
        <p:xfrm>
          <a:off x="548640" y="2286000"/>
          <a:ext cx="576072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6583680" y="2331720"/>
            <a:ext cx="5074920" cy="621792"/>
          </a:xfrm>
          <a:prstGeom prst="roundRect">
            <a:avLst>
              <a:gd name="adj" fmla="val 8824"/>
            </a:avLst>
          </a:prstGeom>
          <a:solidFill>
            <a:srgbClr val="FFFFFF"/>
          </a:solidFill>
          <a:effectLst>
            <a:outerShdw blurRad="63500" dist="25400" dir="5400000" algn="bl" rotWithShape="0">
              <a:srgbClr val="000000">
                <a:alpha val="8000"/>
              </a:srgbClr>
            </a:outerShdw>
          </a:effectLst>
        </p:spPr>
      </p:sp>
      <p:sp>
        <p:nvSpPr>
          <p:cNvPr id="10" name="Text 7"/>
          <p:cNvSpPr/>
          <p:nvPr/>
        </p:nvSpPr>
        <p:spPr>
          <a:xfrm>
            <a:off x="6766560" y="2395728"/>
            <a:ext cx="4709160" cy="246888"/>
          </a:xfrm>
          <a:prstGeom prst="rect">
            <a:avLst/>
          </a:prstGeom>
          <a:noFill/>
        </p:spPr>
        <p:txBody>
          <a:bodyPr wrap="square" lIns="0" tIns="0" rIns="0" bIns="0" rtlCol="0" anchor="ctr"/>
          <a:lstStyle/>
          <a:p>
            <a:pPr marL="0" indent="0">
              <a:buNone/>
            </a:pPr>
            <a:r>
              <a:rPr lang="en-US" sz="1100" b="1" dirty="0">
                <a:solidFill>
                  <a:srgbClr val="0F3A5F"/>
                </a:solidFill>
                <a:latin typeface="Calibri" panose="020F0502020204030204" pitchFamily="34" charset="0"/>
                <a:ea typeface="Calibri" panose="020F0502020204030204" pitchFamily="34" charset="-122"/>
                <a:cs typeface="Calibri" panose="020F0502020204030204" pitchFamily="34" charset="-120"/>
              </a:rPr>
              <a:t>Chiffre d'affaires prévisionnel</a:t>
            </a:r>
            <a:endParaRPr lang="en-US" sz="1100" dirty="0"/>
          </a:p>
        </p:txBody>
      </p:sp>
      <p:sp>
        <p:nvSpPr>
          <p:cNvPr id="11" name="Text 8"/>
          <p:cNvSpPr/>
          <p:nvPr/>
        </p:nvSpPr>
        <p:spPr>
          <a:xfrm>
            <a:off x="6766560" y="2660904"/>
            <a:ext cx="4709160" cy="246888"/>
          </a:xfrm>
          <a:prstGeom prst="rect">
            <a:avLst/>
          </a:prstGeom>
          <a:noFill/>
        </p:spPr>
        <p:txBody>
          <a:bodyPr wrap="square" lIns="0" tIns="0" rIns="0" bIns="0" rtlCol="0" anchor="ctr"/>
          <a:lstStyle/>
          <a:p>
            <a:pPr marL="0" indent="0" algn="r" rtl="1">
              <a:buNone/>
            </a:pPr>
            <a:r>
              <a:rPr lang="en-US" sz="1100" dirty="0">
                <a:solidFill>
                  <a:srgbClr val="6B7178"/>
                </a:solidFill>
                <a:latin typeface="Shakila" pitchFamily="34" charset="0"/>
                <a:ea typeface="Shakila" pitchFamily="34" charset="-122"/>
                <a:cs typeface="Shakila" pitchFamily="34" charset="-120"/>
              </a:rPr>
              <a:t>رقم الأعمال التقديري</a:t>
            </a:r>
            <a:endParaRPr lang="en-US" sz="1100" dirty="0"/>
          </a:p>
        </p:txBody>
      </p:sp>
      <p:sp>
        <p:nvSpPr>
          <p:cNvPr id="12" name="Shape 9"/>
          <p:cNvSpPr/>
          <p:nvPr/>
        </p:nvSpPr>
        <p:spPr>
          <a:xfrm>
            <a:off x="6583680" y="3044952"/>
            <a:ext cx="5074920" cy="621792"/>
          </a:xfrm>
          <a:prstGeom prst="roundRect">
            <a:avLst>
              <a:gd name="adj" fmla="val 8824"/>
            </a:avLst>
          </a:prstGeom>
          <a:solidFill>
            <a:srgbClr val="FFFFFF"/>
          </a:solidFill>
          <a:effectLst>
            <a:outerShdw blurRad="63500" dist="25400" dir="5400000" algn="bl" rotWithShape="0">
              <a:srgbClr val="000000">
                <a:alpha val="8000"/>
              </a:srgbClr>
            </a:outerShdw>
          </a:effectLst>
        </p:spPr>
      </p:sp>
      <p:sp>
        <p:nvSpPr>
          <p:cNvPr id="13" name="Text 10"/>
          <p:cNvSpPr/>
          <p:nvPr/>
        </p:nvSpPr>
        <p:spPr>
          <a:xfrm>
            <a:off x="6766560" y="3108960"/>
            <a:ext cx="4709160" cy="246888"/>
          </a:xfrm>
          <a:prstGeom prst="rect">
            <a:avLst/>
          </a:prstGeom>
          <a:noFill/>
        </p:spPr>
        <p:txBody>
          <a:bodyPr wrap="square" lIns="0" tIns="0" rIns="0" bIns="0" rtlCol="0" anchor="ctr"/>
          <a:lstStyle/>
          <a:p>
            <a:pPr marL="0" indent="0">
              <a:buNone/>
            </a:pPr>
            <a:r>
              <a:rPr lang="en-US" sz="1100" b="1" dirty="0">
                <a:solidFill>
                  <a:srgbClr val="0F3A5F"/>
                </a:solidFill>
                <a:latin typeface="Calibri" panose="020F0502020204030204" pitchFamily="34" charset="0"/>
                <a:ea typeface="Calibri" panose="020F0502020204030204" pitchFamily="34" charset="-122"/>
                <a:cs typeface="Calibri" panose="020F0502020204030204" pitchFamily="34" charset="-120"/>
              </a:rPr>
              <a:t>Coûts de production et charges fixes</a:t>
            </a:r>
            <a:endParaRPr lang="en-US" sz="1100" dirty="0"/>
          </a:p>
        </p:txBody>
      </p:sp>
      <p:sp>
        <p:nvSpPr>
          <p:cNvPr id="14" name="Text 11"/>
          <p:cNvSpPr/>
          <p:nvPr/>
        </p:nvSpPr>
        <p:spPr>
          <a:xfrm>
            <a:off x="6766560" y="3374136"/>
            <a:ext cx="4709160" cy="246888"/>
          </a:xfrm>
          <a:prstGeom prst="rect">
            <a:avLst/>
          </a:prstGeom>
          <a:noFill/>
        </p:spPr>
        <p:txBody>
          <a:bodyPr wrap="square" lIns="0" tIns="0" rIns="0" bIns="0" rtlCol="0" anchor="ctr"/>
          <a:lstStyle/>
          <a:p>
            <a:pPr marL="0" indent="0" algn="r" rtl="1">
              <a:buNone/>
            </a:pPr>
            <a:r>
              <a:rPr lang="en-US" sz="1100" dirty="0">
                <a:solidFill>
                  <a:srgbClr val="6B7178"/>
                </a:solidFill>
                <a:latin typeface="Shakila" pitchFamily="34" charset="0"/>
                <a:ea typeface="Shakila" pitchFamily="34" charset="-122"/>
                <a:cs typeface="Shakila" pitchFamily="34" charset="-120"/>
              </a:rPr>
              <a:t>تكاليف الإنتاج والأعباء الثابتة</a:t>
            </a:r>
            <a:endParaRPr lang="en-US" sz="1100" dirty="0"/>
          </a:p>
        </p:txBody>
      </p:sp>
      <p:sp>
        <p:nvSpPr>
          <p:cNvPr id="15" name="Shape 12"/>
          <p:cNvSpPr/>
          <p:nvPr/>
        </p:nvSpPr>
        <p:spPr>
          <a:xfrm>
            <a:off x="6583680" y="3758184"/>
            <a:ext cx="5074920" cy="621792"/>
          </a:xfrm>
          <a:prstGeom prst="roundRect">
            <a:avLst>
              <a:gd name="adj" fmla="val 8824"/>
            </a:avLst>
          </a:prstGeom>
          <a:solidFill>
            <a:srgbClr val="FFFFFF"/>
          </a:solidFill>
          <a:effectLst>
            <a:outerShdw blurRad="63500" dist="25400" dir="5400000" algn="bl" rotWithShape="0">
              <a:srgbClr val="000000">
                <a:alpha val="8000"/>
              </a:srgbClr>
            </a:outerShdw>
          </a:effectLst>
        </p:spPr>
      </p:sp>
      <p:sp>
        <p:nvSpPr>
          <p:cNvPr id="16" name="Text 13"/>
          <p:cNvSpPr/>
          <p:nvPr/>
        </p:nvSpPr>
        <p:spPr>
          <a:xfrm>
            <a:off x="6766560" y="3822192"/>
            <a:ext cx="4709160" cy="246888"/>
          </a:xfrm>
          <a:prstGeom prst="rect">
            <a:avLst/>
          </a:prstGeom>
          <a:noFill/>
        </p:spPr>
        <p:txBody>
          <a:bodyPr wrap="square" lIns="0" tIns="0" rIns="0" bIns="0" rtlCol="0" anchor="ctr"/>
          <a:lstStyle/>
          <a:p>
            <a:pPr marL="0" indent="0">
              <a:buNone/>
            </a:pPr>
            <a:r>
              <a:rPr lang="en-US" sz="1100" b="1" dirty="0">
                <a:solidFill>
                  <a:srgbClr val="0F3A5F"/>
                </a:solidFill>
                <a:latin typeface="Calibri" panose="020F0502020204030204" pitchFamily="34" charset="0"/>
                <a:ea typeface="Calibri" panose="020F0502020204030204" pitchFamily="34" charset="-122"/>
                <a:cs typeface="Calibri" panose="020F0502020204030204" pitchFamily="34" charset="-120"/>
              </a:rPr>
              <a:t>Seuil de rentabilité (break-even)</a:t>
            </a:r>
            <a:endParaRPr lang="en-US" sz="1100" dirty="0"/>
          </a:p>
        </p:txBody>
      </p:sp>
      <p:sp>
        <p:nvSpPr>
          <p:cNvPr id="17" name="Text 14"/>
          <p:cNvSpPr/>
          <p:nvPr/>
        </p:nvSpPr>
        <p:spPr>
          <a:xfrm>
            <a:off x="6766560" y="4087368"/>
            <a:ext cx="4709160" cy="246888"/>
          </a:xfrm>
          <a:prstGeom prst="rect">
            <a:avLst/>
          </a:prstGeom>
          <a:noFill/>
        </p:spPr>
        <p:txBody>
          <a:bodyPr wrap="square" lIns="0" tIns="0" rIns="0" bIns="0" rtlCol="0" anchor="ctr"/>
          <a:lstStyle/>
          <a:p>
            <a:pPr marL="0" indent="0" algn="r" rtl="1">
              <a:buNone/>
            </a:pPr>
            <a:r>
              <a:rPr lang="en-US" sz="1100" dirty="0">
                <a:solidFill>
                  <a:srgbClr val="6B7178"/>
                </a:solidFill>
                <a:latin typeface="Shakila" pitchFamily="34" charset="0"/>
                <a:ea typeface="Shakila" pitchFamily="34" charset="-122"/>
                <a:cs typeface="Shakila" pitchFamily="34" charset="-120"/>
              </a:rPr>
              <a:t>نقطة التعادل</a:t>
            </a:r>
            <a:endParaRPr lang="en-US" sz="1100" dirty="0"/>
          </a:p>
        </p:txBody>
      </p:sp>
      <p:sp>
        <p:nvSpPr>
          <p:cNvPr id="18" name="Shape 15"/>
          <p:cNvSpPr/>
          <p:nvPr/>
        </p:nvSpPr>
        <p:spPr>
          <a:xfrm>
            <a:off x="6583680" y="4471416"/>
            <a:ext cx="5074920" cy="621792"/>
          </a:xfrm>
          <a:prstGeom prst="roundRect">
            <a:avLst>
              <a:gd name="adj" fmla="val 8824"/>
            </a:avLst>
          </a:prstGeom>
          <a:solidFill>
            <a:srgbClr val="FFFFFF"/>
          </a:solidFill>
          <a:effectLst>
            <a:outerShdw blurRad="63500" dist="25400" dir="5400000" algn="bl" rotWithShape="0">
              <a:srgbClr val="000000">
                <a:alpha val="8000"/>
              </a:srgbClr>
            </a:outerShdw>
          </a:effectLst>
        </p:spPr>
      </p:sp>
      <p:sp>
        <p:nvSpPr>
          <p:cNvPr id="19" name="Text 16"/>
          <p:cNvSpPr/>
          <p:nvPr/>
        </p:nvSpPr>
        <p:spPr>
          <a:xfrm>
            <a:off x="6766560" y="4535424"/>
            <a:ext cx="4709160" cy="246888"/>
          </a:xfrm>
          <a:prstGeom prst="rect">
            <a:avLst/>
          </a:prstGeom>
          <a:noFill/>
        </p:spPr>
        <p:txBody>
          <a:bodyPr wrap="square" lIns="0" tIns="0" rIns="0" bIns="0" rtlCol="0" anchor="ctr"/>
          <a:lstStyle/>
          <a:p>
            <a:pPr marL="0" indent="0">
              <a:buNone/>
            </a:pPr>
            <a:r>
              <a:rPr lang="en-US" sz="1100" b="1" dirty="0">
                <a:solidFill>
                  <a:srgbClr val="0F3A5F"/>
                </a:solidFill>
                <a:latin typeface="Calibri" panose="020F0502020204030204" pitchFamily="34" charset="0"/>
                <a:ea typeface="Calibri" panose="020F0502020204030204" pitchFamily="34" charset="-122"/>
                <a:cs typeface="Calibri" panose="020F0502020204030204" pitchFamily="34" charset="-120"/>
              </a:rPr>
              <a:t>Besoin en fonds de roulement</a:t>
            </a:r>
            <a:endParaRPr lang="en-US" sz="1100" dirty="0"/>
          </a:p>
        </p:txBody>
      </p:sp>
      <p:sp>
        <p:nvSpPr>
          <p:cNvPr id="20" name="Text 17"/>
          <p:cNvSpPr/>
          <p:nvPr/>
        </p:nvSpPr>
        <p:spPr>
          <a:xfrm>
            <a:off x="6766560" y="4800600"/>
            <a:ext cx="4709160" cy="246888"/>
          </a:xfrm>
          <a:prstGeom prst="rect">
            <a:avLst/>
          </a:prstGeom>
          <a:noFill/>
        </p:spPr>
        <p:txBody>
          <a:bodyPr wrap="square" lIns="0" tIns="0" rIns="0" bIns="0" rtlCol="0" anchor="ctr"/>
          <a:lstStyle/>
          <a:p>
            <a:pPr marL="0" indent="0" algn="r" rtl="1">
              <a:buNone/>
            </a:pPr>
            <a:r>
              <a:rPr lang="en-US" sz="1100" dirty="0">
                <a:solidFill>
                  <a:srgbClr val="6B7178"/>
                </a:solidFill>
                <a:latin typeface="Shakila" pitchFamily="34" charset="0"/>
                <a:ea typeface="Shakila" pitchFamily="34" charset="-122"/>
                <a:cs typeface="Shakila" pitchFamily="34" charset="-120"/>
              </a:rPr>
              <a:t>الحاجة إلى رأس مال متداول</a:t>
            </a:r>
            <a:endParaRPr lang="en-US" sz="1100" dirty="0"/>
          </a:p>
        </p:txBody>
      </p:sp>
      <p:sp>
        <p:nvSpPr>
          <p:cNvPr id="21" name="Shape 18"/>
          <p:cNvSpPr/>
          <p:nvPr/>
        </p:nvSpPr>
        <p:spPr>
          <a:xfrm>
            <a:off x="6583680" y="5184648"/>
            <a:ext cx="5074920" cy="621792"/>
          </a:xfrm>
          <a:prstGeom prst="roundRect">
            <a:avLst>
              <a:gd name="adj" fmla="val 8824"/>
            </a:avLst>
          </a:prstGeom>
          <a:solidFill>
            <a:srgbClr val="FFFFFF"/>
          </a:solidFill>
          <a:effectLst>
            <a:outerShdw blurRad="63500" dist="25400" dir="5400000" algn="bl" rotWithShape="0">
              <a:srgbClr val="000000">
                <a:alpha val="8000"/>
              </a:srgbClr>
            </a:outerShdw>
          </a:effectLst>
        </p:spPr>
      </p:sp>
      <p:sp>
        <p:nvSpPr>
          <p:cNvPr id="22" name="Text 19"/>
          <p:cNvSpPr/>
          <p:nvPr/>
        </p:nvSpPr>
        <p:spPr>
          <a:xfrm>
            <a:off x="6766560" y="5248656"/>
            <a:ext cx="4709160" cy="246888"/>
          </a:xfrm>
          <a:prstGeom prst="rect">
            <a:avLst/>
          </a:prstGeom>
          <a:noFill/>
        </p:spPr>
        <p:txBody>
          <a:bodyPr wrap="square" lIns="0" tIns="0" rIns="0" bIns="0" rtlCol="0" anchor="ctr"/>
          <a:lstStyle/>
          <a:p>
            <a:pPr marL="0" indent="0">
              <a:buNone/>
            </a:pPr>
            <a:r>
              <a:rPr lang="en-US" sz="1100" b="1" dirty="0">
                <a:solidFill>
                  <a:srgbClr val="0F3A5F"/>
                </a:solidFill>
                <a:latin typeface="Calibri" panose="020F0502020204030204" pitchFamily="34" charset="0"/>
                <a:ea typeface="Calibri" panose="020F0502020204030204" pitchFamily="34" charset="-122"/>
                <a:cs typeface="Calibri" panose="020F0502020204030204" pitchFamily="34" charset="-120"/>
              </a:rPr>
              <a:t>Retour sur investissement attendu</a:t>
            </a:r>
            <a:endParaRPr lang="en-US" sz="1100" dirty="0"/>
          </a:p>
        </p:txBody>
      </p:sp>
      <p:sp>
        <p:nvSpPr>
          <p:cNvPr id="23" name="Text 20"/>
          <p:cNvSpPr/>
          <p:nvPr/>
        </p:nvSpPr>
        <p:spPr>
          <a:xfrm>
            <a:off x="6766560" y="5513832"/>
            <a:ext cx="4709160" cy="246888"/>
          </a:xfrm>
          <a:prstGeom prst="rect">
            <a:avLst/>
          </a:prstGeom>
          <a:noFill/>
        </p:spPr>
        <p:txBody>
          <a:bodyPr wrap="square" lIns="0" tIns="0" rIns="0" bIns="0" rtlCol="0" anchor="ctr"/>
          <a:lstStyle/>
          <a:p>
            <a:pPr marL="0" indent="0" algn="r" rtl="1">
              <a:buNone/>
            </a:pPr>
            <a:r>
              <a:rPr lang="en-US" sz="1100" dirty="0">
                <a:solidFill>
                  <a:srgbClr val="6B7178"/>
                </a:solidFill>
                <a:latin typeface="Shakila" pitchFamily="34" charset="0"/>
                <a:ea typeface="Shakila" pitchFamily="34" charset="-122"/>
                <a:cs typeface="Shakila" pitchFamily="34" charset="-120"/>
              </a:rPr>
              <a:t>العائد المتوقع على الاستثمار</a:t>
            </a:r>
            <a:endParaRPr lang="en-US" sz="1100" dirty="0"/>
          </a:p>
        </p:txBody>
      </p:sp>
      <p:sp>
        <p:nvSpPr>
          <p:cNvPr id="24" name="Text 21"/>
          <p:cNvSpPr/>
          <p:nvPr/>
        </p:nvSpPr>
        <p:spPr>
          <a:xfrm>
            <a:off x="11551615" y="6446520"/>
            <a:ext cx="365760" cy="274320"/>
          </a:xfrm>
          <a:prstGeom prst="rect">
            <a:avLst/>
          </a:prstGeom>
          <a:noFill/>
        </p:spPr>
        <p:txBody>
          <a:bodyPr wrap="square" rtlCol="0" anchor="ctr"/>
          <a:lstStyle/>
          <a:p>
            <a:pPr marL="0" indent="0" algn="r">
              <a:buNone/>
            </a:pPr>
            <a:r>
              <a:rPr lang="en-US" sz="1000" dirty="0">
                <a:solidFill>
                  <a:srgbClr val="6B7178"/>
                </a:solidFill>
                <a:latin typeface="Calibri" panose="020F0502020204030204" pitchFamily="34" charset="0"/>
                <a:ea typeface="Calibri" panose="020F0502020204030204" pitchFamily="34" charset="-122"/>
                <a:cs typeface="Calibri" panose="020F0502020204030204"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2F3"/>
        </a:solidFill>
        <a:effectLst/>
      </p:bgPr>
    </p:bg>
    <p:spTree>
      <p:nvGrpSpPr>
        <p:cNvPr id="1" name=""/>
        <p:cNvGrpSpPr/>
        <p:nvPr/>
      </p:nvGrpSpPr>
      <p:grpSpPr>
        <a:xfrm>
          <a:off x="0" y="0"/>
          <a:ext cx="0" cy="0"/>
          <a:chOff x="0" y="0"/>
          <a:chExt cx="0" cy="0"/>
        </a:xfrm>
      </p:grpSpPr>
      <p:sp>
        <p:nvSpPr>
          <p:cNvPr id="2" name="Shape 0"/>
          <p:cNvSpPr/>
          <p:nvPr/>
        </p:nvSpPr>
        <p:spPr>
          <a:xfrm>
            <a:off x="548640" y="457200"/>
            <a:ext cx="3108960" cy="384048"/>
          </a:xfrm>
          <a:prstGeom prst="roundRect">
            <a:avLst>
              <a:gd name="adj" fmla="val 19048"/>
            </a:avLst>
          </a:prstGeom>
          <a:solidFill>
            <a:srgbClr val="E07B2A"/>
          </a:solidFill>
        </p:spPr>
      </p:sp>
      <p:sp>
        <p:nvSpPr>
          <p:cNvPr id="3" name="Text 1"/>
          <p:cNvSpPr/>
          <p:nvPr/>
        </p:nvSpPr>
        <p:spPr>
          <a:xfrm>
            <a:off x="548640" y="457200"/>
            <a:ext cx="3108960" cy="384048"/>
          </a:xfrm>
          <a:prstGeom prst="rect">
            <a:avLst/>
          </a:prstGeom>
          <a:noFill/>
        </p:spPr>
        <p:txBody>
          <a:bodyPr wrap="square" lIns="0" tIns="0" rIns="0" bIns="0" rtlCol="0" anchor="ctr"/>
          <a:lstStyle/>
          <a:p>
            <a:pPr marL="0" indent="0" algn="ctr">
              <a:buNone/>
            </a:pPr>
            <a:r>
              <a:rPr lang="en-US" sz="1200" b="1" dirty="0">
                <a:solidFill>
                  <a:srgbClr val="0F3A5F"/>
                </a:solidFill>
                <a:latin typeface="Calibri" panose="020F0502020204030204" pitchFamily="34" charset="0"/>
                <a:ea typeface="Calibri" panose="020F0502020204030204" pitchFamily="34" charset="-122"/>
                <a:cs typeface="Calibri" panose="020F0502020204030204" pitchFamily="34" charset="-120"/>
              </a:rPr>
              <a:t>07 · PLAN DE DÉVELOPPEMENT</a:t>
            </a:r>
            <a:endParaRPr lang="en-US" sz="1200" dirty="0"/>
          </a:p>
        </p:txBody>
      </p:sp>
      <p:sp>
        <p:nvSpPr>
          <p:cNvPr id="4" name="Shape 2"/>
          <p:cNvSpPr/>
          <p:nvPr/>
        </p:nvSpPr>
        <p:spPr>
          <a:xfrm>
            <a:off x="8534095" y="457200"/>
            <a:ext cx="3108960" cy="384048"/>
          </a:xfrm>
          <a:prstGeom prst="roundRect">
            <a:avLst>
              <a:gd name="adj" fmla="val 19048"/>
            </a:avLst>
          </a:prstGeom>
          <a:solidFill>
            <a:srgbClr val="E07B2A"/>
          </a:solidFill>
        </p:spPr>
      </p:sp>
      <p:sp>
        <p:nvSpPr>
          <p:cNvPr id="5" name="Text 3"/>
          <p:cNvSpPr/>
          <p:nvPr/>
        </p:nvSpPr>
        <p:spPr>
          <a:xfrm>
            <a:off x="8534095" y="457200"/>
            <a:ext cx="3108960" cy="384048"/>
          </a:xfrm>
          <a:prstGeom prst="rect">
            <a:avLst/>
          </a:prstGeom>
          <a:noFill/>
        </p:spPr>
        <p:txBody>
          <a:bodyPr wrap="square" lIns="0" tIns="0" rIns="0" bIns="0" rtlCol="0" anchor="ctr"/>
          <a:lstStyle/>
          <a:p>
            <a:pPr marL="0" indent="0" algn="ctr" rtl="1">
              <a:buNone/>
            </a:pPr>
            <a:r>
              <a:rPr lang="en-US" sz="1300" b="1" dirty="0">
                <a:solidFill>
                  <a:srgbClr val="0F3A5F"/>
                </a:solidFill>
                <a:latin typeface="Shakila" pitchFamily="34" charset="0"/>
                <a:ea typeface="Shakila" pitchFamily="34" charset="-122"/>
                <a:cs typeface="Shakila" pitchFamily="34" charset="-120"/>
              </a:rPr>
              <a:t>مخطط التطوير</a:t>
            </a:r>
            <a:endParaRPr lang="en-US" sz="1300" dirty="0"/>
          </a:p>
        </p:txBody>
      </p:sp>
      <p:sp>
        <p:nvSpPr>
          <p:cNvPr id="6" name="Text 4"/>
          <p:cNvSpPr/>
          <p:nvPr/>
        </p:nvSpPr>
        <p:spPr>
          <a:xfrm>
            <a:off x="548640" y="960120"/>
            <a:ext cx="11094415" cy="548640"/>
          </a:xfrm>
          <a:prstGeom prst="rect">
            <a:avLst/>
          </a:prstGeom>
          <a:noFill/>
        </p:spPr>
        <p:txBody>
          <a:bodyPr wrap="square" lIns="0" tIns="0" rIns="0" bIns="0" rtlCol="0" anchor="ctr"/>
          <a:lstStyle/>
          <a:p>
            <a:pPr marL="0" indent="0" algn="l">
              <a:buNone/>
            </a:pPr>
            <a:r>
              <a:rPr lang="en-US" sz="3000" b="1" dirty="0">
                <a:solidFill>
                  <a:srgbClr val="0F3A5F"/>
                </a:solidFill>
                <a:latin typeface="Cambria" panose="02040503050406030204" pitchFamily="34" charset="0"/>
                <a:ea typeface="Cambria" panose="02040503050406030204" pitchFamily="34" charset="-122"/>
                <a:cs typeface="Cambria" panose="02040503050406030204" pitchFamily="34" charset="-120"/>
              </a:rPr>
              <a:t>Feuille de route du prototype</a:t>
            </a:r>
            <a:endParaRPr lang="en-US" sz="3000" dirty="0"/>
          </a:p>
        </p:txBody>
      </p:sp>
      <p:sp>
        <p:nvSpPr>
          <p:cNvPr id="7" name="Text 5"/>
          <p:cNvSpPr/>
          <p:nvPr/>
        </p:nvSpPr>
        <p:spPr>
          <a:xfrm>
            <a:off x="548640" y="1463040"/>
            <a:ext cx="11094415" cy="457200"/>
          </a:xfrm>
          <a:prstGeom prst="rect">
            <a:avLst/>
          </a:prstGeom>
          <a:noFill/>
        </p:spPr>
        <p:txBody>
          <a:bodyPr wrap="square" lIns="0" tIns="0" rIns="0" bIns="0" rtlCol="0" anchor="ctr"/>
          <a:lstStyle/>
          <a:p>
            <a:pPr marL="0" indent="0" algn="r" rtl="1">
              <a:buNone/>
            </a:pPr>
            <a:r>
              <a:rPr lang="en-US" sz="2200" b="1" dirty="0">
                <a:solidFill>
                  <a:srgbClr val="6B7178"/>
                </a:solidFill>
                <a:latin typeface="Shakila" pitchFamily="34" charset="0"/>
                <a:ea typeface="Shakila" pitchFamily="34" charset="-122"/>
                <a:cs typeface="Shakila" pitchFamily="34" charset="-120"/>
              </a:rPr>
              <a:t>خارطة طريق النموذج الأولي</a:t>
            </a:r>
            <a:endParaRPr lang="en-US" sz="2200" dirty="0"/>
          </a:p>
        </p:txBody>
      </p:sp>
      <p:sp>
        <p:nvSpPr>
          <p:cNvPr id="8" name="Shape 6"/>
          <p:cNvSpPr/>
          <p:nvPr/>
        </p:nvSpPr>
        <p:spPr>
          <a:xfrm>
            <a:off x="914400" y="3108960"/>
            <a:ext cx="10362895" cy="0"/>
          </a:xfrm>
          <a:prstGeom prst="line">
            <a:avLst/>
          </a:prstGeom>
          <a:noFill/>
          <a:ln w="31750">
            <a:solidFill>
              <a:srgbClr val="E07B2A"/>
            </a:solidFill>
            <a:prstDash val="solid"/>
          </a:ln>
        </p:spPr>
      </p:sp>
      <p:sp>
        <p:nvSpPr>
          <p:cNvPr id="9" name="Shape 7"/>
          <p:cNvSpPr/>
          <p:nvPr/>
        </p:nvSpPr>
        <p:spPr>
          <a:xfrm>
            <a:off x="2081746" y="2980944"/>
            <a:ext cx="256032" cy="256032"/>
          </a:xfrm>
          <a:prstGeom prst="ellipse">
            <a:avLst/>
          </a:prstGeom>
          <a:solidFill>
            <a:srgbClr val="0F3A5F"/>
          </a:solidFill>
        </p:spPr>
      </p:sp>
      <p:sp>
        <p:nvSpPr>
          <p:cNvPr id="10" name="Shape 8"/>
          <p:cNvSpPr/>
          <p:nvPr/>
        </p:nvSpPr>
        <p:spPr>
          <a:xfrm>
            <a:off x="1051560" y="1417320"/>
            <a:ext cx="2316404" cy="1280160"/>
          </a:xfrm>
          <a:prstGeom prst="roundRect">
            <a:avLst>
              <a:gd name="adj" fmla="val 5000"/>
            </a:avLst>
          </a:prstGeom>
          <a:solidFill>
            <a:srgbClr val="FFFFFF"/>
          </a:solidFill>
          <a:effectLst>
            <a:outerShdw blurRad="76200" dist="25400" dir="5400000" algn="bl" rotWithShape="0">
              <a:srgbClr val="000000">
                <a:alpha val="10000"/>
              </a:srgbClr>
            </a:outerShdw>
          </a:effectLst>
        </p:spPr>
      </p:sp>
      <p:sp>
        <p:nvSpPr>
          <p:cNvPr id="11" name="Text 9"/>
          <p:cNvSpPr/>
          <p:nvPr/>
        </p:nvSpPr>
        <p:spPr>
          <a:xfrm>
            <a:off x="1188720" y="1508760"/>
            <a:ext cx="2042084" cy="274320"/>
          </a:xfrm>
          <a:prstGeom prst="rect">
            <a:avLst/>
          </a:prstGeom>
          <a:noFill/>
        </p:spPr>
        <p:txBody>
          <a:bodyPr wrap="square" lIns="0" tIns="0" rIns="0" bIns="0" rtlCol="0" anchor="ctr"/>
          <a:lstStyle/>
          <a:p>
            <a:pPr marL="0" indent="0">
              <a:buNone/>
            </a:pPr>
            <a:r>
              <a:rPr lang="en-US" sz="1300" b="1" dirty="0">
                <a:solidFill>
                  <a:srgbClr val="E07B2A"/>
                </a:solidFill>
                <a:latin typeface="Cambria" panose="02040503050406030204" pitchFamily="34" charset="0"/>
                <a:ea typeface="Cambria" panose="02040503050406030204" pitchFamily="34" charset="-122"/>
                <a:cs typeface="Cambria" panose="02040503050406030204" pitchFamily="34" charset="-120"/>
              </a:rPr>
              <a:t>M1-M2</a:t>
            </a:r>
            <a:endParaRPr lang="en-US" sz="1300" dirty="0"/>
          </a:p>
        </p:txBody>
      </p:sp>
      <p:sp>
        <p:nvSpPr>
          <p:cNvPr id="12" name="Text 10"/>
          <p:cNvSpPr/>
          <p:nvPr/>
        </p:nvSpPr>
        <p:spPr>
          <a:xfrm>
            <a:off x="1188720" y="1801368"/>
            <a:ext cx="2042084" cy="411480"/>
          </a:xfrm>
          <a:prstGeom prst="rect">
            <a:avLst/>
          </a:prstGeom>
          <a:noFill/>
        </p:spPr>
        <p:txBody>
          <a:bodyPr wrap="square" lIns="0" tIns="0" rIns="0" bIns="0" rtlCol="0" anchor="ctr"/>
          <a:lstStyle/>
          <a:p>
            <a:pPr marL="0" indent="0">
              <a:buNone/>
            </a:pPr>
            <a:r>
              <a:rPr lang="en-US" sz="950" dirty="0">
                <a:solidFill>
                  <a:srgbClr val="26282B"/>
                </a:solidFill>
                <a:latin typeface="Calibri" panose="020F0502020204030204" pitchFamily="34" charset="0"/>
                <a:ea typeface="Calibri" panose="020F0502020204030204" pitchFamily="34" charset="-122"/>
                <a:cs typeface="Calibri" panose="020F0502020204030204" pitchFamily="34" charset="-120"/>
              </a:rPr>
              <a:t>Finalisation technique du prototype</a:t>
            </a:r>
            <a:endParaRPr lang="en-US" sz="950" dirty="0"/>
          </a:p>
        </p:txBody>
      </p:sp>
      <p:sp>
        <p:nvSpPr>
          <p:cNvPr id="13" name="Text 11"/>
          <p:cNvSpPr/>
          <p:nvPr/>
        </p:nvSpPr>
        <p:spPr>
          <a:xfrm>
            <a:off x="1188720" y="2240280"/>
            <a:ext cx="2042084" cy="411480"/>
          </a:xfrm>
          <a:prstGeom prst="rect">
            <a:avLst/>
          </a:prstGeom>
          <a:noFill/>
        </p:spPr>
        <p:txBody>
          <a:bodyPr wrap="square" lIns="0" tIns="0" rIns="0" bIns="0" rtlCol="0" anchor="ctr"/>
          <a:lstStyle/>
          <a:p>
            <a:pPr marL="0" indent="0" algn="r" rtl="1">
              <a:buNone/>
            </a:pPr>
            <a:r>
              <a:rPr lang="en-US" sz="1000" dirty="0">
                <a:solidFill>
                  <a:srgbClr val="6B7178"/>
                </a:solidFill>
                <a:latin typeface="Shakila" pitchFamily="34" charset="0"/>
                <a:ea typeface="Shakila" pitchFamily="34" charset="-122"/>
                <a:cs typeface="Shakila" pitchFamily="34" charset="-120"/>
              </a:rPr>
              <a:t>إتمام النموذج الأولي تقنيًا</a:t>
            </a:r>
            <a:endParaRPr lang="en-US" sz="1000" dirty="0"/>
          </a:p>
        </p:txBody>
      </p:sp>
      <p:sp>
        <p:nvSpPr>
          <p:cNvPr id="14" name="Shape 12"/>
          <p:cNvSpPr/>
          <p:nvPr/>
        </p:nvSpPr>
        <p:spPr>
          <a:xfrm>
            <a:off x="2209762" y="2697480"/>
            <a:ext cx="0" cy="411480"/>
          </a:xfrm>
          <a:prstGeom prst="line">
            <a:avLst/>
          </a:prstGeom>
          <a:noFill/>
          <a:ln w="12700">
            <a:solidFill>
              <a:srgbClr val="E07B2A"/>
            </a:solidFill>
            <a:prstDash val="dash"/>
          </a:ln>
        </p:spPr>
      </p:sp>
      <p:sp>
        <p:nvSpPr>
          <p:cNvPr id="15" name="Shape 13"/>
          <p:cNvSpPr/>
          <p:nvPr/>
        </p:nvSpPr>
        <p:spPr>
          <a:xfrm>
            <a:off x="4672470" y="2980944"/>
            <a:ext cx="256032" cy="256032"/>
          </a:xfrm>
          <a:prstGeom prst="ellipse">
            <a:avLst/>
          </a:prstGeom>
          <a:solidFill>
            <a:srgbClr val="0F3A5F"/>
          </a:solidFill>
        </p:spPr>
      </p:sp>
      <p:sp>
        <p:nvSpPr>
          <p:cNvPr id="16" name="Shape 14"/>
          <p:cNvSpPr/>
          <p:nvPr/>
        </p:nvSpPr>
        <p:spPr>
          <a:xfrm>
            <a:off x="3642284" y="3520440"/>
            <a:ext cx="2316404" cy="1280160"/>
          </a:xfrm>
          <a:prstGeom prst="roundRect">
            <a:avLst>
              <a:gd name="adj" fmla="val 5000"/>
            </a:avLst>
          </a:prstGeom>
          <a:solidFill>
            <a:srgbClr val="FFFFFF"/>
          </a:solidFill>
          <a:effectLst>
            <a:outerShdw blurRad="76200" dist="25400" dir="5400000" algn="bl" rotWithShape="0">
              <a:srgbClr val="000000">
                <a:alpha val="10000"/>
              </a:srgbClr>
            </a:outerShdw>
          </a:effectLst>
        </p:spPr>
      </p:sp>
      <p:sp>
        <p:nvSpPr>
          <p:cNvPr id="17" name="Text 15"/>
          <p:cNvSpPr/>
          <p:nvPr/>
        </p:nvSpPr>
        <p:spPr>
          <a:xfrm>
            <a:off x="3779444" y="3611880"/>
            <a:ext cx="2042084" cy="274320"/>
          </a:xfrm>
          <a:prstGeom prst="rect">
            <a:avLst/>
          </a:prstGeom>
          <a:noFill/>
        </p:spPr>
        <p:txBody>
          <a:bodyPr wrap="square" lIns="0" tIns="0" rIns="0" bIns="0" rtlCol="0" anchor="ctr"/>
          <a:lstStyle/>
          <a:p>
            <a:pPr marL="0" indent="0">
              <a:buNone/>
            </a:pPr>
            <a:r>
              <a:rPr lang="en-US" sz="1300" b="1" dirty="0">
                <a:solidFill>
                  <a:srgbClr val="E07B2A"/>
                </a:solidFill>
                <a:latin typeface="Cambria" panose="02040503050406030204" pitchFamily="34" charset="0"/>
                <a:ea typeface="Cambria" panose="02040503050406030204" pitchFamily="34" charset="-122"/>
                <a:cs typeface="Cambria" panose="02040503050406030204" pitchFamily="34" charset="-120"/>
              </a:rPr>
              <a:t>M3-M4</a:t>
            </a:r>
            <a:endParaRPr lang="en-US" sz="1300" dirty="0"/>
          </a:p>
        </p:txBody>
      </p:sp>
      <p:sp>
        <p:nvSpPr>
          <p:cNvPr id="18" name="Text 16"/>
          <p:cNvSpPr/>
          <p:nvPr/>
        </p:nvSpPr>
        <p:spPr>
          <a:xfrm>
            <a:off x="3779444" y="3904488"/>
            <a:ext cx="2042084" cy="411480"/>
          </a:xfrm>
          <a:prstGeom prst="rect">
            <a:avLst/>
          </a:prstGeom>
          <a:noFill/>
        </p:spPr>
        <p:txBody>
          <a:bodyPr wrap="square" lIns="0" tIns="0" rIns="0" bIns="0" rtlCol="0" anchor="ctr"/>
          <a:lstStyle/>
          <a:p>
            <a:pPr marL="0" indent="0">
              <a:buNone/>
            </a:pPr>
            <a:r>
              <a:rPr lang="en-US" sz="950" dirty="0">
                <a:solidFill>
                  <a:srgbClr val="26282B"/>
                </a:solidFill>
                <a:latin typeface="Calibri" panose="020F0502020204030204" pitchFamily="34" charset="0"/>
                <a:ea typeface="Calibri" panose="020F0502020204030204" pitchFamily="34" charset="-122"/>
                <a:cs typeface="Calibri" panose="020F0502020204030204" pitchFamily="34" charset="-120"/>
              </a:rPr>
              <a:t>Tests, certifications et ajustements</a:t>
            </a:r>
            <a:endParaRPr lang="en-US" sz="950" dirty="0"/>
          </a:p>
        </p:txBody>
      </p:sp>
      <p:sp>
        <p:nvSpPr>
          <p:cNvPr id="19" name="Text 17"/>
          <p:cNvSpPr/>
          <p:nvPr/>
        </p:nvSpPr>
        <p:spPr>
          <a:xfrm>
            <a:off x="3779444" y="4343400"/>
            <a:ext cx="2042084" cy="411480"/>
          </a:xfrm>
          <a:prstGeom prst="rect">
            <a:avLst/>
          </a:prstGeom>
          <a:noFill/>
        </p:spPr>
        <p:txBody>
          <a:bodyPr wrap="square" lIns="0" tIns="0" rIns="0" bIns="0" rtlCol="0" anchor="ctr"/>
          <a:lstStyle/>
          <a:p>
            <a:pPr marL="0" indent="0" algn="r" rtl="1">
              <a:buNone/>
            </a:pPr>
            <a:r>
              <a:rPr lang="en-US" sz="1000" dirty="0">
                <a:solidFill>
                  <a:srgbClr val="6B7178"/>
                </a:solidFill>
                <a:latin typeface="Shakila" pitchFamily="34" charset="0"/>
                <a:ea typeface="Shakila" pitchFamily="34" charset="-122"/>
                <a:cs typeface="Shakila" pitchFamily="34" charset="-120"/>
              </a:rPr>
              <a:t>الاختبارات والشهادات والتعديلات</a:t>
            </a:r>
            <a:endParaRPr lang="en-US" sz="1000" dirty="0"/>
          </a:p>
        </p:txBody>
      </p:sp>
      <p:sp>
        <p:nvSpPr>
          <p:cNvPr id="20" name="Shape 18"/>
          <p:cNvSpPr/>
          <p:nvPr/>
        </p:nvSpPr>
        <p:spPr>
          <a:xfrm>
            <a:off x="4800486" y="3108960"/>
            <a:ext cx="0" cy="411480"/>
          </a:xfrm>
          <a:prstGeom prst="line">
            <a:avLst/>
          </a:prstGeom>
          <a:noFill/>
          <a:ln w="12700">
            <a:solidFill>
              <a:srgbClr val="E07B2A"/>
            </a:solidFill>
            <a:prstDash val="dash"/>
          </a:ln>
        </p:spPr>
      </p:sp>
      <p:sp>
        <p:nvSpPr>
          <p:cNvPr id="21" name="Shape 19"/>
          <p:cNvSpPr/>
          <p:nvPr/>
        </p:nvSpPr>
        <p:spPr>
          <a:xfrm>
            <a:off x="7263194" y="2980944"/>
            <a:ext cx="256032" cy="256032"/>
          </a:xfrm>
          <a:prstGeom prst="ellipse">
            <a:avLst/>
          </a:prstGeom>
          <a:solidFill>
            <a:srgbClr val="0F3A5F"/>
          </a:solidFill>
        </p:spPr>
      </p:sp>
      <p:sp>
        <p:nvSpPr>
          <p:cNvPr id="22" name="Shape 20"/>
          <p:cNvSpPr/>
          <p:nvPr/>
        </p:nvSpPr>
        <p:spPr>
          <a:xfrm>
            <a:off x="6233008" y="1417320"/>
            <a:ext cx="2316404" cy="1280160"/>
          </a:xfrm>
          <a:prstGeom prst="roundRect">
            <a:avLst>
              <a:gd name="adj" fmla="val 5000"/>
            </a:avLst>
          </a:prstGeom>
          <a:solidFill>
            <a:srgbClr val="FFFFFF"/>
          </a:solidFill>
          <a:effectLst>
            <a:outerShdw blurRad="76200" dist="25400" dir="5400000" algn="bl" rotWithShape="0">
              <a:srgbClr val="000000">
                <a:alpha val="10000"/>
              </a:srgbClr>
            </a:outerShdw>
          </a:effectLst>
        </p:spPr>
      </p:sp>
      <p:sp>
        <p:nvSpPr>
          <p:cNvPr id="23" name="Text 21"/>
          <p:cNvSpPr/>
          <p:nvPr/>
        </p:nvSpPr>
        <p:spPr>
          <a:xfrm>
            <a:off x="6370168" y="1508760"/>
            <a:ext cx="2042084" cy="274320"/>
          </a:xfrm>
          <a:prstGeom prst="rect">
            <a:avLst/>
          </a:prstGeom>
          <a:noFill/>
        </p:spPr>
        <p:txBody>
          <a:bodyPr wrap="square" lIns="0" tIns="0" rIns="0" bIns="0" rtlCol="0" anchor="ctr"/>
          <a:lstStyle/>
          <a:p>
            <a:pPr marL="0" indent="0">
              <a:buNone/>
            </a:pPr>
            <a:r>
              <a:rPr lang="en-US" sz="1300" b="1" dirty="0">
                <a:solidFill>
                  <a:srgbClr val="E07B2A"/>
                </a:solidFill>
                <a:latin typeface="Cambria" panose="02040503050406030204" pitchFamily="34" charset="0"/>
                <a:ea typeface="Cambria" panose="02040503050406030204" pitchFamily="34" charset="-122"/>
                <a:cs typeface="Cambria" panose="02040503050406030204" pitchFamily="34" charset="-120"/>
              </a:rPr>
              <a:t>M5-M6</a:t>
            </a:r>
            <a:endParaRPr lang="en-US" sz="1300" dirty="0"/>
          </a:p>
        </p:txBody>
      </p:sp>
      <p:sp>
        <p:nvSpPr>
          <p:cNvPr id="24" name="Text 22"/>
          <p:cNvSpPr/>
          <p:nvPr/>
        </p:nvSpPr>
        <p:spPr>
          <a:xfrm>
            <a:off x="6370168" y="1801368"/>
            <a:ext cx="2042084" cy="411480"/>
          </a:xfrm>
          <a:prstGeom prst="rect">
            <a:avLst/>
          </a:prstGeom>
          <a:noFill/>
        </p:spPr>
        <p:txBody>
          <a:bodyPr wrap="square" lIns="0" tIns="0" rIns="0" bIns="0" rtlCol="0" anchor="ctr"/>
          <a:lstStyle/>
          <a:p>
            <a:pPr marL="0" indent="0">
              <a:buNone/>
            </a:pPr>
            <a:r>
              <a:rPr lang="en-US" sz="950" dirty="0">
                <a:solidFill>
                  <a:srgbClr val="26282B"/>
                </a:solidFill>
                <a:latin typeface="Calibri" panose="020F0502020204030204" pitchFamily="34" charset="0"/>
                <a:ea typeface="Calibri" panose="020F0502020204030204" pitchFamily="34" charset="-122"/>
                <a:cs typeface="Calibri" panose="020F0502020204030204" pitchFamily="34" charset="-120"/>
              </a:rPr>
              <a:t>Production pilote et premiers clients</a:t>
            </a:r>
            <a:endParaRPr lang="en-US" sz="950" dirty="0"/>
          </a:p>
        </p:txBody>
      </p:sp>
      <p:sp>
        <p:nvSpPr>
          <p:cNvPr id="25" name="Text 23"/>
          <p:cNvSpPr/>
          <p:nvPr/>
        </p:nvSpPr>
        <p:spPr>
          <a:xfrm>
            <a:off x="6370168" y="2240280"/>
            <a:ext cx="2042084" cy="411480"/>
          </a:xfrm>
          <a:prstGeom prst="rect">
            <a:avLst/>
          </a:prstGeom>
          <a:noFill/>
        </p:spPr>
        <p:txBody>
          <a:bodyPr wrap="square" lIns="0" tIns="0" rIns="0" bIns="0" rtlCol="0" anchor="ctr"/>
          <a:lstStyle/>
          <a:p>
            <a:pPr marL="0" indent="0" algn="r" rtl="1">
              <a:buNone/>
            </a:pPr>
            <a:r>
              <a:rPr lang="en-US" sz="1000" dirty="0">
                <a:solidFill>
                  <a:srgbClr val="6B7178"/>
                </a:solidFill>
                <a:latin typeface="Shakila" pitchFamily="34" charset="0"/>
                <a:ea typeface="Shakila" pitchFamily="34" charset="-122"/>
                <a:cs typeface="Shakila" pitchFamily="34" charset="-120"/>
              </a:rPr>
              <a:t>الإنتاج التجريبي وأوائل العملاء</a:t>
            </a:r>
            <a:endParaRPr lang="en-US" sz="1000" dirty="0"/>
          </a:p>
        </p:txBody>
      </p:sp>
      <p:sp>
        <p:nvSpPr>
          <p:cNvPr id="26" name="Shape 24"/>
          <p:cNvSpPr/>
          <p:nvPr/>
        </p:nvSpPr>
        <p:spPr>
          <a:xfrm>
            <a:off x="7391210" y="2697480"/>
            <a:ext cx="0" cy="411480"/>
          </a:xfrm>
          <a:prstGeom prst="line">
            <a:avLst/>
          </a:prstGeom>
          <a:noFill/>
          <a:ln w="12700">
            <a:solidFill>
              <a:srgbClr val="E07B2A"/>
            </a:solidFill>
            <a:prstDash val="dash"/>
          </a:ln>
        </p:spPr>
      </p:sp>
      <p:sp>
        <p:nvSpPr>
          <p:cNvPr id="27" name="Shape 25"/>
          <p:cNvSpPr/>
          <p:nvPr/>
        </p:nvSpPr>
        <p:spPr>
          <a:xfrm>
            <a:off x="9853917" y="2980944"/>
            <a:ext cx="256032" cy="256032"/>
          </a:xfrm>
          <a:prstGeom prst="ellipse">
            <a:avLst/>
          </a:prstGeom>
          <a:solidFill>
            <a:srgbClr val="0F3A5F"/>
          </a:solidFill>
        </p:spPr>
      </p:sp>
      <p:sp>
        <p:nvSpPr>
          <p:cNvPr id="28" name="Shape 26"/>
          <p:cNvSpPr/>
          <p:nvPr/>
        </p:nvSpPr>
        <p:spPr>
          <a:xfrm>
            <a:off x="8823731" y="3520440"/>
            <a:ext cx="2316404" cy="1280160"/>
          </a:xfrm>
          <a:prstGeom prst="roundRect">
            <a:avLst>
              <a:gd name="adj" fmla="val 5000"/>
            </a:avLst>
          </a:prstGeom>
          <a:solidFill>
            <a:srgbClr val="FFFFFF"/>
          </a:solidFill>
          <a:effectLst>
            <a:outerShdw blurRad="76200" dist="25400" dir="5400000" algn="bl" rotWithShape="0">
              <a:srgbClr val="000000">
                <a:alpha val="10000"/>
              </a:srgbClr>
            </a:outerShdw>
          </a:effectLst>
        </p:spPr>
      </p:sp>
      <p:sp>
        <p:nvSpPr>
          <p:cNvPr id="29" name="Text 27"/>
          <p:cNvSpPr/>
          <p:nvPr/>
        </p:nvSpPr>
        <p:spPr>
          <a:xfrm>
            <a:off x="8960891" y="3611880"/>
            <a:ext cx="2042084" cy="274320"/>
          </a:xfrm>
          <a:prstGeom prst="rect">
            <a:avLst/>
          </a:prstGeom>
          <a:noFill/>
        </p:spPr>
        <p:txBody>
          <a:bodyPr wrap="square" lIns="0" tIns="0" rIns="0" bIns="0" rtlCol="0" anchor="ctr"/>
          <a:lstStyle/>
          <a:p>
            <a:pPr marL="0" indent="0">
              <a:buNone/>
            </a:pPr>
            <a:r>
              <a:rPr lang="en-US" sz="1300" b="1" dirty="0">
                <a:solidFill>
                  <a:srgbClr val="E07B2A"/>
                </a:solidFill>
                <a:latin typeface="Cambria" panose="02040503050406030204" pitchFamily="34" charset="0"/>
                <a:ea typeface="Cambria" panose="02040503050406030204" pitchFamily="34" charset="-122"/>
                <a:cs typeface="Cambria" panose="02040503050406030204" pitchFamily="34" charset="-120"/>
              </a:rPr>
              <a:t>M7-M9</a:t>
            </a:r>
            <a:endParaRPr lang="en-US" sz="1300" dirty="0"/>
          </a:p>
        </p:txBody>
      </p:sp>
      <p:sp>
        <p:nvSpPr>
          <p:cNvPr id="30" name="Text 28"/>
          <p:cNvSpPr/>
          <p:nvPr/>
        </p:nvSpPr>
        <p:spPr>
          <a:xfrm>
            <a:off x="8960891" y="3904488"/>
            <a:ext cx="2042084" cy="411480"/>
          </a:xfrm>
          <a:prstGeom prst="rect">
            <a:avLst/>
          </a:prstGeom>
          <a:noFill/>
        </p:spPr>
        <p:txBody>
          <a:bodyPr wrap="square" lIns="0" tIns="0" rIns="0" bIns="0" rtlCol="0" anchor="ctr"/>
          <a:lstStyle/>
          <a:p>
            <a:pPr marL="0" indent="0">
              <a:buNone/>
            </a:pPr>
            <a:r>
              <a:rPr lang="en-US" sz="950" dirty="0">
                <a:solidFill>
                  <a:srgbClr val="26282B"/>
                </a:solidFill>
                <a:latin typeface="Calibri" panose="020F0502020204030204" pitchFamily="34" charset="0"/>
                <a:ea typeface="Calibri" panose="020F0502020204030204" pitchFamily="34" charset="-122"/>
                <a:cs typeface="Calibri" panose="020F0502020204030204" pitchFamily="34" charset="-120"/>
              </a:rPr>
              <a:t>Industrialisation et création de la start-up</a:t>
            </a:r>
            <a:endParaRPr lang="en-US" sz="950" dirty="0"/>
          </a:p>
        </p:txBody>
      </p:sp>
      <p:sp>
        <p:nvSpPr>
          <p:cNvPr id="31" name="Text 29"/>
          <p:cNvSpPr/>
          <p:nvPr/>
        </p:nvSpPr>
        <p:spPr>
          <a:xfrm>
            <a:off x="8960891" y="4343400"/>
            <a:ext cx="2042084" cy="411480"/>
          </a:xfrm>
          <a:prstGeom prst="rect">
            <a:avLst/>
          </a:prstGeom>
          <a:noFill/>
        </p:spPr>
        <p:txBody>
          <a:bodyPr wrap="square" lIns="0" tIns="0" rIns="0" bIns="0" rtlCol="0" anchor="ctr"/>
          <a:lstStyle/>
          <a:p>
            <a:pPr marL="0" indent="0" algn="r" rtl="1">
              <a:buNone/>
            </a:pPr>
            <a:r>
              <a:rPr lang="en-US" sz="1000" dirty="0">
                <a:solidFill>
                  <a:srgbClr val="6B7178"/>
                </a:solidFill>
                <a:latin typeface="Shakila" pitchFamily="34" charset="0"/>
                <a:ea typeface="Shakila" pitchFamily="34" charset="-122"/>
                <a:cs typeface="Shakila" pitchFamily="34" charset="-120"/>
              </a:rPr>
              <a:t>التصنيع وتأسيس المؤسسة الناشئة</a:t>
            </a:r>
            <a:endParaRPr lang="en-US" sz="1000" dirty="0"/>
          </a:p>
        </p:txBody>
      </p:sp>
      <p:sp>
        <p:nvSpPr>
          <p:cNvPr id="32" name="Shape 30"/>
          <p:cNvSpPr/>
          <p:nvPr/>
        </p:nvSpPr>
        <p:spPr>
          <a:xfrm>
            <a:off x="9981933" y="3108960"/>
            <a:ext cx="0" cy="411480"/>
          </a:xfrm>
          <a:prstGeom prst="line">
            <a:avLst/>
          </a:prstGeom>
          <a:noFill/>
          <a:ln w="12700">
            <a:solidFill>
              <a:srgbClr val="E07B2A"/>
            </a:solidFill>
            <a:prstDash val="dash"/>
          </a:ln>
        </p:spPr>
      </p:sp>
      <p:sp>
        <p:nvSpPr>
          <p:cNvPr id="33" name="Text 31"/>
          <p:cNvSpPr/>
          <p:nvPr/>
        </p:nvSpPr>
        <p:spPr>
          <a:xfrm>
            <a:off x="11551615" y="6446520"/>
            <a:ext cx="365760" cy="274320"/>
          </a:xfrm>
          <a:prstGeom prst="rect">
            <a:avLst/>
          </a:prstGeom>
          <a:noFill/>
        </p:spPr>
        <p:txBody>
          <a:bodyPr wrap="square" rtlCol="0" anchor="ctr"/>
          <a:lstStyle/>
          <a:p>
            <a:pPr marL="0" indent="0" algn="r">
              <a:buNone/>
            </a:pPr>
            <a:r>
              <a:rPr lang="en-US" sz="1000" dirty="0">
                <a:solidFill>
                  <a:srgbClr val="6B7178"/>
                </a:solidFill>
                <a:latin typeface="Calibri" panose="020F0502020204030204" pitchFamily="34" charset="0"/>
                <a:ea typeface="Calibri" panose="020F0502020204030204" pitchFamily="34" charset="-122"/>
                <a:cs typeface="Calibri" panose="020F0502020204030204" pitchFamily="34" charset="-120"/>
              </a:rPr>
              <a:t>10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2F3"/>
        </a:solidFill>
        <a:effectLst/>
      </p:bgPr>
    </p:bg>
    <p:spTree>
      <p:nvGrpSpPr>
        <p:cNvPr id="1" name=""/>
        <p:cNvGrpSpPr/>
        <p:nvPr/>
      </p:nvGrpSpPr>
      <p:grpSpPr>
        <a:xfrm>
          <a:off x="0" y="0"/>
          <a:ext cx="0" cy="0"/>
          <a:chOff x="0" y="0"/>
          <a:chExt cx="0" cy="0"/>
        </a:xfrm>
      </p:grpSpPr>
      <p:sp>
        <p:nvSpPr>
          <p:cNvPr id="2" name="Shape 0"/>
          <p:cNvSpPr/>
          <p:nvPr/>
        </p:nvSpPr>
        <p:spPr>
          <a:xfrm>
            <a:off x="548640" y="457200"/>
            <a:ext cx="3108960" cy="384048"/>
          </a:xfrm>
          <a:prstGeom prst="roundRect">
            <a:avLst>
              <a:gd name="adj" fmla="val 19048"/>
            </a:avLst>
          </a:prstGeom>
          <a:solidFill>
            <a:srgbClr val="E07B2A"/>
          </a:solidFill>
        </p:spPr>
      </p:sp>
      <p:sp>
        <p:nvSpPr>
          <p:cNvPr id="3" name="Text 1"/>
          <p:cNvSpPr/>
          <p:nvPr/>
        </p:nvSpPr>
        <p:spPr>
          <a:xfrm>
            <a:off x="548640" y="457200"/>
            <a:ext cx="3108960" cy="384048"/>
          </a:xfrm>
          <a:prstGeom prst="rect">
            <a:avLst/>
          </a:prstGeom>
          <a:noFill/>
        </p:spPr>
        <p:txBody>
          <a:bodyPr wrap="square" lIns="0" tIns="0" rIns="0" bIns="0" rtlCol="0" anchor="ctr"/>
          <a:lstStyle/>
          <a:p>
            <a:pPr marL="0" indent="0" algn="ctr">
              <a:buNone/>
            </a:pPr>
            <a:r>
              <a:rPr lang="en-US" sz="1200" b="1" dirty="0">
                <a:solidFill>
                  <a:srgbClr val="0F3A5F"/>
                </a:solidFill>
                <a:latin typeface="Calibri" panose="020F0502020204030204" pitchFamily="34" charset="0"/>
                <a:ea typeface="Calibri" panose="020F0502020204030204" pitchFamily="34" charset="-122"/>
                <a:cs typeface="Calibri" panose="020F0502020204030204" pitchFamily="34" charset="-120"/>
              </a:rPr>
              <a:t>08 · ÉQUIPE</a:t>
            </a:r>
            <a:endParaRPr lang="en-US" sz="1200" dirty="0"/>
          </a:p>
        </p:txBody>
      </p:sp>
      <p:sp>
        <p:nvSpPr>
          <p:cNvPr id="4" name="Shape 2"/>
          <p:cNvSpPr/>
          <p:nvPr/>
        </p:nvSpPr>
        <p:spPr>
          <a:xfrm>
            <a:off x="8534095" y="457200"/>
            <a:ext cx="3108960" cy="384048"/>
          </a:xfrm>
          <a:prstGeom prst="roundRect">
            <a:avLst>
              <a:gd name="adj" fmla="val 19048"/>
            </a:avLst>
          </a:prstGeom>
          <a:solidFill>
            <a:srgbClr val="E07B2A"/>
          </a:solidFill>
        </p:spPr>
      </p:sp>
      <p:sp>
        <p:nvSpPr>
          <p:cNvPr id="5" name="Text 3"/>
          <p:cNvSpPr/>
          <p:nvPr/>
        </p:nvSpPr>
        <p:spPr>
          <a:xfrm>
            <a:off x="8534095" y="457200"/>
            <a:ext cx="3108960" cy="384048"/>
          </a:xfrm>
          <a:prstGeom prst="rect">
            <a:avLst/>
          </a:prstGeom>
          <a:noFill/>
        </p:spPr>
        <p:txBody>
          <a:bodyPr wrap="square" lIns="0" tIns="0" rIns="0" bIns="0" rtlCol="0" anchor="ctr"/>
          <a:lstStyle/>
          <a:p>
            <a:pPr marL="0" indent="0" algn="ctr" rtl="1">
              <a:buNone/>
            </a:pPr>
            <a:r>
              <a:rPr lang="en-US" sz="1300" b="1" dirty="0">
                <a:solidFill>
                  <a:srgbClr val="0F3A5F"/>
                </a:solidFill>
                <a:latin typeface="Shakila" pitchFamily="34" charset="0"/>
                <a:ea typeface="Shakila" pitchFamily="34" charset="-122"/>
                <a:cs typeface="Shakila" pitchFamily="34" charset="-120"/>
              </a:rPr>
              <a:t>الفريق</a:t>
            </a:r>
            <a:endParaRPr lang="en-US" sz="1300" dirty="0"/>
          </a:p>
        </p:txBody>
      </p:sp>
      <p:sp>
        <p:nvSpPr>
          <p:cNvPr id="6" name="Text 4"/>
          <p:cNvSpPr/>
          <p:nvPr/>
        </p:nvSpPr>
        <p:spPr>
          <a:xfrm>
            <a:off x="548640" y="960120"/>
            <a:ext cx="11094415" cy="548640"/>
          </a:xfrm>
          <a:prstGeom prst="rect">
            <a:avLst/>
          </a:prstGeom>
          <a:noFill/>
        </p:spPr>
        <p:txBody>
          <a:bodyPr wrap="square" lIns="0" tIns="0" rIns="0" bIns="0" rtlCol="0" anchor="ctr"/>
          <a:lstStyle/>
          <a:p>
            <a:pPr marL="0" indent="0" algn="l">
              <a:buNone/>
            </a:pPr>
            <a:r>
              <a:rPr lang="en-US" sz="3000" b="1" dirty="0">
                <a:solidFill>
                  <a:srgbClr val="0F3A5F"/>
                </a:solidFill>
                <a:latin typeface="Cambria" panose="02040503050406030204" pitchFamily="34" charset="0"/>
                <a:ea typeface="Cambria" panose="02040503050406030204" pitchFamily="34" charset="-122"/>
                <a:cs typeface="Cambria" panose="02040503050406030204" pitchFamily="34" charset="-120"/>
              </a:rPr>
              <a:t>L'équipe du projet</a:t>
            </a:r>
            <a:endParaRPr lang="en-US" sz="3000" dirty="0"/>
          </a:p>
        </p:txBody>
      </p:sp>
      <p:sp>
        <p:nvSpPr>
          <p:cNvPr id="7" name="Text 5"/>
          <p:cNvSpPr/>
          <p:nvPr/>
        </p:nvSpPr>
        <p:spPr>
          <a:xfrm>
            <a:off x="548640" y="1463040"/>
            <a:ext cx="11094415" cy="457200"/>
          </a:xfrm>
          <a:prstGeom prst="rect">
            <a:avLst/>
          </a:prstGeom>
          <a:noFill/>
        </p:spPr>
        <p:txBody>
          <a:bodyPr wrap="square" lIns="0" tIns="0" rIns="0" bIns="0" rtlCol="0" anchor="ctr"/>
          <a:lstStyle/>
          <a:p>
            <a:pPr marL="0" indent="0" algn="r" rtl="1">
              <a:buNone/>
            </a:pPr>
            <a:r>
              <a:rPr lang="en-US" sz="2200" b="1" dirty="0" err="1">
                <a:solidFill>
                  <a:srgbClr val="6B7178"/>
                </a:solidFill>
                <a:latin typeface="Shakila" pitchFamily="34" charset="0"/>
                <a:ea typeface="Shakila" pitchFamily="34" charset="-122"/>
              </a:rPr>
              <a:t>فريق</a:t>
            </a:r>
            <a:r>
              <a:rPr lang="en-US" sz="2200" b="1" dirty="0">
                <a:solidFill>
                  <a:srgbClr val="6B7178"/>
                </a:solidFill>
                <a:latin typeface="Shakila" pitchFamily="34" charset="0"/>
                <a:ea typeface="Shakila" pitchFamily="34" charset="-122"/>
                <a:cs typeface="Shakila" pitchFamily="34" charset="-120"/>
              </a:rPr>
              <a:t> </a:t>
            </a:r>
            <a:r>
              <a:rPr lang="en-US" sz="2200" b="1" dirty="0" err="1">
                <a:solidFill>
                  <a:srgbClr val="6B7178"/>
                </a:solidFill>
                <a:latin typeface="Shakila" pitchFamily="34" charset="0"/>
                <a:ea typeface="Shakila" pitchFamily="34" charset="-122"/>
              </a:rPr>
              <a:t>المشروع</a:t>
            </a:r>
            <a:endParaRPr lang="en-US" sz="2200" b="1" dirty="0">
              <a:solidFill>
                <a:srgbClr val="6B7178"/>
              </a:solidFill>
              <a:latin typeface="Shakila" pitchFamily="34" charset="0"/>
              <a:ea typeface="Shakila" pitchFamily="34" charset="-122"/>
            </a:endParaRPr>
          </a:p>
        </p:txBody>
      </p:sp>
      <p:sp>
        <p:nvSpPr>
          <p:cNvPr id="8" name="Shape 6"/>
          <p:cNvSpPr/>
          <p:nvPr/>
        </p:nvSpPr>
        <p:spPr>
          <a:xfrm>
            <a:off x="548640" y="2240280"/>
            <a:ext cx="5349240" cy="1691640"/>
          </a:xfrm>
          <a:prstGeom prst="roundRect">
            <a:avLst>
              <a:gd name="adj" fmla="val 4324"/>
            </a:avLst>
          </a:prstGeom>
          <a:solidFill>
            <a:srgbClr val="FFFFFF"/>
          </a:solidFill>
          <a:effectLst>
            <a:outerShdw blurRad="101600" dist="38100" dir="5400000" algn="bl" rotWithShape="0">
              <a:srgbClr val="000000">
                <a:alpha val="10000"/>
              </a:srgbClr>
            </a:outerShdw>
          </a:effectLst>
        </p:spPr>
      </p:sp>
      <p:sp>
        <p:nvSpPr>
          <p:cNvPr id="9" name="Shape 7"/>
          <p:cNvSpPr/>
          <p:nvPr/>
        </p:nvSpPr>
        <p:spPr>
          <a:xfrm>
            <a:off x="777240" y="2468880"/>
            <a:ext cx="548640" cy="548640"/>
          </a:xfrm>
          <a:prstGeom prst="ellipse">
            <a:avLst/>
          </a:prstGeom>
          <a:solidFill>
            <a:srgbClr val="0F3A5F"/>
          </a:solidFill>
        </p:spPr>
      </p:sp>
      <p:pic>
        <p:nvPicPr>
          <p:cNvPr id="10" name="Image 0" descr="/home/claude/assets/users.png"/>
          <p:cNvPicPr>
            <a:picLocks noChangeAspect="1"/>
          </p:cNvPicPr>
          <p:nvPr/>
        </p:nvPicPr>
        <p:blipFill>
          <a:blip r:embed="rId3"/>
          <a:stretch>
            <a:fillRect/>
          </a:stretch>
        </p:blipFill>
        <p:spPr>
          <a:xfrm>
            <a:off x="886968" y="2578608"/>
            <a:ext cx="329184" cy="329184"/>
          </a:xfrm>
          <a:prstGeom prst="rect">
            <a:avLst/>
          </a:prstGeom>
        </p:spPr>
      </p:pic>
      <p:sp>
        <p:nvSpPr>
          <p:cNvPr id="11" name="Text 8"/>
          <p:cNvSpPr/>
          <p:nvPr/>
        </p:nvSpPr>
        <p:spPr>
          <a:xfrm>
            <a:off x="1463040" y="2404872"/>
            <a:ext cx="4251960" cy="292608"/>
          </a:xfrm>
          <a:prstGeom prst="rect">
            <a:avLst/>
          </a:prstGeom>
          <a:noFill/>
        </p:spPr>
        <p:txBody>
          <a:bodyPr wrap="square" lIns="0" tIns="0" rIns="0" bIns="0" rtlCol="0" anchor="ctr"/>
          <a:lstStyle/>
          <a:p>
            <a:pPr marL="0" indent="0">
              <a:buNone/>
            </a:pPr>
            <a:r>
              <a:rPr lang="en-US" sz="1350" b="1" dirty="0">
                <a:solidFill>
                  <a:srgbClr val="0F3A5F"/>
                </a:solidFill>
                <a:latin typeface="Calibri" panose="020F0502020204030204" pitchFamily="34" charset="0"/>
                <a:ea typeface="Calibri" panose="020F0502020204030204" pitchFamily="34" charset="-122"/>
                <a:cs typeface="Calibri" panose="020F0502020204030204" pitchFamily="34" charset="-120"/>
              </a:rPr>
              <a:t>Porteur de projet</a:t>
            </a:r>
            <a:endParaRPr lang="en-US" sz="1350" dirty="0"/>
          </a:p>
        </p:txBody>
      </p:sp>
      <p:sp>
        <p:nvSpPr>
          <p:cNvPr id="12" name="Text 9"/>
          <p:cNvSpPr/>
          <p:nvPr/>
        </p:nvSpPr>
        <p:spPr>
          <a:xfrm>
            <a:off x="1463040" y="2404872"/>
            <a:ext cx="4251960" cy="292608"/>
          </a:xfrm>
          <a:prstGeom prst="rect">
            <a:avLst/>
          </a:prstGeom>
          <a:noFill/>
        </p:spPr>
        <p:txBody>
          <a:bodyPr wrap="square" lIns="0" tIns="0" rIns="0" bIns="0" rtlCol="0" anchor="ctr"/>
          <a:lstStyle/>
          <a:p>
            <a:pPr marL="0" indent="0" algn="r" rtl="1">
              <a:buNone/>
            </a:pPr>
            <a:r>
              <a:rPr lang="en-US" sz="1250" b="1" dirty="0" err="1">
                <a:solidFill>
                  <a:srgbClr val="E07B2A"/>
                </a:solidFill>
                <a:latin typeface="Shakila" pitchFamily="34" charset="0"/>
                <a:ea typeface="Shakila" pitchFamily="34" charset="-122"/>
                <a:cs typeface="Shakila" pitchFamily="34" charset="-120"/>
              </a:rPr>
              <a:t>حامل</a:t>
            </a:r>
            <a:r>
              <a:rPr lang="en-US" sz="1250" b="1" dirty="0">
                <a:solidFill>
                  <a:srgbClr val="E07B2A"/>
                </a:solidFill>
                <a:latin typeface="Shakila" pitchFamily="34" charset="0"/>
                <a:ea typeface="Shakila" pitchFamily="34" charset="-122"/>
                <a:cs typeface="Shakila" pitchFamily="34" charset="-120"/>
              </a:rPr>
              <a:t> </a:t>
            </a:r>
            <a:r>
              <a:rPr lang="en-US" sz="1250" b="1" dirty="0" err="1">
                <a:solidFill>
                  <a:srgbClr val="E07B2A"/>
                </a:solidFill>
                <a:latin typeface="Shakila" pitchFamily="34" charset="0"/>
                <a:ea typeface="Shakila" pitchFamily="34" charset="-122"/>
              </a:rPr>
              <a:t>المشروع</a:t>
            </a:r>
            <a:endParaRPr lang="en-US" sz="1250" b="1" dirty="0">
              <a:solidFill>
                <a:srgbClr val="E07B2A"/>
              </a:solidFill>
              <a:latin typeface="Shakila" pitchFamily="34" charset="0"/>
              <a:ea typeface="Shakila" pitchFamily="34" charset="-122"/>
            </a:endParaRPr>
          </a:p>
        </p:txBody>
      </p:sp>
      <p:sp>
        <p:nvSpPr>
          <p:cNvPr id="13" name="Text 10"/>
          <p:cNvSpPr/>
          <p:nvPr/>
        </p:nvSpPr>
        <p:spPr>
          <a:xfrm>
            <a:off x="777240" y="2971800"/>
            <a:ext cx="4892040" cy="731520"/>
          </a:xfrm>
          <a:prstGeom prst="rect">
            <a:avLst/>
          </a:prstGeom>
          <a:noFill/>
        </p:spPr>
        <p:txBody>
          <a:bodyPr wrap="square" lIns="0" tIns="0" rIns="0" bIns="0" rtlCol="0" anchor="ctr"/>
          <a:lstStyle/>
          <a:p>
            <a:pPr marL="0" indent="0">
              <a:buNone/>
            </a:pPr>
            <a:r>
              <a:rPr lang="en-US" sz="1100" dirty="0">
                <a:solidFill>
                  <a:srgbClr val="26282B"/>
                </a:solidFill>
                <a:latin typeface="Calibri" panose="020F0502020204030204" pitchFamily="34" charset="0"/>
                <a:ea typeface="Calibri" panose="020F0502020204030204" pitchFamily="34" charset="-122"/>
                <a:cs typeface="Calibri" panose="020F0502020204030204" pitchFamily="34" charset="-120"/>
              </a:rPr>
              <a:t>Rôle, formation, expérience pertinente</a:t>
            </a:r>
            <a:endParaRPr lang="en-US" sz="1100" dirty="0"/>
          </a:p>
        </p:txBody>
      </p:sp>
      <p:sp>
        <p:nvSpPr>
          <p:cNvPr id="14" name="Shape 11"/>
          <p:cNvSpPr/>
          <p:nvPr/>
        </p:nvSpPr>
        <p:spPr>
          <a:xfrm>
            <a:off x="6172200" y="2240280"/>
            <a:ext cx="5349240" cy="1691640"/>
          </a:xfrm>
          <a:prstGeom prst="roundRect">
            <a:avLst>
              <a:gd name="adj" fmla="val 4324"/>
            </a:avLst>
          </a:prstGeom>
          <a:solidFill>
            <a:srgbClr val="FFFFFF"/>
          </a:solidFill>
          <a:effectLst>
            <a:outerShdw blurRad="101600" dist="38100" dir="5400000" algn="bl" rotWithShape="0">
              <a:srgbClr val="000000">
                <a:alpha val="10000"/>
              </a:srgbClr>
            </a:outerShdw>
          </a:effectLst>
        </p:spPr>
      </p:sp>
      <p:sp>
        <p:nvSpPr>
          <p:cNvPr id="15" name="Shape 12"/>
          <p:cNvSpPr/>
          <p:nvPr/>
        </p:nvSpPr>
        <p:spPr>
          <a:xfrm>
            <a:off x="6400800" y="2468880"/>
            <a:ext cx="548640" cy="548640"/>
          </a:xfrm>
          <a:prstGeom prst="ellipse">
            <a:avLst/>
          </a:prstGeom>
          <a:solidFill>
            <a:srgbClr val="0F3A5F"/>
          </a:solidFill>
        </p:spPr>
      </p:sp>
      <p:pic>
        <p:nvPicPr>
          <p:cNvPr id="16" name="Image 1" descr="/home/claude/assets/users.png"/>
          <p:cNvPicPr>
            <a:picLocks noChangeAspect="1"/>
          </p:cNvPicPr>
          <p:nvPr/>
        </p:nvPicPr>
        <p:blipFill>
          <a:blip r:embed="rId3"/>
          <a:stretch>
            <a:fillRect/>
          </a:stretch>
        </p:blipFill>
        <p:spPr>
          <a:xfrm>
            <a:off x="6510528" y="2578608"/>
            <a:ext cx="329184" cy="329184"/>
          </a:xfrm>
          <a:prstGeom prst="rect">
            <a:avLst/>
          </a:prstGeom>
        </p:spPr>
      </p:pic>
      <p:sp>
        <p:nvSpPr>
          <p:cNvPr id="17" name="Text 13"/>
          <p:cNvSpPr/>
          <p:nvPr/>
        </p:nvSpPr>
        <p:spPr>
          <a:xfrm>
            <a:off x="7086600" y="2404872"/>
            <a:ext cx="4251960" cy="292608"/>
          </a:xfrm>
          <a:prstGeom prst="rect">
            <a:avLst/>
          </a:prstGeom>
          <a:noFill/>
        </p:spPr>
        <p:txBody>
          <a:bodyPr wrap="square" lIns="0" tIns="0" rIns="0" bIns="0" rtlCol="0" anchor="ctr"/>
          <a:lstStyle/>
          <a:p>
            <a:pPr marL="0" indent="0">
              <a:buNone/>
            </a:pPr>
            <a:r>
              <a:rPr lang="en-US" sz="1350" b="1" dirty="0">
                <a:solidFill>
                  <a:srgbClr val="0F3A5F"/>
                </a:solidFill>
                <a:latin typeface="Calibri" panose="020F0502020204030204" pitchFamily="34" charset="0"/>
                <a:ea typeface="Calibri" panose="020F0502020204030204" pitchFamily="34" charset="-122"/>
                <a:cs typeface="Calibri" panose="020F0502020204030204" pitchFamily="34" charset="-120"/>
              </a:rPr>
              <a:t>Encadrant académique</a:t>
            </a:r>
            <a:endParaRPr lang="en-US" sz="1350" dirty="0"/>
          </a:p>
        </p:txBody>
      </p:sp>
      <p:sp>
        <p:nvSpPr>
          <p:cNvPr id="18" name="Text 14"/>
          <p:cNvSpPr/>
          <p:nvPr/>
        </p:nvSpPr>
        <p:spPr>
          <a:xfrm>
            <a:off x="7086600" y="2415505"/>
            <a:ext cx="4251960" cy="292608"/>
          </a:xfrm>
          <a:prstGeom prst="rect">
            <a:avLst/>
          </a:prstGeom>
          <a:noFill/>
        </p:spPr>
        <p:txBody>
          <a:bodyPr wrap="square" lIns="0" tIns="0" rIns="0" bIns="0" rtlCol="0" anchor="ctr"/>
          <a:lstStyle/>
          <a:p>
            <a:pPr marL="0" indent="0" algn="r" rtl="1">
              <a:buNone/>
            </a:pPr>
            <a:r>
              <a:rPr lang="en-US" sz="1250" b="1" dirty="0" err="1">
                <a:solidFill>
                  <a:srgbClr val="E07B2A"/>
                </a:solidFill>
                <a:latin typeface="Shakila" pitchFamily="34" charset="0"/>
                <a:ea typeface="Shakila" pitchFamily="34" charset="-122"/>
                <a:cs typeface="Shakila" pitchFamily="34" charset="-120"/>
              </a:rPr>
              <a:t>المؤطر</a:t>
            </a:r>
            <a:r>
              <a:rPr lang="en-US" sz="1250" b="1" dirty="0">
                <a:solidFill>
                  <a:srgbClr val="E07B2A"/>
                </a:solidFill>
                <a:latin typeface="Shakila" pitchFamily="34" charset="0"/>
                <a:ea typeface="Shakila" pitchFamily="34" charset="-122"/>
                <a:cs typeface="Shakila" pitchFamily="34" charset="-120"/>
              </a:rPr>
              <a:t> </a:t>
            </a:r>
            <a:r>
              <a:rPr lang="en-US" sz="1250" b="1" dirty="0" err="1">
                <a:solidFill>
                  <a:srgbClr val="E07B2A"/>
                </a:solidFill>
                <a:latin typeface="Shakila" pitchFamily="34" charset="0"/>
                <a:ea typeface="Shakila" pitchFamily="34" charset="-122"/>
              </a:rPr>
              <a:t>الأكاديمي</a:t>
            </a:r>
            <a:endParaRPr lang="en-US" sz="1250" b="1" dirty="0">
              <a:solidFill>
                <a:srgbClr val="E07B2A"/>
              </a:solidFill>
              <a:latin typeface="Shakila" pitchFamily="34" charset="0"/>
              <a:ea typeface="Shakila" pitchFamily="34" charset="-122"/>
            </a:endParaRPr>
          </a:p>
        </p:txBody>
      </p:sp>
      <p:sp>
        <p:nvSpPr>
          <p:cNvPr id="19" name="Text 15"/>
          <p:cNvSpPr/>
          <p:nvPr/>
        </p:nvSpPr>
        <p:spPr>
          <a:xfrm>
            <a:off x="6400800" y="2971800"/>
            <a:ext cx="4892040" cy="731520"/>
          </a:xfrm>
          <a:prstGeom prst="rect">
            <a:avLst/>
          </a:prstGeom>
          <a:noFill/>
        </p:spPr>
        <p:txBody>
          <a:bodyPr wrap="square" lIns="0" tIns="0" rIns="0" bIns="0" rtlCol="0" anchor="ctr"/>
          <a:lstStyle/>
          <a:p>
            <a:pPr marL="0" indent="0">
              <a:buNone/>
            </a:pPr>
            <a:r>
              <a:rPr lang="en-US" sz="1100" dirty="0">
                <a:solidFill>
                  <a:srgbClr val="26282B"/>
                </a:solidFill>
                <a:latin typeface="Calibri" panose="020F0502020204030204" pitchFamily="34" charset="0"/>
                <a:ea typeface="Calibri" panose="020F0502020204030204" pitchFamily="34" charset="-122"/>
                <a:cs typeface="Calibri" panose="020F0502020204030204" pitchFamily="34" charset="-120"/>
              </a:rPr>
              <a:t>Université / laboratoire de rattachement</a:t>
            </a:r>
            <a:endParaRPr lang="en-US" sz="1100" dirty="0"/>
          </a:p>
        </p:txBody>
      </p:sp>
      <p:sp>
        <p:nvSpPr>
          <p:cNvPr id="20" name="Shape 16"/>
          <p:cNvSpPr/>
          <p:nvPr/>
        </p:nvSpPr>
        <p:spPr>
          <a:xfrm>
            <a:off x="548640" y="4206240"/>
            <a:ext cx="5349240" cy="1691640"/>
          </a:xfrm>
          <a:prstGeom prst="roundRect">
            <a:avLst>
              <a:gd name="adj" fmla="val 4324"/>
            </a:avLst>
          </a:prstGeom>
          <a:solidFill>
            <a:srgbClr val="FFFFFF"/>
          </a:solidFill>
          <a:effectLst>
            <a:outerShdw blurRad="101600" dist="38100" dir="5400000" algn="bl" rotWithShape="0">
              <a:srgbClr val="000000">
                <a:alpha val="10000"/>
              </a:srgbClr>
            </a:outerShdw>
          </a:effectLst>
        </p:spPr>
      </p:sp>
      <p:sp>
        <p:nvSpPr>
          <p:cNvPr id="21" name="Shape 17"/>
          <p:cNvSpPr/>
          <p:nvPr/>
        </p:nvSpPr>
        <p:spPr>
          <a:xfrm>
            <a:off x="777240" y="4434840"/>
            <a:ext cx="548640" cy="548640"/>
          </a:xfrm>
          <a:prstGeom prst="ellipse">
            <a:avLst/>
          </a:prstGeom>
          <a:solidFill>
            <a:srgbClr val="0F3A5F"/>
          </a:solidFill>
        </p:spPr>
      </p:sp>
      <p:pic>
        <p:nvPicPr>
          <p:cNvPr id="22" name="Image 2" descr="/home/claude/assets/users.png"/>
          <p:cNvPicPr>
            <a:picLocks noChangeAspect="1"/>
          </p:cNvPicPr>
          <p:nvPr/>
        </p:nvPicPr>
        <p:blipFill>
          <a:blip r:embed="rId3"/>
          <a:stretch>
            <a:fillRect/>
          </a:stretch>
        </p:blipFill>
        <p:spPr>
          <a:xfrm>
            <a:off x="886968" y="4544568"/>
            <a:ext cx="329184" cy="329184"/>
          </a:xfrm>
          <a:prstGeom prst="rect">
            <a:avLst/>
          </a:prstGeom>
        </p:spPr>
      </p:pic>
      <p:sp>
        <p:nvSpPr>
          <p:cNvPr id="23" name="Text 18"/>
          <p:cNvSpPr/>
          <p:nvPr/>
        </p:nvSpPr>
        <p:spPr>
          <a:xfrm>
            <a:off x="1463040" y="4370832"/>
            <a:ext cx="4251960" cy="292608"/>
          </a:xfrm>
          <a:prstGeom prst="rect">
            <a:avLst/>
          </a:prstGeom>
          <a:noFill/>
        </p:spPr>
        <p:txBody>
          <a:bodyPr wrap="square" lIns="0" tIns="0" rIns="0" bIns="0" rtlCol="0" anchor="ctr"/>
          <a:lstStyle/>
          <a:p>
            <a:pPr marL="0" indent="0">
              <a:buNone/>
            </a:pPr>
            <a:r>
              <a:rPr lang="en-US" sz="1350" b="1" dirty="0">
                <a:solidFill>
                  <a:srgbClr val="0F3A5F"/>
                </a:solidFill>
                <a:latin typeface="Calibri" panose="020F0502020204030204" pitchFamily="34" charset="0"/>
                <a:ea typeface="Calibri" panose="020F0502020204030204" pitchFamily="34" charset="-122"/>
                <a:cs typeface="Calibri" panose="020F0502020204030204" pitchFamily="34" charset="-120"/>
              </a:rPr>
              <a:t>Membres de l'équipe</a:t>
            </a:r>
            <a:endParaRPr lang="en-US" sz="1350" dirty="0"/>
          </a:p>
        </p:txBody>
      </p:sp>
      <p:sp>
        <p:nvSpPr>
          <p:cNvPr id="24" name="Text 19"/>
          <p:cNvSpPr/>
          <p:nvPr/>
        </p:nvSpPr>
        <p:spPr>
          <a:xfrm>
            <a:off x="1463040" y="4370832"/>
            <a:ext cx="4251960" cy="292608"/>
          </a:xfrm>
          <a:prstGeom prst="rect">
            <a:avLst/>
          </a:prstGeom>
          <a:noFill/>
        </p:spPr>
        <p:txBody>
          <a:bodyPr wrap="square" lIns="0" tIns="0" rIns="0" bIns="0" rtlCol="0" anchor="ctr"/>
          <a:lstStyle/>
          <a:p>
            <a:pPr algn="r" rtl="1"/>
            <a:r>
              <a:rPr lang="en-US" sz="1250" b="1" dirty="0" err="1">
                <a:solidFill>
                  <a:srgbClr val="E07B2A"/>
                </a:solidFill>
                <a:latin typeface="Shakila" pitchFamily="34" charset="0"/>
                <a:ea typeface="Shakila" pitchFamily="34" charset="-122"/>
              </a:rPr>
              <a:t>أعضاء</a:t>
            </a:r>
            <a:r>
              <a:rPr lang="en-US" sz="1250" b="1" dirty="0">
                <a:solidFill>
                  <a:srgbClr val="E07B2A"/>
                </a:solidFill>
                <a:latin typeface="Shakila" pitchFamily="34" charset="0"/>
                <a:ea typeface="Shakila" pitchFamily="34" charset="-122"/>
              </a:rPr>
              <a:t> </a:t>
            </a:r>
            <a:r>
              <a:rPr lang="en-US" sz="1250" b="1" dirty="0" err="1">
                <a:solidFill>
                  <a:srgbClr val="E07B2A"/>
                </a:solidFill>
                <a:latin typeface="Shakila" pitchFamily="34" charset="0"/>
                <a:ea typeface="Shakila" pitchFamily="34" charset="-122"/>
              </a:rPr>
              <a:t>الفريق</a:t>
            </a:r>
            <a:endParaRPr lang="en-US" sz="1250" b="1" dirty="0">
              <a:solidFill>
                <a:srgbClr val="E07B2A"/>
              </a:solidFill>
              <a:latin typeface="Shakila" pitchFamily="34" charset="0"/>
              <a:ea typeface="Shakila" pitchFamily="34" charset="-122"/>
            </a:endParaRPr>
          </a:p>
        </p:txBody>
      </p:sp>
      <p:sp>
        <p:nvSpPr>
          <p:cNvPr id="25" name="Text 20"/>
          <p:cNvSpPr/>
          <p:nvPr/>
        </p:nvSpPr>
        <p:spPr>
          <a:xfrm>
            <a:off x="777240" y="4937760"/>
            <a:ext cx="4892040" cy="731520"/>
          </a:xfrm>
          <a:prstGeom prst="rect">
            <a:avLst/>
          </a:prstGeom>
          <a:noFill/>
        </p:spPr>
        <p:txBody>
          <a:bodyPr wrap="square" lIns="0" tIns="0" rIns="0" bIns="0" rtlCol="0" anchor="ctr"/>
          <a:lstStyle/>
          <a:p>
            <a:pPr marL="0" indent="0">
              <a:buNone/>
            </a:pPr>
            <a:r>
              <a:rPr lang="en-US" sz="1100" dirty="0">
                <a:solidFill>
                  <a:srgbClr val="26282B"/>
                </a:solidFill>
                <a:latin typeface="Calibri" panose="020F0502020204030204" pitchFamily="34" charset="0"/>
                <a:ea typeface="Calibri" panose="020F0502020204030204" pitchFamily="34" charset="-122"/>
                <a:cs typeface="Calibri" panose="020F0502020204030204" pitchFamily="34" charset="-120"/>
              </a:rPr>
              <a:t>Compétences techniques et complémentaires</a:t>
            </a:r>
            <a:endParaRPr lang="en-US" sz="1100" dirty="0"/>
          </a:p>
        </p:txBody>
      </p:sp>
      <p:sp>
        <p:nvSpPr>
          <p:cNvPr id="26" name="Shape 21"/>
          <p:cNvSpPr/>
          <p:nvPr/>
        </p:nvSpPr>
        <p:spPr>
          <a:xfrm>
            <a:off x="6172200" y="4206240"/>
            <a:ext cx="5349240" cy="1691640"/>
          </a:xfrm>
          <a:prstGeom prst="roundRect">
            <a:avLst>
              <a:gd name="adj" fmla="val 4324"/>
            </a:avLst>
          </a:prstGeom>
          <a:solidFill>
            <a:srgbClr val="FFFFFF"/>
          </a:solidFill>
          <a:effectLst>
            <a:outerShdw blurRad="101600" dist="38100" dir="5400000" algn="bl" rotWithShape="0">
              <a:srgbClr val="000000">
                <a:alpha val="10000"/>
              </a:srgbClr>
            </a:outerShdw>
          </a:effectLst>
        </p:spPr>
      </p:sp>
      <p:sp>
        <p:nvSpPr>
          <p:cNvPr id="27" name="Shape 22"/>
          <p:cNvSpPr/>
          <p:nvPr/>
        </p:nvSpPr>
        <p:spPr>
          <a:xfrm>
            <a:off x="6400800" y="4434840"/>
            <a:ext cx="548640" cy="548640"/>
          </a:xfrm>
          <a:prstGeom prst="ellipse">
            <a:avLst/>
          </a:prstGeom>
          <a:solidFill>
            <a:srgbClr val="0F3A5F"/>
          </a:solidFill>
        </p:spPr>
      </p:sp>
      <p:pic>
        <p:nvPicPr>
          <p:cNvPr id="28" name="Image 3" descr="/home/claude/assets/users.png"/>
          <p:cNvPicPr>
            <a:picLocks noChangeAspect="1"/>
          </p:cNvPicPr>
          <p:nvPr/>
        </p:nvPicPr>
        <p:blipFill>
          <a:blip r:embed="rId3"/>
          <a:stretch>
            <a:fillRect/>
          </a:stretch>
        </p:blipFill>
        <p:spPr>
          <a:xfrm>
            <a:off x="6510528" y="4544568"/>
            <a:ext cx="329184" cy="329184"/>
          </a:xfrm>
          <a:prstGeom prst="rect">
            <a:avLst/>
          </a:prstGeom>
        </p:spPr>
      </p:pic>
      <p:sp>
        <p:nvSpPr>
          <p:cNvPr id="29" name="Text 23"/>
          <p:cNvSpPr/>
          <p:nvPr/>
        </p:nvSpPr>
        <p:spPr>
          <a:xfrm>
            <a:off x="7086600" y="4370832"/>
            <a:ext cx="4251960" cy="292608"/>
          </a:xfrm>
          <a:prstGeom prst="rect">
            <a:avLst/>
          </a:prstGeom>
          <a:noFill/>
        </p:spPr>
        <p:txBody>
          <a:bodyPr wrap="square" lIns="0" tIns="0" rIns="0" bIns="0" rtlCol="0" anchor="ctr"/>
          <a:lstStyle/>
          <a:p>
            <a:pPr marL="0" indent="0">
              <a:buNone/>
            </a:pPr>
            <a:r>
              <a:rPr lang="fr-FR" altLang="en-US" sz="1350" b="1" dirty="0">
                <a:solidFill>
                  <a:srgbClr val="0F3A5F"/>
                </a:solidFill>
                <a:latin typeface="Calibri" panose="020F0502020204030204" pitchFamily="34" charset="0"/>
                <a:ea typeface="Calibri" panose="020F0502020204030204" pitchFamily="34" charset="-122"/>
                <a:cs typeface="Calibri" panose="020F0502020204030204" pitchFamily="34" charset="-120"/>
              </a:rPr>
              <a:t>iIncubation </a:t>
            </a:r>
          </a:p>
        </p:txBody>
      </p:sp>
      <p:sp>
        <p:nvSpPr>
          <p:cNvPr id="30" name="Text 24"/>
          <p:cNvSpPr/>
          <p:nvPr/>
        </p:nvSpPr>
        <p:spPr>
          <a:xfrm>
            <a:off x="7086600" y="4370832"/>
            <a:ext cx="4251960" cy="292608"/>
          </a:xfrm>
          <a:prstGeom prst="rect">
            <a:avLst/>
          </a:prstGeom>
          <a:noFill/>
        </p:spPr>
        <p:txBody>
          <a:bodyPr wrap="square" lIns="0" tIns="0" rIns="0" bIns="0" rtlCol="0" anchor="ctr"/>
          <a:lstStyle/>
          <a:p>
            <a:pPr marL="0" indent="0" algn="r" rtl="1">
              <a:buNone/>
            </a:pPr>
            <a:r>
              <a:rPr lang="ar-DZ" altLang="en-US" sz="1250" b="1" dirty="0">
                <a:solidFill>
                  <a:srgbClr val="E07B2A"/>
                </a:solidFill>
                <a:latin typeface="Shakila" pitchFamily="34" charset="0"/>
                <a:ea typeface="Shakila" pitchFamily="34" charset="-122"/>
                <a:cs typeface="Shakila" pitchFamily="34" charset="-120"/>
              </a:rPr>
              <a:t>جهة التوطين</a:t>
            </a:r>
          </a:p>
        </p:txBody>
      </p:sp>
      <p:sp>
        <p:nvSpPr>
          <p:cNvPr id="31" name="Text 25"/>
          <p:cNvSpPr/>
          <p:nvPr/>
        </p:nvSpPr>
        <p:spPr>
          <a:xfrm>
            <a:off x="6400800" y="4937760"/>
            <a:ext cx="4892040" cy="731520"/>
          </a:xfrm>
          <a:prstGeom prst="rect">
            <a:avLst/>
          </a:prstGeom>
          <a:noFill/>
        </p:spPr>
        <p:txBody>
          <a:bodyPr wrap="square" lIns="0" tIns="0" rIns="0" bIns="0" rtlCol="0" anchor="ctr"/>
          <a:lstStyle/>
          <a:p>
            <a:pPr marL="0" indent="0">
              <a:buNone/>
            </a:pPr>
            <a:r>
              <a:rPr lang="en-US" sz="1100" dirty="0">
                <a:solidFill>
                  <a:srgbClr val="26282B"/>
                </a:solidFill>
                <a:latin typeface="Calibri" panose="020F0502020204030204" pitchFamily="34" charset="0"/>
                <a:ea typeface="Calibri" panose="020F0502020204030204" pitchFamily="34" charset="-122"/>
                <a:cs typeface="Calibri" panose="020F0502020204030204" pitchFamily="34" charset="-120"/>
              </a:rPr>
              <a:t>Nom de l'incubateur universitaire </a:t>
            </a:r>
            <a:r>
              <a:rPr lang="fr-FR" altLang="en-US" sz="1100" dirty="0">
                <a:solidFill>
                  <a:srgbClr val="26282B"/>
                </a:solidFill>
                <a:latin typeface="Calibri" panose="020F0502020204030204" pitchFamily="34" charset="0"/>
                <a:ea typeface="Calibri" panose="020F0502020204030204" pitchFamily="34" charset="-122"/>
                <a:cs typeface="Calibri" panose="020F0502020204030204" pitchFamily="34" charset="-120"/>
              </a:rPr>
              <a:t>ou autres </a:t>
            </a:r>
          </a:p>
        </p:txBody>
      </p:sp>
      <p:sp>
        <p:nvSpPr>
          <p:cNvPr id="32" name="Text 26"/>
          <p:cNvSpPr/>
          <p:nvPr/>
        </p:nvSpPr>
        <p:spPr>
          <a:xfrm>
            <a:off x="11551615" y="6446520"/>
            <a:ext cx="365760" cy="274320"/>
          </a:xfrm>
          <a:prstGeom prst="rect">
            <a:avLst/>
          </a:prstGeom>
          <a:noFill/>
        </p:spPr>
        <p:txBody>
          <a:bodyPr wrap="square" rtlCol="0" anchor="ctr"/>
          <a:lstStyle/>
          <a:p>
            <a:pPr marL="0" indent="0" algn="r">
              <a:buNone/>
            </a:pPr>
            <a:r>
              <a:rPr lang="en-US" sz="1000" dirty="0">
                <a:solidFill>
                  <a:srgbClr val="6B7178"/>
                </a:solidFill>
                <a:latin typeface="Calibri" panose="020F0502020204030204" pitchFamily="34" charset="0"/>
                <a:ea typeface="Calibri" panose="020F0502020204030204" pitchFamily="34" charset="-122"/>
                <a:cs typeface="Calibri" panose="020F0502020204030204" pitchFamily="34" charset="-120"/>
              </a:rPr>
              <a:t>11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3A5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4415" cy="548640"/>
          </a:xfrm>
          <a:prstGeom prst="rect">
            <a:avLst/>
          </a:prstGeom>
          <a:noFill/>
        </p:spPr>
        <p:txBody>
          <a:bodyPr wrap="square" lIns="0" tIns="0" rIns="0" bIns="0" rtlCol="0" anchor="ctr"/>
          <a:lstStyle/>
          <a:p>
            <a:pPr marL="0" indent="0">
              <a:buNone/>
            </a:pPr>
            <a:r>
              <a:rPr lang="en-US" sz="2500" b="1" dirty="0">
                <a:solidFill>
                  <a:srgbClr val="FFFFFF"/>
                </a:solidFill>
                <a:latin typeface="Cambria" panose="02040503050406030204" pitchFamily="34" charset="0"/>
                <a:ea typeface="Cambria" panose="02040503050406030204" pitchFamily="34" charset="-122"/>
                <a:cs typeface="Cambria" panose="02040503050406030204" pitchFamily="34" charset="-120"/>
              </a:rPr>
              <a:t>Besoin de financement &amp; utilisation des fonds</a:t>
            </a:r>
            <a:endParaRPr lang="en-US" sz="2500" dirty="0"/>
          </a:p>
        </p:txBody>
      </p:sp>
      <p:sp>
        <p:nvSpPr>
          <p:cNvPr id="3" name="Text 1"/>
          <p:cNvSpPr/>
          <p:nvPr/>
        </p:nvSpPr>
        <p:spPr>
          <a:xfrm>
            <a:off x="548640" y="1051560"/>
            <a:ext cx="11094415" cy="411480"/>
          </a:xfrm>
          <a:prstGeom prst="rect">
            <a:avLst/>
          </a:prstGeom>
          <a:noFill/>
        </p:spPr>
        <p:txBody>
          <a:bodyPr wrap="square" lIns="0" tIns="0" rIns="0" bIns="0" rtlCol="0" anchor="ctr"/>
          <a:lstStyle/>
          <a:p>
            <a:pPr marL="0" indent="0" algn="r" rtl="1">
              <a:buNone/>
            </a:pPr>
            <a:r>
              <a:rPr lang="en-US" sz="1800" b="1" dirty="0">
                <a:solidFill>
                  <a:srgbClr val="E07B2A"/>
                </a:solidFill>
                <a:latin typeface="Shakila" pitchFamily="34" charset="0"/>
                <a:ea typeface="Shakila" pitchFamily="34" charset="-122"/>
                <a:cs typeface="Shakila" pitchFamily="34" charset="-120"/>
              </a:rPr>
              <a:t>الحاجة إلى التمويل واستخدام الأموال</a:t>
            </a:r>
            <a:endParaRPr lang="en-US" sz="1800" dirty="0"/>
          </a:p>
        </p:txBody>
      </p:sp>
      <p:sp>
        <p:nvSpPr>
          <p:cNvPr id="4" name="Shape 2"/>
          <p:cNvSpPr/>
          <p:nvPr/>
        </p:nvSpPr>
        <p:spPr>
          <a:xfrm>
            <a:off x="548640" y="1783080"/>
            <a:ext cx="11094415" cy="822960"/>
          </a:xfrm>
          <a:prstGeom prst="roundRect">
            <a:avLst>
              <a:gd name="adj" fmla="val 8889"/>
            </a:avLst>
          </a:prstGeom>
          <a:solidFill>
            <a:srgbClr val="16507F"/>
          </a:solidFill>
        </p:spPr>
      </p:sp>
      <p:sp>
        <p:nvSpPr>
          <p:cNvPr id="5" name="Text 3"/>
          <p:cNvSpPr/>
          <p:nvPr/>
        </p:nvSpPr>
        <p:spPr>
          <a:xfrm>
            <a:off x="822960" y="1874520"/>
            <a:ext cx="10545775" cy="320040"/>
          </a:xfrm>
          <a:prstGeom prst="rect">
            <a:avLst/>
          </a:prstGeom>
          <a:noFill/>
        </p:spPr>
        <p:txBody>
          <a:bodyPr wrap="square" lIns="0" tIns="0" rIns="0" bIns="0" rtlCol="0" anchor="ctr"/>
          <a:lstStyle/>
          <a:p>
            <a:pPr marL="0" indent="0">
              <a:buNone/>
            </a:pPr>
            <a:r>
              <a:rPr lang="en-US" sz="1300" b="1" dirty="0">
                <a:solidFill>
                  <a:srgbClr val="E07B2A"/>
                </a:solidFill>
                <a:latin typeface="Calibri" panose="020F0502020204030204" pitchFamily="34" charset="0"/>
                <a:ea typeface="Calibri" panose="020F0502020204030204" pitchFamily="34" charset="-122"/>
                <a:cs typeface="Calibri" panose="020F0502020204030204" pitchFamily="34" charset="-120"/>
              </a:rPr>
              <a:t>Plafond ProtoMarket : 100 millions DA (200 millions DA dans des cas exceptionnels)</a:t>
            </a:r>
            <a:endParaRPr lang="en-US" sz="1300" dirty="0"/>
          </a:p>
        </p:txBody>
      </p:sp>
      <p:sp>
        <p:nvSpPr>
          <p:cNvPr id="6" name="Text 4"/>
          <p:cNvSpPr/>
          <p:nvPr/>
        </p:nvSpPr>
        <p:spPr>
          <a:xfrm>
            <a:off x="822960" y="2212848"/>
            <a:ext cx="10545775" cy="320040"/>
          </a:xfrm>
          <a:prstGeom prst="rect">
            <a:avLst/>
          </a:prstGeom>
          <a:noFill/>
        </p:spPr>
        <p:txBody>
          <a:bodyPr wrap="square" lIns="0" tIns="0" rIns="0" bIns="0" rtlCol="0" anchor="ctr"/>
          <a:lstStyle/>
          <a:p>
            <a:pPr marL="0" indent="0" algn="r" rtl="1">
              <a:buNone/>
            </a:pPr>
            <a:r>
              <a:rPr lang="en-US" sz="1250" dirty="0">
                <a:solidFill>
                  <a:srgbClr val="D6E3F0"/>
                </a:solidFill>
                <a:latin typeface="Shakila" pitchFamily="34" charset="0"/>
                <a:ea typeface="Shakila" pitchFamily="34" charset="-122"/>
                <a:cs typeface="Shakila" pitchFamily="34" charset="-120"/>
              </a:rPr>
              <a:t>السقف الأقصى لبروتوماركت: 100 مليون سنتيم (200 مليون في الحالات الاستثنائية)</a:t>
            </a:r>
            <a:endParaRPr lang="en-US" sz="1250" dirty="0"/>
          </a:p>
        </p:txBody>
      </p:sp>
      <p:graphicFrame>
        <p:nvGraphicFramePr>
          <p:cNvPr id="7" name="Chart 0"/>
          <p:cNvGraphicFramePr/>
          <p:nvPr/>
        </p:nvGraphicFramePr>
        <p:xfrm>
          <a:off x="548640" y="2834640"/>
          <a:ext cx="53035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172200" y="2880360"/>
            <a:ext cx="146304" cy="146304"/>
          </a:xfrm>
          <a:prstGeom prst="ellipse">
            <a:avLst/>
          </a:prstGeom>
          <a:solidFill>
            <a:srgbClr val="E07B2A"/>
          </a:solidFill>
        </p:spPr>
      </p:sp>
      <p:sp>
        <p:nvSpPr>
          <p:cNvPr id="9" name="Text 6"/>
          <p:cNvSpPr/>
          <p:nvPr/>
        </p:nvSpPr>
        <p:spPr>
          <a:xfrm>
            <a:off x="6446520" y="2761488"/>
            <a:ext cx="5120640" cy="320040"/>
          </a:xfrm>
          <a:prstGeom prst="rect">
            <a:avLst/>
          </a:prstGeom>
          <a:noFill/>
        </p:spPr>
        <p:txBody>
          <a:bodyPr wrap="square" lIns="0" tIns="0" rIns="0" bIns="0" rtlCol="0" anchor="ctr"/>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Recherche &amp; développement</a:t>
            </a:r>
            <a:endParaRPr lang="en-US" sz="1200" dirty="0"/>
          </a:p>
        </p:txBody>
      </p:sp>
      <p:sp>
        <p:nvSpPr>
          <p:cNvPr id="10" name="Text 7"/>
          <p:cNvSpPr/>
          <p:nvPr/>
        </p:nvSpPr>
        <p:spPr>
          <a:xfrm>
            <a:off x="6446520" y="3081528"/>
            <a:ext cx="5120640" cy="292608"/>
          </a:xfrm>
          <a:prstGeom prst="rect">
            <a:avLst/>
          </a:prstGeom>
          <a:noFill/>
        </p:spPr>
        <p:txBody>
          <a:bodyPr wrap="square" lIns="0" tIns="0" rIns="0" bIns="0" rtlCol="0" anchor="ctr"/>
          <a:lstStyle/>
          <a:p>
            <a:pPr marL="0" indent="0" algn="r" rtl="1">
              <a:buNone/>
            </a:pPr>
            <a:r>
              <a:rPr lang="en-US" sz="1150" dirty="0">
                <a:solidFill>
                  <a:srgbClr val="BFD3E3"/>
                </a:solidFill>
                <a:latin typeface="Shakila" pitchFamily="34" charset="0"/>
                <a:ea typeface="Shakila" pitchFamily="34" charset="-122"/>
                <a:cs typeface="Shakila" pitchFamily="34" charset="-120"/>
              </a:rPr>
              <a:t>البحث والتطوير</a:t>
            </a:r>
            <a:endParaRPr lang="en-US" sz="1150" dirty="0"/>
          </a:p>
        </p:txBody>
      </p:sp>
      <p:sp>
        <p:nvSpPr>
          <p:cNvPr id="11" name="Shape 8"/>
          <p:cNvSpPr/>
          <p:nvPr/>
        </p:nvSpPr>
        <p:spPr>
          <a:xfrm>
            <a:off x="6172200" y="3538728"/>
            <a:ext cx="146304" cy="146304"/>
          </a:xfrm>
          <a:prstGeom prst="ellipse">
            <a:avLst/>
          </a:prstGeom>
          <a:solidFill>
            <a:srgbClr val="E07B2A"/>
          </a:solidFill>
        </p:spPr>
      </p:sp>
      <p:sp>
        <p:nvSpPr>
          <p:cNvPr id="12" name="Text 9"/>
          <p:cNvSpPr/>
          <p:nvPr/>
        </p:nvSpPr>
        <p:spPr>
          <a:xfrm>
            <a:off x="6446520" y="3419856"/>
            <a:ext cx="5120640" cy="320040"/>
          </a:xfrm>
          <a:prstGeom prst="rect">
            <a:avLst/>
          </a:prstGeom>
          <a:noFill/>
        </p:spPr>
        <p:txBody>
          <a:bodyPr wrap="square" lIns="0" tIns="0" rIns="0" bIns="0" rtlCol="0" anchor="ctr"/>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Achat d'équipement / matières premières</a:t>
            </a:r>
            <a:endParaRPr lang="en-US" sz="1200" dirty="0"/>
          </a:p>
        </p:txBody>
      </p:sp>
      <p:sp>
        <p:nvSpPr>
          <p:cNvPr id="13" name="Text 10"/>
          <p:cNvSpPr/>
          <p:nvPr/>
        </p:nvSpPr>
        <p:spPr>
          <a:xfrm>
            <a:off x="6446520" y="3739896"/>
            <a:ext cx="5120640" cy="292608"/>
          </a:xfrm>
          <a:prstGeom prst="rect">
            <a:avLst/>
          </a:prstGeom>
          <a:noFill/>
        </p:spPr>
        <p:txBody>
          <a:bodyPr wrap="square" lIns="0" tIns="0" rIns="0" bIns="0" rtlCol="0" anchor="ctr"/>
          <a:lstStyle/>
          <a:p>
            <a:pPr marL="0" indent="0" algn="r" rtl="1">
              <a:buNone/>
            </a:pPr>
            <a:r>
              <a:rPr lang="en-US" sz="1150" dirty="0">
                <a:solidFill>
                  <a:srgbClr val="BFD3E3"/>
                </a:solidFill>
                <a:latin typeface="Shakila" pitchFamily="34" charset="0"/>
                <a:ea typeface="Shakila" pitchFamily="34" charset="-122"/>
                <a:cs typeface="Shakila" pitchFamily="34" charset="-120"/>
              </a:rPr>
              <a:t>شراء المعدات / المواد الأولية</a:t>
            </a:r>
            <a:endParaRPr lang="en-US" sz="1150" dirty="0"/>
          </a:p>
        </p:txBody>
      </p:sp>
      <p:sp>
        <p:nvSpPr>
          <p:cNvPr id="14" name="Shape 11"/>
          <p:cNvSpPr/>
          <p:nvPr/>
        </p:nvSpPr>
        <p:spPr>
          <a:xfrm>
            <a:off x="6172200" y="4197096"/>
            <a:ext cx="146304" cy="146304"/>
          </a:xfrm>
          <a:prstGeom prst="ellipse">
            <a:avLst/>
          </a:prstGeom>
          <a:solidFill>
            <a:srgbClr val="E07B2A"/>
          </a:solidFill>
        </p:spPr>
      </p:sp>
      <p:sp>
        <p:nvSpPr>
          <p:cNvPr id="15" name="Text 12"/>
          <p:cNvSpPr/>
          <p:nvPr/>
        </p:nvSpPr>
        <p:spPr>
          <a:xfrm>
            <a:off x="6446520" y="4078224"/>
            <a:ext cx="5120640" cy="320040"/>
          </a:xfrm>
          <a:prstGeom prst="rect">
            <a:avLst/>
          </a:prstGeom>
          <a:noFill/>
        </p:spPr>
        <p:txBody>
          <a:bodyPr wrap="square" lIns="0" tIns="0" rIns="0" bIns="0" rtlCol="0" anchor="ctr"/>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Tests, homologation, certification</a:t>
            </a:r>
            <a:endParaRPr lang="en-US" sz="1200" dirty="0"/>
          </a:p>
        </p:txBody>
      </p:sp>
      <p:sp>
        <p:nvSpPr>
          <p:cNvPr id="16" name="Text 13"/>
          <p:cNvSpPr/>
          <p:nvPr/>
        </p:nvSpPr>
        <p:spPr>
          <a:xfrm>
            <a:off x="6446520" y="4398264"/>
            <a:ext cx="5120640" cy="292608"/>
          </a:xfrm>
          <a:prstGeom prst="rect">
            <a:avLst/>
          </a:prstGeom>
          <a:noFill/>
        </p:spPr>
        <p:txBody>
          <a:bodyPr wrap="square" lIns="0" tIns="0" rIns="0" bIns="0" rtlCol="0" anchor="ctr"/>
          <a:lstStyle/>
          <a:p>
            <a:pPr marL="0" indent="0" algn="r" rtl="1">
              <a:buNone/>
            </a:pPr>
            <a:r>
              <a:rPr lang="en-US" sz="1150" dirty="0">
                <a:solidFill>
                  <a:srgbClr val="BFD3E3"/>
                </a:solidFill>
                <a:latin typeface="Shakila" pitchFamily="34" charset="0"/>
                <a:ea typeface="Shakila" pitchFamily="34" charset="-122"/>
                <a:cs typeface="Shakila" pitchFamily="34" charset="-120"/>
              </a:rPr>
              <a:t>الاختبارات والمصادقة والشهادات</a:t>
            </a:r>
            <a:endParaRPr lang="en-US" sz="1150" dirty="0"/>
          </a:p>
        </p:txBody>
      </p:sp>
      <p:sp>
        <p:nvSpPr>
          <p:cNvPr id="17" name="Shape 14"/>
          <p:cNvSpPr/>
          <p:nvPr/>
        </p:nvSpPr>
        <p:spPr>
          <a:xfrm>
            <a:off x="6172200" y="4855464"/>
            <a:ext cx="146304" cy="146304"/>
          </a:xfrm>
          <a:prstGeom prst="ellipse">
            <a:avLst/>
          </a:prstGeom>
          <a:solidFill>
            <a:srgbClr val="E07B2A"/>
          </a:solidFill>
        </p:spPr>
      </p:sp>
      <p:sp>
        <p:nvSpPr>
          <p:cNvPr id="18" name="Text 15"/>
          <p:cNvSpPr/>
          <p:nvPr/>
        </p:nvSpPr>
        <p:spPr>
          <a:xfrm>
            <a:off x="6446520" y="4736592"/>
            <a:ext cx="5120640" cy="320040"/>
          </a:xfrm>
          <a:prstGeom prst="rect">
            <a:avLst/>
          </a:prstGeom>
          <a:noFill/>
        </p:spPr>
        <p:txBody>
          <a:bodyPr wrap="square" lIns="0" tIns="0" rIns="0" bIns="0" rtlCol="0" anchor="ctr"/>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Marketing et prospection commerciale</a:t>
            </a:r>
            <a:endParaRPr lang="en-US" sz="1200" dirty="0"/>
          </a:p>
        </p:txBody>
      </p:sp>
      <p:sp>
        <p:nvSpPr>
          <p:cNvPr id="19" name="Text 16"/>
          <p:cNvSpPr/>
          <p:nvPr/>
        </p:nvSpPr>
        <p:spPr>
          <a:xfrm>
            <a:off x="6446520" y="5056632"/>
            <a:ext cx="5120640" cy="292608"/>
          </a:xfrm>
          <a:prstGeom prst="rect">
            <a:avLst/>
          </a:prstGeom>
          <a:noFill/>
        </p:spPr>
        <p:txBody>
          <a:bodyPr wrap="square" lIns="0" tIns="0" rIns="0" bIns="0" rtlCol="0" anchor="ctr"/>
          <a:lstStyle/>
          <a:p>
            <a:pPr marL="0" indent="0" algn="r" rtl="1">
              <a:buNone/>
            </a:pPr>
            <a:r>
              <a:rPr lang="en-US" sz="1150" dirty="0">
                <a:solidFill>
                  <a:srgbClr val="BFD3E3"/>
                </a:solidFill>
                <a:latin typeface="Shakila" pitchFamily="34" charset="0"/>
                <a:ea typeface="Shakila" pitchFamily="34" charset="-122"/>
                <a:cs typeface="Shakila" pitchFamily="34" charset="-120"/>
              </a:rPr>
              <a:t>التسويق والتنقيب التجاري</a:t>
            </a:r>
            <a:endParaRPr lang="en-US" sz="1150" dirty="0"/>
          </a:p>
        </p:txBody>
      </p:sp>
      <p:sp>
        <p:nvSpPr>
          <p:cNvPr id="20" name="Shape 17"/>
          <p:cNvSpPr/>
          <p:nvPr/>
        </p:nvSpPr>
        <p:spPr>
          <a:xfrm>
            <a:off x="6172200" y="5513832"/>
            <a:ext cx="146304" cy="146304"/>
          </a:xfrm>
          <a:prstGeom prst="ellipse">
            <a:avLst/>
          </a:prstGeom>
          <a:solidFill>
            <a:srgbClr val="E07B2A"/>
          </a:solidFill>
        </p:spPr>
      </p:sp>
      <p:sp>
        <p:nvSpPr>
          <p:cNvPr id="21" name="Text 18"/>
          <p:cNvSpPr/>
          <p:nvPr/>
        </p:nvSpPr>
        <p:spPr>
          <a:xfrm>
            <a:off x="6446520" y="5394960"/>
            <a:ext cx="5120640" cy="320040"/>
          </a:xfrm>
          <a:prstGeom prst="rect">
            <a:avLst/>
          </a:prstGeom>
          <a:noFill/>
        </p:spPr>
        <p:txBody>
          <a:bodyPr wrap="square" lIns="0" tIns="0" rIns="0" bIns="0" rtlCol="0" anchor="ctr"/>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Ressources humaines additionnelles</a:t>
            </a:r>
            <a:endParaRPr lang="en-US" sz="1200" dirty="0"/>
          </a:p>
        </p:txBody>
      </p:sp>
      <p:sp>
        <p:nvSpPr>
          <p:cNvPr id="22" name="Text 19"/>
          <p:cNvSpPr/>
          <p:nvPr/>
        </p:nvSpPr>
        <p:spPr>
          <a:xfrm>
            <a:off x="6446520" y="5715000"/>
            <a:ext cx="5120640" cy="292608"/>
          </a:xfrm>
          <a:prstGeom prst="rect">
            <a:avLst/>
          </a:prstGeom>
          <a:noFill/>
        </p:spPr>
        <p:txBody>
          <a:bodyPr wrap="square" lIns="0" tIns="0" rIns="0" bIns="0" rtlCol="0" anchor="ctr"/>
          <a:lstStyle/>
          <a:p>
            <a:pPr marL="0" indent="0" algn="r" rtl="1">
              <a:buNone/>
            </a:pPr>
            <a:r>
              <a:rPr lang="en-US" sz="1150" dirty="0">
                <a:solidFill>
                  <a:srgbClr val="BFD3E3"/>
                </a:solidFill>
                <a:latin typeface="Shakila" pitchFamily="34" charset="0"/>
                <a:ea typeface="Shakila" pitchFamily="34" charset="-122"/>
                <a:cs typeface="Shakila" pitchFamily="34" charset="-120"/>
              </a:rPr>
              <a:t>موارد بشرية إضافية</a:t>
            </a:r>
            <a:endParaRPr lang="en-US" sz="1150" dirty="0"/>
          </a:p>
        </p:txBody>
      </p:sp>
      <p:sp>
        <p:nvSpPr>
          <p:cNvPr id="23" name="Text 20"/>
          <p:cNvSpPr/>
          <p:nvPr/>
        </p:nvSpPr>
        <p:spPr>
          <a:xfrm>
            <a:off x="11551615" y="6446520"/>
            <a:ext cx="365760" cy="274320"/>
          </a:xfrm>
          <a:prstGeom prst="rect">
            <a:avLst/>
          </a:prstGeom>
          <a:noFill/>
        </p:spPr>
        <p:txBody>
          <a:bodyPr wrap="square" rtlCol="0" anchor="ctr"/>
          <a:lstStyle/>
          <a:p>
            <a:pPr marL="0" indent="0" algn="r">
              <a:buNone/>
            </a:pPr>
            <a:r>
              <a:rPr lang="en-US" sz="1000" dirty="0">
                <a:solidFill>
                  <a:srgbClr val="6B7178"/>
                </a:solidFill>
                <a:latin typeface="Calibri" panose="020F0502020204030204" pitchFamily="34" charset="0"/>
                <a:ea typeface="Calibri" panose="020F0502020204030204" pitchFamily="34" charset="-122"/>
                <a:cs typeface="Calibri" panose="020F0502020204030204"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1379</Words>
  <Application>Microsoft Office PowerPoint</Application>
  <PresentationFormat>Grand écran</PresentationFormat>
  <Paragraphs>267</Paragraphs>
  <Slides>15</Slides>
  <Notes>15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Calibri</vt:lpstr>
      <vt:lpstr>Cambria</vt:lpstr>
      <vt:lpstr>Shakila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Modele de Business Plan - ProtoMarket</dc:title>
  <dc:subject>PptxGenJS Presentation</dc:subject>
  <dc:creator>ProtoMarket</dc:creator>
  <cp:lastModifiedBy>Karim Brouri</cp:lastModifiedBy>
  <cp:revision>6</cp:revision>
  <dcterms:created xsi:type="dcterms:W3CDTF">2026-06-28T09:38:00Z</dcterms:created>
  <dcterms:modified xsi:type="dcterms:W3CDTF">2026-06-28T13:08:14Z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1036-12.1.0.26880</vt:lpwstr>
  </property>
  <property fmtid="{D5CDD505-2E9C-101B-9397-08002B2CF9AE}" pid="3" name="ICV">
    <vt:lpwstr>621FAEBCA7E443D58BAA3CC1188CF9AB_13</vt:lpwstr>
  </property>
</Properties>
</file>